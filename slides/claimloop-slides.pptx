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encounters</c:v>
                </c:pt>
              </c:strCache>
            </c:strRef>
          </c:tx>
          <c:spPr>
            <a:solidFill>
              <a:srgbClr val="A8402F"/>
            </a:solidFill>
            <a:effectLst/>
          </c:spPr>
          <c:invertIfNegative val="0"/>
          <c:dLbls>
            <c:numFmt formatCode="#,##0" sourceLinked="0"/>
            <c:txPr>
              <a:bodyPr/>
              <a:lstStyle/>
              <a:p>
                <a:pPr>
                  <a:defRPr b="1" i="0" strike="noStrike" sz="1300" u="none">
                    <a:solidFill>
                      <a:srgbClr val="23272C"/>
                    </a:solidFill>
                    <a:latin typeface="Calibri"/>
                  </a:defRPr>
                </a:pPr>
              </a:p>
            </c:txPr>
            <c:showLegendKey val="0"/>
            <c:showVal val="1"/>
            <c:showCatName val="0"/>
            <c:showSerName val="0"/>
            <c:showPercent val="0"/>
            <c:showBubbleSize val="0"/>
            <c:showLeaderLines val="0"/>
          </c:dLbls>
          <c:dPt>
            <c:idx val="0"/>
            <c:invertIfNegative val="0"/>
            <c:bubble3D val="0"/>
            <c:spPr>
              <a:solidFill>
                <a:srgbClr val="A8402F"/>
              </a:solidFill>
              <a:effectLst/>
            </c:spPr>
          </c:dPt>
          <c:dPt>
            <c:idx val="1"/>
            <c:invertIfNegative val="0"/>
            <c:bubble3D val="0"/>
            <c:spPr>
              <a:solidFill>
                <a:srgbClr val="35639C"/>
              </a:solidFill>
              <a:effectLst/>
            </c:spPr>
          </c:dPt>
          <c:dPt>
            <c:idx val="2"/>
            <c:invertIfNegative val="0"/>
            <c:bubble3D val="0"/>
            <c:spPr>
              <a:solidFill>
                <a:srgbClr val="2E7D4F"/>
              </a:solidFill>
              <a:effectLst/>
            </c:spPr>
          </c:dPt>
          <c:cat>
            <c:multiLvlStrRef>
              <c:f>Sheet1!$A$2:$A$4</c:f>
              <c:multiLvlStrCache>
                <c:ptCount val="3"/>
                <c:lvl>
                  <c:pt idx="0">
                    <c:v>still denied or abandoned</c:v>
                  </c:pt>
                  <c:pt idx="1">
                    <c:v>recovered by the loop</c:v>
                  </c:pt>
                  <c:pt idx="2">
                    <c:v>accepted first pass</c:v>
                  </c:pt>
                </c:lvl>
              </c:multiLvlStrCache>
            </c:multiLvlStrRef>
          </c:cat>
          <c:val>
            <c:numRef>
              <c:f>Sheet1!$B$2:$B$4</c:f>
              <c:numCache>
                <c:formatCode>General</c:formatCode>
                <c:ptCount val="3"/>
                <c:pt idx="0">
                  <c:v>2</c:v>
                </c:pt>
                <c:pt idx="1">
                  <c:v>8</c:v>
                </c:pt>
                <c:pt idx="2">
                  <c:v>50</c:v>
                </c:pt>
              </c:numCache>
            </c:numRef>
          </c:val>
        </c:ser>
        <c:dLbls>
          <c:numFmt formatCode="#,##0" sourceLinked="0"/>
          <c:txPr>
            <a:bodyPr/>
            <a:lstStyle/>
            <a:p>
              <a:pPr>
                <a:defRPr b="1" i="0" strike="noStrike" sz="13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55"/>
          <c:min val="0"/>
        </c:scaling>
        <c:delete val="0"/>
        <c:axPos val="b"/>
        <c:majorGridlines>
          <c:spPr>
            <a:ln w="6350" cap="flat">
              <a:solidFill>
                <a:srgbClr val="E3E0D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denied on first attempt</c:v>
                </c:pt>
              </c:strCache>
            </c:strRef>
          </c:tx>
          <c:spPr>
            <a:solidFill>
              <a:srgbClr val="8A6116"/>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CO-50 necessity</c:v>
                  </c:pt>
                  <c:pt idx="1">
                    <c:v>CO-150 documentation</c:v>
                  </c:pt>
                  <c:pt idx="2">
                    <c:v>CO-197 prior auth</c:v>
                  </c:pt>
                </c:lvl>
              </c:multiLvlStrCache>
            </c:multiLvlStrRef>
          </c:cat>
          <c:val>
            <c:numRef>
              <c:f>Sheet1!$B$2:$B$4</c:f>
              <c:numCache>
                <c:formatCode>General</c:formatCode>
                <c:ptCount val="3"/>
                <c:pt idx="0">
                  <c:v>8</c:v>
                </c:pt>
                <c:pt idx="1">
                  <c:v>2</c:v>
                </c:pt>
                <c:pt idx="2">
                  <c:v>2</c:v>
                </c:pt>
              </c:numCache>
            </c:numRef>
          </c:val>
        </c:ser>
        <c:ser>
          <c:idx val="1"/>
          <c:order val="1"/>
          <c:tx>
            <c:strRef>
              <c:f>Sheet1!$C$1</c:f>
              <c:strCache>
                <c:ptCount val="1"/>
                <c:pt idx="0">
                  <c:v>eventually paid</c:v>
                </c:pt>
              </c:strCache>
            </c:strRef>
          </c:tx>
          <c:spPr>
            <a:solidFill>
              <a:srgbClr val="2E7D4F"/>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CO-50 necessity</c:v>
                  </c:pt>
                  <c:pt idx="1">
                    <c:v>CO-150 documentation</c:v>
                  </c:pt>
                  <c:pt idx="2">
                    <c:v>CO-197 prior auth</c:v>
                  </c:pt>
                </c:lvl>
              </c:multiLvlStrCache>
            </c:multiLvlStrRef>
          </c:cat>
          <c:val>
            <c:numRef>
              <c:f>Sheet1!$C$2:$C$4</c:f>
              <c:numCache>
                <c:formatCode>General</c:formatCode>
                <c:ptCount val="3"/>
                <c:pt idx="0">
                  <c:v>6</c:v>
                </c:pt>
                <c:pt idx="1">
                  <c:v>2</c:v>
                </c:pt>
                <c:pt idx="2">
                  <c:v>2</c:v>
                </c:pt>
              </c:numCache>
            </c:numRef>
          </c:val>
        </c:ser>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9"/>
        </c:scaling>
        <c:delete val="0"/>
        <c:axPos val="l"/>
        <c:majorGridlines>
          <c:spPr>
            <a:ln w="6350" cap="flat">
              <a:solidFill>
                <a:srgbClr val="E3E0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3272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gpt-5.6-luna (budget)</c:v>
                </c:pt>
              </c:strCache>
            </c:strRef>
          </c:tx>
          <c:spPr>
            <a:solidFill>
              <a:srgbClr val="35639C"/>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first pass</c:v>
                  </c:pt>
                  <c:pt idx="1">
                    <c:v>final</c:v>
                  </c:pt>
                </c:lvl>
              </c:multiLvlStrCache>
            </c:multiLvlStrRef>
          </c:cat>
          <c:val>
            <c:numRef>
              <c:f>Sheet1!$B$2:$B$3</c:f>
              <c:numCache>
                <c:formatCode>General</c:formatCode>
                <c:ptCount val="2"/>
                <c:pt idx="0">
                  <c:v>0.95</c:v>
                </c:pt>
                <c:pt idx="1">
                  <c:v>1</c:v>
                </c:pt>
              </c:numCache>
            </c:numRef>
          </c:val>
        </c:ser>
        <c:ser>
          <c:idx val="1"/>
          <c:order val="1"/>
          <c:tx>
            <c:strRef>
              <c:f>Sheet1!$C$1</c:f>
              <c:strCache>
                <c:ptCount val="1"/>
                <c:pt idx="0">
                  <c:v>gpt-5.6-terra (balanced)</c:v>
                </c:pt>
              </c:strCache>
            </c:strRef>
          </c:tx>
          <c:spPr>
            <a:solidFill>
              <a:srgbClr val="6A727C"/>
            </a:solidFill>
            <a:effectLst/>
          </c:spPr>
          <c:invertIfNegative val="0"/>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cat>
            <c:multiLvlStrRef>
              <c:f>Sheet1!$A$2:$A$3</c:f>
              <c:multiLvlStrCache>
                <c:ptCount val="2"/>
                <c:lvl>
                  <c:pt idx="0">
                    <c:v>first pass</c:v>
                  </c:pt>
                  <c:pt idx="1">
                    <c:v>final</c:v>
                  </c:pt>
                </c:lvl>
              </c:multiLvlStrCache>
            </c:multiLvlStrRef>
          </c:cat>
          <c:val>
            <c:numRef>
              <c:f>Sheet1!$C$2:$C$3</c:f>
              <c:numCache>
                <c:formatCode>General</c:formatCode>
                <c:ptCount val="2"/>
                <c:pt idx="0">
                  <c:v>0.95</c:v>
                </c:pt>
                <c:pt idx="1">
                  <c:v>1</c:v>
                </c:pt>
              </c:numCache>
            </c:numRef>
          </c:val>
        </c:ser>
        <c:dLbls>
          <c:numFmt formatCode="0%" sourceLinked="0"/>
          <c:txPr>
            <a:bodyPr/>
            <a:lstStyle/>
            <a:p>
              <a:pPr>
                <a:defRPr b="1" i="0" strike="noStrike" sz="1200" u="none">
                  <a:solidFill>
                    <a:srgbClr val="23272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23272C"/>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E3E0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A727C"/>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3272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Abdullah Abdel-Khalek, and this is my high-risk project: ClaimLoop. I am an applied AI engineer, and my background is automation, not healthcare. ClaimLoop follows one clinic visit all the way through: it starts from the live conversation between a patient and their provider, and LLM agents carry it from there: they write the visit note, assign and verify the billing codes, build the insurance claim, submit it to a simulated payer, and, this is the interesting part, fight back when the claim is denied. The question on the slide is genuine. I did not know whether the agents would survive the denial loop, and this assignment explicitly rewards taking on that kind of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claims? Because between the exam room and anyone being paid, there is a chain of translation. A live conversation becomes a note, the note becomes diagnosis and procedure codes, the codes become a claim, and when the payer rejects it, a human argues back through reason codes and letters. Two things made me pick this. First, people I know in healthcare operations kept telling me the expensive part is not the coding, it is the arguing. Second, and this is the framing I care about: this chain is not just back office. When it stalls, authorizations stall, and patients wait for care. A pipeline that produces clean claims faster helps on both sides of the desk: patients get scheduled on time, and providers spend less on the grind. It is also, structurally, exactly the kind of repetitive rule-bound text work my automation background applies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the literature say? A benchmark in NEJM AI asked GPT-4 and friends to produce medical codes from memory, and the results were bad: GPT-4 got only 34 percent of ICD-10 codes exactly right, and no model cleared fifty percent. Follow-up work showed the fix: stop asking models to recall codes, give them the real code table as a tool and let them verify. My design takes that lesson literally: every diagnosis code in this pipeline must be confirmed against the National Library of Medicine's public ICD-10 API before it is allowed onto a claim. But here is the gap that shaped the project: everything published stops at coding accuracy. In the real workflow, the outcome is decided after the denial, and nobody measures whether agents can recover there. That is the corner I aimed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bet that makes this a high-risk project rather than a demo. Real payers are black boxes: if I tested against one, I could never tell whether my agents failed or the payer was just opaque. So I built the payer myself, as a deterministic rules engine. That gives me three properties you rarely get in this space. One, transparent ground truth: the same claim always gets the same verdict. Two, structured feedback: denials carry real, public CARC and RARC reason codes, the exact vocabulary human billing teams read. Three, a binary outcome: paid or not paid, no subjective judging of the agent's prose. With those three properties, denial recovery stops being an anecdote and becomes a measurable rate per denial category. And if the agents fail, the failure itself is a publishable finding, which is exactly what this assignment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deliberately small. Five stages. Three are LLM agents: a scribe that turns the transcript into a structured visit note, a coder that assigns diagnosis and procedure codes, and a denial resolver that reads rejections and decides how to fight back. Two stages are ordinary code: the claim builder that assembles the professional claim, and the payer itself. The agents run on the OpenAI Agents SDK over the Responses API, and orchestration is a plain Python loop you can read top to bottom, because the workflow order never changes. Agents are used only where language understanding actually lives. When the payer denies, the claim routes to the resolver, which can fix and resubmit, request prior authorization through a portal tool, write an appeal letter, or abandon. Three submissions maximum, and an unchanged resubmission is rejected as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adversary. The payer enforces seven rules, and each denial uses the real public reason codes maintained by X12. It checks completeness, whether every diagnosis code actually exists, whether procedures are on the fee schedule, whether the linked diagnosis justifies each procedure, whether prior authorization is on file for imaging, whether the documentation supports a high-level visit, and it rejects unchanged resubmissions as duplicates, which blocks the lazy strategy of just retrying. Two design notes. Appeals are not rubber-stamped: the payer re-reviews the full documented diagnosis list, which models a human reviewer reading the whole record. And the necessity policy is illustrative fiction, disclosed as exactly that. It is the test environment, not training data; the input encounters are a real public benchmark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this is an AI-first project, the process itself is the product, so the interface is built for inspection. The screen starts with the thing everything derives from: the transcript of the visit, readable turn by turn. Below it, the pipeline stages report their status, and an activity log streams the model's output token by token, with every tool call shown the moment it happens: here the coder verifying a knee-pain code against the official ICD-10 table, and the resolver calling the payer's authorization portal and getting an approval. On the right, the artifacts assemble: the visit note, the code tables with the coder's own confidence, and the claim rendered as an actual claim document with patient, provider, diagnoses, and service lines, not a wall of JSON. Denials arrive stamped with the payer's reason codes, and the resolver's decisions and appeal letters appear in full. At this point in the video I will switch to the live application and run one encounter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results. I ran the full pipeline over sixty encounters from ACI-Bench, a public benchmark of simulated doctor-patient conversations written with clinician input. Every encounter completed. Fifty of the sixty claims, 83.3 percent, were accepted on the very first submission. Ten came back denied, and this is where the loop earns its name: the resolver recovered eight of those ten, lifting final acceptance to 96.7 percent, 58 paid claims out of 60, with an average of 1.17 submissions per encounter. The two claims that stayed unpaid are actually my favorite result, and I will come back to them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denials can agents actually fix? It depends sharply on the category. Prior authorization denials were fully automated away: the resolver recognized the reason code, called the payer's authorization portal as a tool, got an approval number, attached it to the service line, and resubmitted. Two out of two, no human needed. Documentation-level denials for high-intensity visits were also both fixed: once by adding a diagnosis that was documented in the note but dropped by the coder, and once by honestly downcoding the visit. Never upcoding, that is forbidden by instruction. Medical necessity was the hard category, six of eight recovered. Two of those recoveries were written appeals, where the agent argued from the documentation and the payer's review overturned the denial both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asked the question every applied team asks: do I need the expensive model? I ran two configurations: a budget profile with gpt-5.6-luna everywhere, OpenAI's cheapest current tier, and a balanced profile that upgrades the coder and resolver to terra, which costs about ten times more per token. On the twenty encounters both tiers ran, the outcomes were identical: nineteen of twenty first pass, twenty of twenty final. The budget tier costs about four tenths of a cent per encounter, and the entire sixty-encounter study cost twenty-three cents. The honest engineering conclusion for this workflow: with structured outputs, tool-verified codes, and a rules-based adversary giving structured feedback, the scaffolding earned far more than the model upgrade. That is a very practical finding for anyone budgeting an agent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unpaid claims taught me more than the 58 paid ones. First, the oscillator. A urinalysis was denied for medical necessity. The resolver repointed it to a different documented diagnosis. Denied again. So it pointed back to the first one, which recreated the original claim exactly, and the payer rejected it as a duplicate. The agent was not being stupid; the architecture was: each resolution sees only the current denial, never what was already tried. No bigger model fixes that. State design does, and that is my top future-work item. Second, the refusal. An A1c lab billed against type 1 diabetes, which my illustrative policy simply does not cover. The resolver checked the documentation, found no legitimate fix, and abandoned the line rather than invent a diagnosis. That is the anti-fraud guardrail working exactly as instructed. And because the payer is deterministic, I can separate cleanly what was a gap in my policy from what was a flaw in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close the way I would in an engineering review, because that is my actual vantage point: I am an applied AI engineer, not a healthcare professional. This system is deliberately not production ready, and the gaps are AI-production gaps first. There is no human review gate in front of submissions, and an autonomous biller is not something anyone should ship. Observability is per-run JSON files, where production needs tracing, aggregation, and alerts. There are no regression evals wired into CI, so a prompt tweak could silently drop the acceptance rate. The resolver needs real state design, memory of the attempt history, which is exactly what the oscillation failure demonstrated. And there are no cost budgets, idempotency keys, or versioned prompts. The domain side I will mention briefly, because it shaped the design even though it is not my expertise: CPT licensing, real X12 transactions, and the fact that PHI compliance would dominate everything the moment real patient data entered. My takeaway after building it: the agent stack was the easy half. Productionizing judgment is the work. Thank you for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822960" y="1051560"/>
            <a:ext cx="10515600" cy="274320"/>
          </a:xfrm>
          <a:prstGeom prst="rect">
            <a:avLst/>
          </a:prstGeom>
          <a:noFill/>
          <a:ln/>
        </p:spPr>
        <p:txBody>
          <a:bodyPr wrap="square" lIns="0" tIns="0" rIns="0" bIns="0" rtlCol="0" anchor="ctr"/>
          <a:lstStyle/>
          <a:p>
            <a:pPr indent="0" marL="0">
              <a:buNone/>
            </a:pPr>
            <a:r>
              <a:rPr lang="en-US" sz="1100" b="1" spc="300" kern="0" dirty="0">
                <a:solidFill>
                  <a:srgbClr val="35639C"/>
                </a:solidFill>
                <a:latin typeface="Calibri" pitchFamily="34" charset="0"/>
                <a:ea typeface="Calibri" pitchFamily="34" charset="-122"/>
                <a:cs typeface="Calibri" pitchFamily="34" charset="-120"/>
              </a:rPr>
              <a:t>AI IN HEALTHCARE  ·  HIGH-RISK PROJECT  ·  AUGUST 2026</a:t>
            </a:r>
            <a:endParaRPr lang="en-US" sz="1100" dirty="0"/>
          </a:p>
        </p:txBody>
      </p:sp>
      <p:sp>
        <p:nvSpPr>
          <p:cNvPr id="3" name="Text 1"/>
          <p:cNvSpPr/>
          <p:nvPr/>
        </p:nvSpPr>
        <p:spPr>
          <a:xfrm>
            <a:off x="795528" y="1600200"/>
            <a:ext cx="10515600" cy="1188720"/>
          </a:xfrm>
          <a:prstGeom prst="rect">
            <a:avLst/>
          </a:prstGeom>
          <a:noFill/>
          <a:ln/>
        </p:spPr>
        <p:txBody>
          <a:bodyPr wrap="square" lIns="0" tIns="0" rIns="0" bIns="0" rtlCol="0" anchor="ctr"/>
          <a:lstStyle/>
          <a:p>
            <a:pPr indent="0" marL="0">
              <a:buNone/>
            </a:pPr>
            <a:r>
              <a:rPr lang="en-US" sz="6400" b="1" dirty="0">
                <a:solidFill>
                  <a:srgbClr val="23272C"/>
                </a:solidFill>
                <a:latin typeface="Cambria" pitchFamily="34" charset="0"/>
                <a:ea typeface="Cambria" pitchFamily="34" charset="-122"/>
                <a:cs typeface="Cambria" pitchFamily="34" charset="-120"/>
              </a:rPr>
              <a:t>ClaimLoop</a:t>
            </a:r>
            <a:endParaRPr lang="en-US" sz="6400" dirty="0"/>
          </a:p>
        </p:txBody>
      </p:sp>
      <p:sp>
        <p:nvSpPr>
          <p:cNvPr id="4" name="Text 2"/>
          <p:cNvSpPr/>
          <p:nvPr/>
        </p:nvSpPr>
        <p:spPr>
          <a:xfrm>
            <a:off x="822960" y="2880360"/>
            <a:ext cx="9692640" cy="822960"/>
          </a:xfrm>
          <a:prstGeom prst="rect">
            <a:avLst/>
          </a:prstGeom>
          <a:noFill/>
          <a:ln/>
        </p:spPr>
        <p:txBody>
          <a:bodyPr wrap="square" lIns="0" tIns="0" rIns="0" bIns="0" rtlCol="0" anchor="ctr"/>
          <a:lstStyle/>
          <a:p>
            <a:pPr indent="0" marL="0">
              <a:buNone/>
            </a:pPr>
            <a:r>
              <a:rPr lang="en-US" sz="2100" dirty="0">
                <a:solidFill>
                  <a:srgbClr val="6A727C"/>
                </a:solidFill>
                <a:latin typeface="Calibri" pitchFamily="34" charset="0"/>
                <a:ea typeface="Calibri" pitchFamily="34" charset="-122"/>
                <a:cs typeface="Calibri" pitchFamily="34" charset="-120"/>
              </a:rPr>
              <a:t>Can LLM agents carry a patient visit from live conversation to a paid insurance claim?</a:t>
            </a:r>
            <a:endParaRPr lang="en-US" sz="2100" dirty="0"/>
          </a:p>
        </p:txBody>
      </p:sp>
      <p:sp>
        <p:nvSpPr>
          <p:cNvPr id="5" name="Text 3"/>
          <p:cNvSpPr/>
          <p:nvPr/>
        </p:nvSpPr>
        <p:spPr>
          <a:xfrm>
            <a:off x="822960" y="3886200"/>
            <a:ext cx="10515600" cy="365760"/>
          </a:xfrm>
          <a:prstGeom prst="rect">
            <a:avLst/>
          </a:prstGeom>
          <a:noFill/>
          <a:ln/>
        </p:spPr>
        <p:txBody>
          <a:bodyPr wrap="square" lIns="0" tIns="0" rIns="0" bIns="0" rtlCol="0" anchor="ctr"/>
          <a:lstStyle/>
          <a:p>
            <a:pPr indent="0" marL="0">
              <a:buNone/>
            </a:pPr>
            <a:r>
              <a:rPr lang="en-US" sz="1300" dirty="0">
                <a:solidFill>
                  <a:srgbClr val="6A727C"/>
                </a:solidFill>
                <a:latin typeface="Courier New" pitchFamily="34" charset="0"/>
                <a:ea typeface="Courier New" pitchFamily="34" charset="-122"/>
                <a:cs typeface="Courier New" pitchFamily="34" charset="-120"/>
              </a:rPr>
              <a:t>transcript  &gt;  visit note  &gt;  verified codes  &gt;  claim  &gt;  </a:t>
            </a:r>
            <a:pPr indent="0" marL="0">
              <a:buNone/>
            </a:pPr>
            <a:r>
              <a:rPr lang="en-US" sz="1300" dirty="0">
                <a:solidFill>
                  <a:srgbClr val="A8402F"/>
                </a:solidFill>
                <a:latin typeface="Courier New" pitchFamily="34" charset="0"/>
                <a:ea typeface="Courier New" pitchFamily="34" charset="-122"/>
                <a:cs typeface="Courier New" pitchFamily="34" charset="-120"/>
              </a:rPr>
              <a:t>CO-50 denial</a:t>
            </a:r>
            <a:pPr indent="0" marL="0">
              <a:buNone/>
            </a:pPr>
            <a:r>
              <a:rPr lang="en-US" sz="1300" dirty="0">
                <a:solidFill>
                  <a:srgbClr val="6A727C"/>
                </a:solidFill>
                <a:latin typeface="Courier New" pitchFamily="34" charset="0"/>
                <a:ea typeface="Courier New" pitchFamily="34" charset="-122"/>
                <a:cs typeface="Courier New" pitchFamily="34" charset="-120"/>
              </a:rPr>
              <a:t>  &gt;  appeal  &gt;  </a:t>
            </a:r>
            <a:pPr indent="0" marL="0">
              <a:buNone/>
            </a:pPr>
            <a:r>
              <a:rPr lang="en-US" sz="1300" b="1" dirty="0">
                <a:solidFill>
                  <a:srgbClr val="2E7D4F"/>
                </a:solidFill>
                <a:latin typeface="Courier New" pitchFamily="34" charset="0"/>
                <a:ea typeface="Courier New" pitchFamily="34" charset="-122"/>
                <a:cs typeface="Courier New" pitchFamily="34" charset="-120"/>
              </a:rPr>
              <a:t>paid</a:t>
            </a:r>
            <a:endParaRPr lang="en-US" sz="1300" dirty="0"/>
          </a:p>
        </p:txBody>
      </p:sp>
      <p:sp>
        <p:nvSpPr>
          <p:cNvPr id="6" name="Shape 4"/>
          <p:cNvSpPr/>
          <p:nvPr/>
        </p:nvSpPr>
        <p:spPr>
          <a:xfrm>
            <a:off x="822960" y="5806440"/>
            <a:ext cx="10515600" cy="0"/>
          </a:xfrm>
          <a:prstGeom prst="line">
            <a:avLst/>
          </a:prstGeom>
          <a:noFill/>
          <a:ln w="9525">
            <a:solidFill>
              <a:srgbClr val="E3E0DA"/>
            </a:solidFill>
            <a:prstDash val="solid"/>
          </a:ln>
        </p:spPr>
      </p:sp>
      <p:sp>
        <p:nvSpPr>
          <p:cNvPr id="7" name="Text 5"/>
          <p:cNvSpPr/>
          <p:nvPr/>
        </p:nvSpPr>
        <p:spPr>
          <a:xfrm>
            <a:off x="822960" y="5943600"/>
            <a:ext cx="10515600" cy="365760"/>
          </a:xfrm>
          <a:prstGeom prst="rect">
            <a:avLst/>
          </a:prstGeom>
          <a:noFill/>
          <a:ln/>
        </p:spPr>
        <p:txBody>
          <a:bodyPr wrap="square" lIns="0" tIns="0" rIns="0" bIns="0" rtlCol="0" anchor="ctr"/>
          <a:lstStyle/>
          <a:p>
            <a:pPr indent="0" marL="0">
              <a:buNone/>
            </a:pPr>
            <a:r>
              <a:rPr lang="en-US" sz="1300" dirty="0">
                <a:solidFill>
                  <a:srgbClr val="6A727C"/>
                </a:solidFill>
                <a:latin typeface="Calibri" pitchFamily="34" charset="0"/>
                <a:ea typeface="Calibri" pitchFamily="34" charset="-122"/>
                <a:cs typeface="Calibri" pitchFamily="34" charset="-120"/>
              </a:rPr>
              <a:t>Abdullah Abdel-Khalek  ·  The University of Texas at Austin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THE PROBLEM</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From conversation to payment: the chain that decides when care happens</a:t>
            </a:r>
            <a:endParaRPr lang="en-US" sz="2900" dirty="0"/>
          </a:p>
        </p:txBody>
      </p:sp>
      <p:sp>
        <p:nvSpPr>
          <p:cNvPr id="4" name="Text 2"/>
          <p:cNvSpPr/>
          <p:nvPr/>
        </p:nvSpPr>
        <p:spPr>
          <a:xfrm>
            <a:off x="594360" y="161848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01</a:t>
            </a:r>
            <a:endParaRPr lang="en-US" sz="1700" dirty="0"/>
          </a:p>
        </p:txBody>
      </p:sp>
      <p:sp>
        <p:nvSpPr>
          <p:cNvPr id="5" name="Text 3"/>
          <p:cNvSpPr/>
          <p:nvPr/>
        </p:nvSpPr>
        <p:spPr>
          <a:xfrm>
            <a:off x="1234440" y="160020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A conversation happens</a:t>
            </a:r>
            <a:endParaRPr lang="en-US" sz="1650" dirty="0"/>
          </a:p>
        </p:txBody>
      </p:sp>
      <p:sp>
        <p:nvSpPr>
          <p:cNvPr id="6" name="Text 4"/>
          <p:cNvSpPr/>
          <p:nvPr/>
        </p:nvSpPr>
        <p:spPr>
          <a:xfrm>
            <a:off x="1234440" y="194767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fifteen minutes of unstructured dialogue between patient and provider</a:t>
            </a:r>
            <a:endParaRPr lang="en-US" sz="1250" dirty="0"/>
          </a:p>
        </p:txBody>
      </p:sp>
      <p:sp>
        <p:nvSpPr>
          <p:cNvPr id="7" name="Shape 5"/>
          <p:cNvSpPr/>
          <p:nvPr/>
        </p:nvSpPr>
        <p:spPr>
          <a:xfrm>
            <a:off x="1234440" y="2459736"/>
            <a:ext cx="5120640" cy="0"/>
          </a:xfrm>
          <a:prstGeom prst="line">
            <a:avLst/>
          </a:prstGeom>
          <a:noFill/>
          <a:ln w="9525">
            <a:solidFill>
              <a:srgbClr val="E3E0DA"/>
            </a:solidFill>
            <a:prstDash val="solid"/>
          </a:ln>
        </p:spPr>
      </p:sp>
      <p:sp>
        <p:nvSpPr>
          <p:cNvPr id="8" name="Text 6"/>
          <p:cNvSpPr/>
          <p:nvPr/>
        </p:nvSpPr>
        <p:spPr>
          <a:xfrm>
            <a:off x="594360" y="267004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02</a:t>
            </a:r>
            <a:endParaRPr lang="en-US" sz="1700" dirty="0"/>
          </a:p>
        </p:txBody>
      </p:sp>
      <p:sp>
        <p:nvSpPr>
          <p:cNvPr id="9" name="Text 7"/>
          <p:cNvSpPr/>
          <p:nvPr/>
        </p:nvSpPr>
        <p:spPr>
          <a:xfrm>
            <a:off x="1234440" y="265176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documents it</a:t>
            </a:r>
            <a:endParaRPr lang="en-US" sz="1650" dirty="0"/>
          </a:p>
        </p:txBody>
      </p:sp>
      <p:sp>
        <p:nvSpPr>
          <p:cNvPr id="10" name="Text 8"/>
          <p:cNvSpPr/>
          <p:nvPr/>
        </p:nvSpPr>
        <p:spPr>
          <a:xfrm>
            <a:off x="1234440" y="299923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a structured note in clinical vocabulary</a:t>
            </a:r>
            <a:endParaRPr lang="en-US" sz="1250" dirty="0"/>
          </a:p>
        </p:txBody>
      </p:sp>
      <p:sp>
        <p:nvSpPr>
          <p:cNvPr id="11" name="Shape 9"/>
          <p:cNvSpPr/>
          <p:nvPr/>
        </p:nvSpPr>
        <p:spPr>
          <a:xfrm>
            <a:off x="1234440" y="3511296"/>
            <a:ext cx="5120640" cy="0"/>
          </a:xfrm>
          <a:prstGeom prst="line">
            <a:avLst/>
          </a:prstGeom>
          <a:noFill/>
          <a:ln w="9525">
            <a:solidFill>
              <a:srgbClr val="E3E0DA"/>
            </a:solidFill>
            <a:prstDash val="solid"/>
          </a:ln>
        </p:spPr>
      </p:sp>
      <p:sp>
        <p:nvSpPr>
          <p:cNvPr id="12" name="Text 10"/>
          <p:cNvSpPr/>
          <p:nvPr/>
        </p:nvSpPr>
        <p:spPr>
          <a:xfrm>
            <a:off x="594360" y="372160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03</a:t>
            </a:r>
            <a:endParaRPr lang="en-US" sz="1700" dirty="0"/>
          </a:p>
        </p:txBody>
      </p:sp>
      <p:sp>
        <p:nvSpPr>
          <p:cNvPr id="13" name="Text 11"/>
          <p:cNvSpPr/>
          <p:nvPr/>
        </p:nvSpPr>
        <p:spPr>
          <a:xfrm>
            <a:off x="1234440" y="370332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translates it into codes</a:t>
            </a:r>
            <a:endParaRPr lang="en-US" sz="1650" dirty="0"/>
          </a:p>
        </p:txBody>
      </p:sp>
      <p:sp>
        <p:nvSpPr>
          <p:cNvPr id="14" name="Text 12"/>
          <p:cNvSpPr/>
          <p:nvPr/>
        </p:nvSpPr>
        <p:spPr>
          <a:xfrm>
            <a:off x="1234440" y="405079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ICD-10-CM diagnoses, CPT procedures</a:t>
            </a:r>
            <a:endParaRPr lang="en-US" sz="1250" dirty="0"/>
          </a:p>
        </p:txBody>
      </p:sp>
      <p:sp>
        <p:nvSpPr>
          <p:cNvPr id="15" name="Shape 13"/>
          <p:cNvSpPr/>
          <p:nvPr/>
        </p:nvSpPr>
        <p:spPr>
          <a:xfrm>
            <a:off x="1234440" y="4562856"/>
            <a:ext cx="5120640" cy="0"/>
          </a:xfrm>
          <a:prstGeom prst="line">
            <a:avLst/>
          </a:prstGeom>
          <a:noFill/>
          <a:ln w="9525">
            <a:solidFill>
              <a:srgbClr val="E3E0DA"/>
            </a:solidFill>
            <a:prstDash val="solid"/>
          </a:ln>
        </p:spPr>
      </p:sp>
      <p:sp>
        <p:nvSpPr>
          <p:cNvPr id="16" name="Text 14"/>
          <p:cNvSpPr/>
          <p:nvPr/>
        </p:nvSpPr>
        <p:spPr>
          <a:xfrm>
            <a:off x="594360" y="4773168"/>
            <a:ext cx="502920" cy="41148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04</a:t>
            </a:r>
            <a:endParaRPr lang="en-US" sz="1700" dirty="0"/>
          </a:p>
        </p:txBody>
      </p:sp>
      <p:sp>
        <p:nvSpPr>
          <p:cNvPr id="17" name="Text 15"/>
          <p:cNvSpPr/>
          <p:nvPr/>
        </p:nvSpPr>
        <p:spPr>
          <a:xfrm>
            <a:off x="1234440" y="4754880"/>
            <a:ext cx="5120640" cy="365760"/>
          </a:xfrm>
          <a:prstGeom prst="rect">
            <a:avLst/>
          </a:prstGeom>
          <a:noFill/>
          <a:ln/>
        </p:spPr>
        <p:txBody>
          <a:bodyPr wrap="square" lIns="0" tIns="0" rIns="0" bIns="0" rtlCol="0" anchor="ctr"/>
          <a:lstStyle/>
          <a:p>
            <a:pPr indent="0" marL="0">
              <a:buNone/>
            </a:pPr>
            <a:r>
              <a:rPr lang="en-US" sz="1650" b="1" dirty="0">
                <a:solidFill>
                  <a:srgbClr val="23272C"/>
                </a:solidFill>
                <a:latin typeface="Calibri" pitchFamily="34" charset="0"/>
                <a:ea typeface="Calibri" pitchFamily="34" charset="-122"/>
                <a:cs typeface="Calibri" pitchFamily="34" charset="-120"/>
              </a:rPr>
              <a:t>Someone fights the denial</a:t>
            </a:r>
            <a:endParaRPr lang="en-US" sz="1650" dirty="0"/>
          </a:p>
        </p:txBody>
      </p:sp>
      <p:sp>
        <p:nvSpPr>
          <p:cNvPr id="18" name="Text 16"/>
          <p:cNvSpPr/>
          <p:nvPr/>
        </p:nvSpPr>
        <p:spPr>
          <a:xfrm>
            <a:off x="1234440" y="5102352"/>
            <a:ext cx="5120640" cy="3657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reason codes, resubmissions, appeal letters</a:t>
            </a:r>
            <a:endParaRPr lang="en-US" sz="1250" dirty="0"/>
          </a:p>
        </p:txBody>
      </p:sp>
      <p:sp>
        <p:nvSpPr>
          <p:cNvPr id="19" name="Shape 17"/>
          <p:cNvSpPr/>
          <p:nvPr/>
        </p:nvSpPr>
        <p:spPr>
          <a:xfrm>
            <a:off x="6903720" y="1600200"/>
            <a:ext cx="4709160" cy="4160520"/>
          </a:xfrm>
          <a:prstGeom prst="roundRect">
            <a:avLst>
              <a:gd name="adj" fmla="val 989"/>
            </a:avLst>
          </a:prstGeom>
          <a:solidFill>
            <a:srgbClr val="FFFFFF"/>
          </a:solidFill>
          <a:ln w="12700">
            <a:solidFill>
              <a:srgbClr val="E3E0DA"/>
            </a:solidFill>
            <a:prstDash val="solid"/>
          </a:ln>
        </p:spPr>
      </p:sp>
      <p:sp>
        <p:nvSpPr>
          <p:cNvPr id="20" name="Text 18"/>
          <p:cNvSpPr/>
          <p:nvPr/>
        </p:nvSpPr>
        <p:spPr>
          <a:xfrm>
            <a:off x="7269480" y="1965960"/>
            <a:ext cx="4023360" cy="1554480"/>
          </a:xfrm>
          <a:prstGeom prst="rect">
            <a:avLst/>
          </a:prstGeom>
          <a:noFill/>
          <a:ln/>
        </p:spPr>
        <p:txBody>
          <a:bodyPr wrap="square" lIns="0" tIns="0" rIns="0" bIns="0" rtlCol="0" anchor="ctr"/>
          <a:lstStyle/>
          <a:p>
            <a:pPr indent="0" marL="0">
              <a:lnSpc>
                <a:spcPts val="2600"/>
              </a:lnSpc>
              <a:buNone/>
            </a:pPr>
            <a:r>
              <a:rPr lang="en-US" sz="1900" b="1" dirty="0">
                <a:solidFill>
                  <a:srgbClr val="23272C"/>
                </a:solidFill>
                <a:latin typeface="Cambria" pitchFamily="34" charset="0"/>
                <a:ea typeface="Cambria" pitchFamily="34" charset="-122"/>
                <a:cs typeface="Cambria" pitchFamily="34" charset="-120"/>
              </a:rPr>
              <a:t>Every hop loses information. Every loss becomes a denial. Every denial becomes human labor.</a:t>
            </a:r>
            <a:endParaRPr lang="en-US" sz="1900" dirty="0"/>
          </a:p>
        </p:txBody>
      </p:sp>
      <p:sp>
        <p:nvSpPr>
          <p:cNvPr id="21" name="Shape 19"/>
          <p:cNvSpPr/>
          <p:nvPr/>
        </p:nvSpPr>
        <p:spPr>
          <a:xfrm>
            <a:off x="7269480" y="3794760"/>
            <a:ext cx="3977640" cy="0"/>
          </a:xfrm>
          <a:prstGeom prst="line">
            <a:avLst/>
          </a:prstGeom>
          <a:noFill/>
          <a:ln w="9525">
            <a:solidFill>
              <a:srgbClr val="E3E0DA"/>
            </a:solidFill>
            <a:prstDash val="solid"/>
          </a:ln>
        </p:spPr>
      </p:sp>
      <p:sp>
        <p:nvSpPr>
          <p:cNvPr id="22" name="Text 20"/>
          <p:cNvSpPr/>
          <p:nvPr/>
        </p:nvSpPr>
        <p:spPr>
          <a:xfrm>
            <a:off x="7269480" y="3977640"/>
            <a:ext cx="4023360" cy="1188720"/>
          </a:xfrm>
          <a:prstGeom prst="rect">
            <a:avLst/>
          </a:prstGeom>
          <a:noFill/>
          <a:ln/>
        </p:spPr>
        <p:txBody>
          <a:bodyPr wrap="square" lIns="0" tIns="0" rIns="0" bIns="0" rtlCol="0" anchor="ctr"/>
          <a:lstStyle/>
          <a:p>
            <a:pPr indent="0" marL="0">
              <a:buNone/>
            </a:pPr>
            <a:r>
              <a:rPr lang="en-US" sz="1350" i="1" dirty="0">
                <a:solidFill>
                  <a:srgbClr val="6A727C"/>
                </a:solidFill>
                <a:latin typeface="Calibri" pitchFamily="34" charset="0"/>
                <a:ea typeface="Calibri" pitchFamily="34" charset="-122"/>
                <a:cs typeface="Calibri" pitchFamily="34" charset="-120"/>
              </a:rPr>
              <a:t>When the chain stalls, patients wait on authorizations and providers absorb the labor. Faster clean claims are patient-facing infrastructure.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WHAT THE LITERATURE SAYS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LLMs alone are poor coders. Tools change that.</a:t>
            </a:r>
            <a:endParaRPr lang="en-US" sz="2900" dirty="0"/>
          </a:p>
        </p:txBody>
      </p:sp>
      <p:sp>
        <p:nvSpPr>
          <p:cNvPr id="4" name="Shape 2"/>
          <p:cNvSpPr/>
          <p:nvPr/>
        </p:nvSpPr>
        <p:spPr>
          <a:xfrm>
            <a:off x="594360" y="1600200"/>
            <a:ext cx="3611880" cy="4160520"/>
          </a:xfrm>
          <a:prstGeom prst="roundRect">
            <a:avLst>
              <a:gd name="adj" fmla="val 1139"/>
            </a:avLst>
          </a:prstGeom>
          <a:solidFill>
            <a:srgbClr val="FFFFFF"/>
          </a:solidFill>
          <a:ln w="12700">
            <a:solidFill>
              <a:srgbClr val="E3E0DA"/>
            </a:solidFill>
            <a:prstDash val="solid"/>
          </a:ln>
        </p:spPr>
      </p:sp>
      <p:sp>
        <p:nvSpPr>
          <p:cNvPr id="5" name="Text 3"/>
          <p:cNvSpPr/>
          <p:nvPr/>
        </p:nvSpPr>
        <p:spPr>
          <a:xfrm>
            <a:off x="960120" y="2057400"/>
            <a:ext cx="2926080" cy="822960"/>
          </a:xfrm>
          <a:prstGeom prst="rect">
            <a:avLst/>
          </a:prstGeom>
          <a:noFill/>
          <a:ln/>
        </p:spPr>
        <p:txBody>
          <a:bodyPr wrap="square" lIns="0" tIns="0" rIns="0" bIns="0" rtlCol="0" anchor="ctr"/>
          <a:lstStyle/>
          <a:p>
            <a:pPr indent="0" marL="0">
              <a:buNone/>
            </a:pPr>
            <a:r>
              <a:rPr lang="en-US" sz="4600" b="1" dirty="0">
                <a:solidFill>
                  <a:srgbClr val="A8402F"/>
                </a:solidFill>
                <a:latin typeface="Cambria" pitchFamily="34" charset="0"/>
                <a:ea typeface="Cambria" pitchFamily="34" charset="-122"/>
                <a:cs typeface="Cambria" pitchFamily="34" charset="-120"/>
              </a:rPr>
              <a:t>34%</a:t>
            </a:r>
            <a:endParaRPr lang="en-US" sz="4600" dirty="0"/>
          </a:p>
        </p:txBody>
      </p:sp>
      <p:sp>
        <p:nvSpPr>
          <p:cNvPr id="6" name="Text 4"/>
          <p:cNvSpPr/>
          <p:nvPr/>
        </p:nvSpPr>
        <p:spPr>
          <a:xfrm>
            <a:off x="960120" y="2898648"/>
            <a:ext cx="292608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GPT-4 exact-match accuracy generating ICD-10-CM codes from memory, across 27,000 real codes (Soroush et al., NEJM AI 2024)</a:t>
            </a:r>
            <a:endParaRPr lang="en-US" sz="1250" dirty="0"/>
          </a:p>
        </p:txBody>
      </p:sp>
      <p:sp>
        <p:nvSpPr>
          <p:cNvPr id="7" name="Shape 5"/>
          <p:cNvSpPr/>
          <p:nvPr/>
        </p:nvSpPr>
        <p:spPr>
          <a:xfrm>
            <a:off x="4434840" y="1600200"/>
            <a:ext cx="3611880" cy="4160520"/>
          </a:xfrm>
          <a:prstGeom prst="roundRect">
            <a:avLst>
              <a:gd name="adj" fmla="val 1139"/>
            </a:avLst>
          </a:prstGeom>
          <a:solidFill>
            <a:srgbClr val="FFFFFF"/>
          </a:solidFill>
          <a:ln w="12700">
            <a:solidFill>
              <a:srgbClr val="E3E0DA"/>
            </a:solidFill>
            <a:prstDash val="solid"/>
          </a:ln>
        </p:spPr>
      </p:sp>
      <p:sp>
        <p:nvSpPr>
          <p:cNvPr id="8" name="Text 6"/>
          <p:cNvSpPr/>
          <p:nvPr/>
        </p:nvSpPr>
        <p:spPr>
          <a:xfrm>
            <a:off x="4800600" y="2057400"/>
            <a:ext cx="292608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EVIDENCE</a:t>
            </a:r>
            <a:endParaRPr lang="en-US" sz="950" dirty="0"/>
          </a:p>
        </p:txBody>
      </p:sp>
      <p:sp>
        <p:nvSpPr>
          <p:cNvPr id="9" name="Text 7"/>
          <p:cNvSpPr/>
          <p:nvPr/>
        </p:nvSpPr>
        <p:spPr>
          <a:xfrm>
            <a:off x="4800600" y="2377440"/>
            <a:ext cx="292608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Verification beats recall</a:t>
            </a:r>
            <a:endParaRPr lang="en-US" sz="1700" dirty="0"/>
          </a:p>
        </p:txBody>
      </p:sp>
      <p:sp>
        <p:nvSpPr>
          <p:cNvPr id="10" name="Text 8"/>
          <p:cNvSpPr/>
          <p:nvPr/>
        </p:nvSpPr>
        <p:spPr>
          <a:xfrm>
            <a:off x="4800600" y="2880360"/>
            <a:ext cx="2926080" cy="201168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Give the model the real code table to search and check itself against, and coding becomes tractable (Kwan 2024). ClaimLoop adopts this structurally: no code ships unverified.</a:t>
            </a:r>
            <a:endParaRPr lang="en-US" sz="1350" dirty="0"/>
          </a:p>
        </p:txBody>
      </p:sp>
      <p:sp>
        <p:nvSpPr>
          <p:cNvPr id="11" name="Shape 9"/>
          <p:cNvSpPr/>
          <p:nvPr/>
        </p:nvSpPr>
        <p:spPr>
          <a:xfrm>
            <a:off x="8275320" y="1600200"/>
            <a:ext cx="3337560" cy="4160520"/>
          </a:xfrm>
          <a:prstGeom prst="roundRect">
            <a:avLst>
              <a:gd name="adj" fmla="val 1233"/>
            </a:avLst>
          </a:prstGeom>
          <a:solidFill>
            <a:srgbClr val="FFFFFF"/>
          </a:solidFill>
          <a:ln w="12700">
            <a:solidFill>
              <a:srgbClr val="E3E0DA"/>
            </a:solidFill>
            <a:prstDash val="solid"/>
          </a:ln>
        </p:spPr>
      </p:sp>
      <p:sp>
        <p:nvSpPr>
          <p:cNvPr id="12" name="Text 10"/>
          <p:cNvSpPr/>
          <p:nvPr/>
        </p:nvSpPr>
        <p:spPr>
          <a:xfrm>
            <a:off x="8641080" y="2057400"/>
            <a:ext cx="265176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THE GAP</a:t>
            </a:r>
            <a:endParaRPr lang="en-US" sz="950" dirty="0"/>
          </a:p>
        </p:txBody>
      </p:sp>
      <p:sp>
        <p:nvSpPr>
          <p:cNvPr id="13" name="Text 11"/>
          <p:cNvSpPr/>
          <p:nvPr/>
        </p:nvSpPr>
        <p:spPr>
          <a:xfrm>
            <a:off x="8641080" y="2377440"/>
            <a:ext cx="2651760" cy="77724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Nobody benchmarks the loop</a:t>
            </a:r>
            <a:endParaRPr lang="en-US" sz="1700" dirty="0"/>
          </a:p>
        </p:txBody>
      </p:sp>
      <p:sp>
        <p:nvSpPr>
          <p:cNvPr id="14" name="Text 12"/>
          <p:cNvSpPr/>
          <p:nvPr/>
        </p:nvSpPr>
        <p:spPr>
          <a:xfrm>
            <a:off x="8641080" y="3200400"/>
            <a:ext cx="2651760" cy="173736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Published work stops at the coding step. Revenue, and the patient's schedule, are decided later, in the denial loop.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high-risk bet: make the denial loop measurable</a:t>
            </a:r>
            <a:endParaRPr lang="en-US" sz="2900" dirty="0"/>
          </a:p>
        </p:txBody>
      </p:sp>
      <p:sp>
        <p:nvSpPr>
          <p:cNvPr id="4" name="Shape 2"/>
          <p:cNvSpPr/>
          <p:nvPr/>
        </p:nvSpPr>
        <p:spPr>
          <a:xfrm>
            <a:off x="594360" y="1645920"/>
            <a:ext cx="3520440" cy="3017520"/>
          </a:xfrm>
          <a:prstGeom prst="roundRect">
            <a:avLst>
              <a:gd name="adj" fmla="val 1364"/>
            </a:avLst>
          </a:prstGeom>
          <a:solidFill>
            <a:srgbClr val="FFFFFF"/>
          </a:solidFill>
          <a:ln w="12700">
            <a:solidFill>
              <a:srgbClr val="E3E0DA"/>
            </a:solidFill>
            <a:prstDash val="solid"/>
          </a:ln>
        </p:spPr>
      </p:sp>
      <p:sp>
        <p:nvSpPr>
          <p:cNvPr id="5" name="Text 3"/>
          <p:cNvSpPr/>
          <p:nvPr/>
        </p:nvSpPr>
        <p:spPr>
          <a:xfrm>
            <a:off x="96012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01</a:t>
            </a:r>
            <a:endParaRPr lang="en-US" sz="1700" dirty="0"/>
          </a:p>
        </p:txBody>
      </p:sp>
      <p:sp>
        <p:nvSpPr>
          <p:cNvPr id="6" name="Text 4"/>
          <p:cNvSpPr/>
          <p:nvPr/>
        </p:nvSpPr>
        <p:spPr>
          <a:xfrm>
            <a:off x="96012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A transparent payer</a:t>
            </a:r>
            <a:endParaRPr lang="en-US" sz="1700" dirty="0"/>
          </a:p>
        </p:txBody>
      </p:sp>
      <p:sp>
        <p:nvSpPr>
          <p:cNvPr id="7" name="Text 5"/>
          <p:cNvSpPr/>
          <p:nvPr/>
        </p:nvSpPr>
        <p:spPr>
          <a:xfrm>
            <a:off x="96012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Adjudication is a deterministic rules engine, not a model. Same claim in, same verdict out.</a:t>
            </a:r>
            <a:endParaRPr lang="en-US" sz="1350" dirty="0"/>
          </a:p>
        </p:txBody>
      </p:sp>
      <p:sp>
        <p:nvSpPr>
          <p:cNvPr id="8" name="Shape 6"/>
          <p:cNvSpPr/>
          <p:nvPr/>
        </p:nvSpPr>
        <p:spPr>
          <a:xfrm>
            <a:off x="4389120" y="1645920"/>
            <a:ext cx="3520440" cy="3017520"/>
          </a:xfrm>
          <a:prstGeom prst="roundRect">
            <a:avLst>
              <a:gd name="adj" fmla="val 1364"/>
            </a:avLst>
          </a:prstGeom>
          <a:solidFill>
            <a:srgbClr val="FFFFFF"/>
          </a:solidFill>
          <a:ln w="12700">
            <a:solidFill>
              <a:srgbClr val="E3E0DA"/>
            </a:solidFill>
            <a:prstDash val="solid"/>
          </a:ln>
        </p:spPr>
      </p:sp>
      <p:sp>
        <p:nvSpPr>
          <p:cNvPr id="9" name="Text 7"/>
          <p:cNvSpPr/>
          <p:nvPr/>
        </p:nvSpPr>
        <p:spPr>
          <a:xfrm>
            <a:off x="475488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02</a:t>
            </a:r>
            <a:endParaRPr lang="en-US" sz="1700" dirty="0"/>
          </a:p>
        </p:txBody>
      </p:sp>
      <p:sp>
        <p:nvSpPr>
          <p:cNvPr id="10" name="Text 8"/>
          <p:cNvSpPr/>
          <p:nvPr/>
        </p:nvSpPr>
        <p:spPr>
          <a:xfrm>
            <a:off x="475488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Structured feedback</a:t>
            </a:r>
            <a:endParaRPr lang="en-US" sz="1700" dirty="0"/>
          </a:p>
        </p:txBody>
      </p:sp>
      <p:sp>
        <p:nvSpPr>
          <p:cNvPr id="11" name="Text 9"/>
          <p:cNvSpPr/>
          <p:nvPr/>
        </p:nvSpPr>
        <p:spPr>
          <a:xfrm>
            <a:off x="475488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Denials carry real CARC and RARC reason codes, the same vocabulary human billers read.</a:t>
            </a:r>
            <a:endParaRPr lang="en-US" sz="1350" dirty="0"/>
          </a:p>
        </p:txBody>
      </p:sp>
      <p:sp>
        <p:nvSpPr>
          <p:cNvPr id="12" name="Shape 10"/>
          <p:cNvSpPr/>
          <p:nvPr/>
        </p:nvSpPr>
        <p:spPr>
          <a:xfrm>
            <a:off x="8183880" y="1645920"/>
            <a:ext cx="3520440" cy="3017520"/>
          </a:xfrm>
          <a:prstGeom prst="roundRect">
            <a:avLst>
              <a:gd name="adj" fmla="val 1364"/>
            </a:avLst>
          </a:prstGeom>
          <a:solidFill>
            <a:srgbClr val="FFFFFF"/>
          </a:solidFill>
          <a:ln w="12700">
            <a:solidFill>
              <a:srgbClr val="E3E0DA"/>
            </a:solidFill>
            <a:prstDash val="solid"/>
          </a:ln>
        </p:spPr>
      </p:sp>
      <p:sp>
        <p:nvSpPr>
          <p:cNvPr id="13" name="Text 11"/>
          <p:cNvSpPr/>
          <p:nvPr/>
        </p:nvSpPr>
        <p:spPr>
          <a:xfrm>
            <a:off x="8549640" y="1965960"/>
            <a:ext cx="731520" cy="457200"/>
          </a:xfrm>
          <a:prstGeom prst="rect">
            <a:avLst/>
          </a:prstGeom>
          <a:noFill/>
          <a:ln/>
        </p:spPr>
        <p:txBody>
          <a:bodyPr wrap="square" lIns="0" tIns="0" rIns="0" bIns="0" rtlCol="0" anchor="ctr"/>
          <a:lstStyle/>
          <a:p>
            <a:pPr indent="0" marL="0">
              <a:buNone/>
            </a:pPr>
            <a:r>
              <a:rPr lang="en-US" sz="1700" b="1" dirty="0">
                <a:solidFill>
                  <a:srgbClr val="35639C"/>
                </a:solidFill>
                <a:latin typeface="Courier New" pitchFamily="34" charset="0"/>
                <a:ea typeface="Courier New" pitchFamily="34" charset="-122"/>
                <a:cs typeface="Courier New" pitchFamily="34" charset="-120"/>
              </a:rPr>
              <a:t>03</a:t>
            </a:r>
            <a:endParaRPr lang="en-US" sz="1700" dirty="0"/>
          </a:p>
        </p:txBody>
      </p:sp>
      <p:sp>
        <p:nvSpPr>
          <p:cNvPr id="14" name="Text 12"/>
          <p:cNvSpPr/>
          <p:nvPr/>
        </p:nvSpPr>
        <p:spPr>
          <a:xfrm>
            <a:off x="8549640" y="2468880"/>
            <a:ext cx="2834640" cy="45720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A binary outcome</a:t>
            </a:r>
            <a:endParaRPr lang="en-US" sz="1700" dirty="0"/>
          </a:p>
        </p:txBody>
      </p:sp>
      <p:sp>
        <p:nvSpPr>
          <p:cNvPr id="15" name="Text 13"/>
          <p:cNvSpPr/>
          <p:nvPr/>
        </p:nvSpPr>
        <p:spPr>
          <a:xfrm>
            <a:off x="8549640" y="2971800"/>
            <a:ext cx="2834640" cy="1463040"/>
          </a:xfrm>
          <a:prstGeom prst="rect">
            <a:avLst/>
          </a:prstGeom>
          <a:noFill/>
          <a:ln/>
        </p:spPr>
        <p:txBody>
          <a:bodyPr wrap="square" lIns="0" tIns="0" rIns="0" bIns="0" rtlCol="0" anchor="ctr"/>
          <a:lstStyle/>
          <a:p>
            <a:pPr indent="0" marL="0">
              <a:buNone/>
            </a:pPr>
            <a:r>
              <a:rPr lang="en-US" sz="1350" dirty="0">
                <a:solidFill>
                  <a:srgbClr val="6A727C"/>
                </a:solidFill>
                <a:latin typeface="Calibri" pitchFamily="34" charset="0"/>
                <a:ea typeface="Calibri" pitchFamily="34" charset="-122"/>
                <a:cs typeface="Calibri" pitchFamily="34" charset="-120"/>
              </a:rPr>
              <a:t>The claim ends paid or not paid. No subjective grading of agent output.</a:t>
            </a:r>
            <a:endParaRPr lang="en-US" sz="1350" dirty="0"/>
          </a:p>
        </p:txBody>
      </p:sp>
      <p:sp>
        <p:nvSpPr>
          <p:cNvPr id="16" name="Text 14"/>
          <p:cNvSpPr/>
          <p:nvPr/>
        </p:nvSpPr>
        <p:spPr>
          <a:xfrm>
            <a:off x="594360" y="5166360"/>
            <a:ext cx="11018520" cy="548640"/>
          </a:xfrm>
          <a:prstGeom prst="rect">
            <a:avLst/>
          </a:prstGeom>
          <a:noFill/>
          <a:ln/>
        </p:spPr>
        <p:txBody>
          <a:bodyPr wrap="square" lIns="0" tIns="0" rIns="0" bIns="0" rtlCol="0" anchor="ctr"/>
          <a:lstStyle/>
          <a:p>
            <a:pPr algn="ctr" indent="0" marL="0">
              <a:buNone/>
            </a:pPr>
            <a:r>
              <a:rPr lang="en-US" sz="1900" b="1" i="1" dirty="0">
                <a:solidFill>
                  <a:srgbClr val="23272C"/>
                </a:solidFill>
                <a:latin typeface="Cambria" pitchFamily="34" charset="0"/>
                <a:ea typeface="Cambria" pitchFamily="34" charset="-122"/>
                <a:cs typeface="Cambria" pitchFamily="34" charset="-120"/>
              </a:rPr>
              <a:t>If the agents fail here, the failure itself is the finding.</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SYSTEM</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Five stages, agents only where language lives</a:t>
            </a:r>
            <a:endParaRPr lang="en-US" sz="2900" dirty="0"/>
          </a:p>
        </p:txBody>
      </p:sp>
      <p:sp>
        <p:nvSpPr>
          <p:cNvPr id="4" name="Shape 2"/>
          <p:cNvSpPr/>
          <p:nvPr/>
        </p:nvSpPr>
        <p:spPr>
          <a:xfrm>
            <a:off x="548640" y="1554480"/>
            <a:ext cx="11091672" cy="3977640"/>
          </a:xfrm>
          <a:prstGeom prst="roundRect">
            <a:avLst>
              <a:gd name="adj" fmla="val 1034"/>
            </a:avLst>
          </a:prstGeom>
          <a:solidFill>
            <a:srgbClr val="FFFFFF"/>
          </a:solidFill>
          <a:ln w="12700">
            <a:solidFill>
              <a:srgbClr val="E3E0DA"/>
            </a:solidFill>
            <a:prstDash val="solid"/>
          </a:ln>
        </p:spPr>
      </p:sp>
      <p:pic>
        <p:nvPicPr>
          <p:cNvPr id="5" name="Image 0" descr="C:\Users\AbdullahAbdel-Khalek\Downloads\Test Codes\High-risk project\claimloop\report\figures\workflow.png">    </p:cNvPr>
          <p:cNvPicPr>
            <a:picLocks noChangeAspect="1"/>
          </p:cNvPicPr>
          <p:nvPr/>
        </p:nvPicPr>
        <p:blipFill>
          <a:blip r:embed="rId1"/>
          <a:stretch>
            <a:fillRect/>
          </a:stretch>
        </p:blipFill>
        <p:spPr>
          <a:xfrm>
            <a:off x="685800" y="1664208"/>
            <a:ext cx="10817352" cy="3758184"/>
          </a:xfrm>
          <a:prstGeom prst="rect">
            <a:avLst/>
          </a:prstGeom>
        </p:spPr>
      </p:pic>
      <p:sp>
        <p:nvSpPr>
          <p:cNvPr id="6" name="Shape 3"/>
          <p:cNvSpPr/>
          <p:nvPr/>
        </p:nvSpPr>
        <p:spPr>
          <a:xfrm>
            <a:off x="685800" y="5806440"/>
            <a:ext cx="91440" cy="91440"/>
          </a:xfrm>
          <a:prstGeom prst="rect">
            <a:avLst/>
          </a:prstGeom>
          <a:solidFill>
            <a:srgbClr val="35639C"/>
          </a:solidFill>
          <a:ln/>
        </p:spPr>
      </p:sp>
      <p:sp>
        <p:nvSpPr>
          <p:cNvPr id="7" name="Text 4"/>
          <p:cNvSpPr/>
          <p:nvPr/>
        </p:nvSpPr>
        <p:spPr>
          <a:xfrm>
            <a:off x="88696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Three agents on the OpenAI Agents SDK over the Responses API</a:t>
            </a:r>
            <a:endParaRPr lang="en-US" sz="1200" dirty="0"/>
          </a:p>
        </p:txBody>
      </p:sp>
      <p:sp>
        <p:nvSpPr>
          <p:cNvPr id="8" name="Shape 5"/>
          <p:cNvSpPr/>
          <p:nvPr/>
        </p:nvSpPr>
        <p:spPr>
          <a:xfrm>
            <a:off x="4389120" y="5806440"/>
            <a:ext cx="91440" cy="91440"/>
          </a:xfrm>
          <a:prstGeom prst="rect">
            <a:avLst/>
          </a:prstGeom>
          <a:solidFill>
            <a:srgbClr val="35639C"/>
          </a:solidFill>
          <a:ln/>
        </p:spPr>
      </p:sp>
      <p:sp>
        <p:nvSpPr>
          <p:cNvPr id="9" name="Text 6"/>
          <p:cNvSpPr/>
          <p:nvPr/>
        </p:nvSpPr>
        <p:spPr>
          <a:xfrm>
            <a:off x="459028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The coder must verify every ICD-10 code against the live NLM table</a:t>
            </a:r>
            <a:endParaRPr lang="en-US" sz="1200" dirty="0"/>
          </a:p>
        </p:txBody>
      </p:sp>
      <p:sp>
        <p:nvSpPr>
          <p:cNvPr id="10" name="Shape 7"/>
          <p:cNvSpPr/>
          <p:nvPr/>
        </p:nvSpPr>
        <p:spPr>
          <a:xfrm>
            <a:off x="8092440" y="5806440"/>
            <a:ext cx="91440" cy="91440"/>
          </a:xfrm>
          <a:prstGeom prst="rect">
            <a:avLst/>
          </a:prstGeom>
          <a:solidFill>
            <a:srgbClr val="35639C"/>
          </a:solidFill>
          <a:ln/>
        </p:spPr>
      </p:sp>
      <p:sp>
        <p:nvSpPr>
          <p:cNvPr id="11" name="Text 8"/>
          <p:cNvSpPr/>
          <p:nvPr/>
        </p:nvSpPr>
        <p:spPr>
          <a:xfrm>
            <a:off x="8293608" y="5650992"/>
            <a:ext cx="3383280" cy="731520"/>
          </a:xfrm>
          <a:prstGeom prst="rect">
            <a:avLst/>
          </a:prstGeom>
          <a:noFill/>
          <a:ln/>
        </p:spPr>
        <p:txBody>
          <a:bodyPr wrap="square" lIns="0" tIns="0" rIns="0" bIns="0" rtlCol="0" anchor="ctr"/>
          <a:lstStyle/>
          <a:p>
            <a:pPr indent="0" marL="0">
              <a:buNone/>
            </a:pPr>
            <a:r>
              <a:rPr lang="en-US" sz="1200" dirty="0">
                <a:solidFill>
                  <a:srgbClr val="23272C"/>
                </a:solidFill>
                <a:latin typeface="Calibri" pitchFamily="34" charset="0"/>
                <a:ea typeface="Calibri" pitchFamily="34" charset="-122"/>
                <a:cs typeface="Calibri" pitchFamily="34" charset="-120"/>
              </a:rPr>
              <a:t>Claim builder and payer are plain deterministic code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THE ADVERSARY</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A payer you can argue with</a:t>
            </a:r>
            <a:endParaRPr lang="en-US" sz="2900" dirty="0"/>
          </a:p>
        </p:txBody>
      </p:sp>
      <p:sp>
        <p:nvSpPr>
          <p:cNvPr id="4" name="Text 2"/>
          <p:cNvSpPr/>
          <p:nvPr/>
        </p:nvSpPr>
        <p:spPr>
          <a:xfrm>
            <a:off x="640080" y="1645920"/>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Required fields present</a:t>
            </a:r>
            <a:endParaRPr lang="en-US" sz="1400" dirty="0"/>
          </a:p>
        </p:txBody>
      </p:sp>
      <p:sp>
        <p:nvSpPr>
          <p:cNvPr id="5" name="Text 3"/>
          <p:cNvSpPr/>
          <p:nvPr/>
        </p:nvSpPr>
        <p:spPr>
          <a:xfrm>
            <a:off x="5623560" y="1691640"/>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CO-16</a:t>
            </a:r>
            <a:endParaRPr lang="en-US" sz="1050" dirty="0"/>
          </a:p>
        </p:txBody>
      </p:sp>
      <p:sp>
        <p:nvSpPr>
          <p:cNvPr id="6" name="Shape 4"/>
          <p:cNvSpPr/>
          <p:nvPr/>
        </p:nvSpPr>
        <p:spPr>
          <a:xfrm>
            <a:off x="640080" y="2148840"/>
            <a:ext cx="5943600" cy="0"/>
          </a:xfrm>
          <a:prstGeom prst="line">
            <a:avLst/>
          </a:prstGeom>
          <a:noFill/>
          <a:ln w="9525">
            <a:solidFill>
              <a:srgbClr val="E3E0DA"/>
            </a:solidFill>
            <a:prstDash val="solid"/>
          </a:ln>
        </p:spPr>
      </p:sp>
      <p:sp>
        <p:nvSpPr>
          <p:cNvPr id="7" name="Text 5"/>
          <p:cNvSpPr/>
          <p:nvPr/>
        </p:nvSpPr>
        <p:spPr>
          <a:xfrm>
            <a:off x="640080" y="2221992"/>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Diagnosis codes exist (live NLM check)</a:t>
            </a:r>
            <a:endParaRPr lang="en-US" sz="1400" dirty="0"/>
          </a:p>
        </p:txBody>
      </p:sp>
      <p:sp>
        <p:nvSpPr>
          <p:cNvPr id="8" name="Text 6"/>
          <p:cNvSpPr/>
          <p:nvPr/>
        </p:nvSpPr>
        <p:spPr>
          <a:xfrm>
            <a:off x="5623560" y="2267712"/>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CO-146</a:t>
            </a:r>
            <a:endParaRPr lang="en-US" sz="1050" dirty="0"/>
          </a:p>
        </p:txBody>
      </p:sp>
      <p:sp>
        <p:nvSpPr>
          <p:cNvPr id="9" name="Shape 7"/>
          <p:cNvSpPr/>
          <p:nvPr/>
        </p:nvSpPr>
        <p:spPr>
          <a:xfrm>
            <a:off x="640080" y="2724912"/>
            <a:ext cx="5943600" cy="0"/>
          </a:xfrm>
          <a:prstGeom prst="line">
            <a:avLst/>
          </a:prstGeom>
          <a:noFill/>
          <a:ln w="9525">
            <a:solidFill>
              <a:srgbClr val="E3E0DA"/>
            </a:solidFill>
            <a:prstDash val="solid"/>
          </a:ln>
        </p:spPr>
      </p:sp>
      <p:sp>
        <p:nvSpPr>
          <p:cNvPr id="10" name="Text 8"/>
          <p:cNvSpPr/>
          <p:nvPr/>
        </p:nvSpPr>
        <p:spPr>
          <a:xfrm>
            <a:off x="640080" y="2798064"/>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Procedure on the fee schedule</a:t>
            </a:r>
            <a:endParaRPr lang="en-US" sz="1400" dirty="0"/>
          </a:p>
        </p:txBody>
      </p:sp>
      <p:sp>
        <p:nvSpPr>
          <p:cNvPr id="11" name="Text 9"/>
          <p:cNvSpPr/>
          <p:nvPr/>
        </p:nvSpPr>
        <p:spPr>
          <a:xfrm>
            <a:off x="5623560" y="2843784"/>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CO-181</a:t>
            </a:r>
            <a:endParaRPr lang="en-US" sz="1050" dirty="0"/>
          </a:p>
        </p:txBody>
      </p:sp>
      <p:sp>
        <p:nvSpPr>
          <p:cNvPr id="12" name="Shape 10"/>
          <p:cNvSpPr/>
          <p:nvPr/>
        </p:nvSpPr>
        <p:spPr>
          <a:xfrm>
            <a:off x="640080" y="3300984"/>
            <a:ext cx="5943600" cy="0"/>
          </a:xfrm>
          <a:prstGeom prst="line">
            <a:avLst/>
          </a:prstGeom>
          <a:noFill/>
          <a:ln w="9525">
            <a:solidFill>
              <a:srgbClr val="E3E0DA"/>
            </a:solidFill>
            <a:prstDash val="solid"/>
          </a:ln>
        </p:spPr>
      </p:sp>
      <p:sp>
        <p:nvSpPr>
          <p:cNvPr id="13" name="Text 11"/>
          <p:cNvSpPr/>
          <p:nvPr/>
        </p:nvSpPr>
        <p:spPr>
          <a:xfrm>
            <a:off x="640080" y="3374136"/>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Diagnosis supports the procedure</a:t>
            </a:r>
            <a:endParaRPr lang="en-US" sz="1400" dirty="0"/>
          </a:p>
        </p:txBody>
      </p:sp>
      <p:sp>
        <p:nvSpPr>
          <p:cNvPr id="14" name="Text 12"/>
          <p:cNvSpPr/>
          <p:nvPr/>
        </p:nvSpPr>
        <p:spPr>
          <a:xfrm>
            <a:off x="5623560" y="3419856"/>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CO-50</a:t>
            </a:r>
            <a:endParaRPr lang="en-US" sz="1050" dirty="0"/>
          </a:p>
        </p:txBody>
      </p:sp>
      <p:sp>
        <p:nvSpPr>
          <p:cNvPr id="15" name="Shape 13"/>
          <p:cNvSpPr/>
          <p:nvPr/>
        </p:nvSpPr>
        <p:spPr>
          <a:xfrm>
            <a:off x="640080" y="3877056"/>
            <a:ext cx="5943600" cy="0"/>
          </a:xfrm>
          <a:prstGeom prst="line">
            <a:avLst/>
          </a:prstGeom>
          <a:noFill/>
          <a:ln w="9525">
            <a:solidFill>
              <a:srgbClr val="E3E0DA"/>
            </a:solidFill>
            <a:prstDash val="solid"/>
          </a:ln>
        </p:spPr>
      </p:sp>
      <p:sp>
        <p:nvSpPr>
          <p:cNvPr id="16" name="Text 14"/>
          <p:cNvSpPr/>
          <p:nvPr/>
        </p:nvSpPr>
        <p:spPr>
          <a:xfrm>
            <a:off x="640080" y="3950208"/>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Prior authorization on file</a:t>
            </a:r>
            <a:endParaRPr lang="en-US" sz="1400" dirty="0"/>
          </a:p>
        </p:txBody>
      </p:sp>
      <p:sp>
        <p:nvSpPr>
          <p:cNvPr id="17" name="Text 15"/>
          <p:cNvSpPr/>
          <p:nvPr/>
        </p:nvSpPr>
        <p:spPr>
          <a:xfrm>
            <a:off x="5623560" y="3995928"/>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CO-197</a:t>
            </a:r>
            <a:endParaRPr lang="en-US" sz="1050" dirty="0"/>
          </a:p>
        </p:txBody>
      </p:sp>
      <p:sp>
        <p:nvSpPr>
          <p:cNvPr id="18" name="Shape 16"/>
          <p:cNvSpPr/>
          <p:nvPr/>
        </p:nvSpPr>
        <p:spPr>
          <a:xfrm>
            <a:off x="640080" y="4453128"/>
            <a:ext cx="5943600" cy="0"/>
          </a:xfrm>
          <a:prstGeom prst="line">
            <a:avLst/>
          </a:prstGeom>
          <a:noFill/>
          <a:ln w="9525">
            <a:solidFill>
              <a:srgbClr val="E3E0DA"/>
            </a:solidFill>
            <a:prstDash val="solid"/>
          </a:ln>
        </p:spPr>
      </p:sp>
      <p:sp>
        <p:nvSpPr>
          <p:cNvPr id="19" name="Text 17"/>
          <p:cNvSpPr/>
          <p:nvPr/>
        </p:nvSpPr>
        <p:spPr>
          <a:xfrm>
            <a:off x="640080" y="4526280"/>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Documentation supports visit level</a:t>
            </a:r>
            <a:endParaRPr lang="en-US" sz="1400" dirty="0"/>
          </a:p>
        </p:txBody>
      </p:sp>
      <p:sp>
        <p:nvSpPr>
          <p:cNvPr id="20" name="Text 18"/>
          <p:cNvSpPr/>
          <p:nvPr/>
        </p:nvSpPr>
        <p:spPr>
          <a:xfrm>
            <a:off x="5623560" y="457200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A8402F"/>
                </a:solidFill>
                <a:latin typeface="Courier New" pitchFamily="34" charset="0"/>
                <a:ea typeface="Courier New" pitchFamily="34" charset="-122"/>
                <a:cs typeface="Courier New" pitchFamily="34" charset="-120"/>
              </a:rPr>
              <a:t>CO-150</a:t>
            </a:r>
            <a:endParaRPr lang="en-US" sz="1050" dirty="0"/>
          </a:p>
        </p:txBody>
      </p:sp>
      <p:sp>
        <p:nvSpPr>
          <p:cNvPr id="21" name="Shape 19"/>
          <p:cNvSpPr/>
          <p:nvPr/>
        </p:nvSpPr>
        <p:spPr>
          <a:xfrm>
            <a:off x="640080" y="5029200"/>
            <a:ext cx="5943600" cy="0"/>
          </a:xfrm>
          <a:prstGeom prst="line">
            <a:avLst/>
          </a:prstGeom>
          <a:noFill/>
          <a:ln w="9525">
            <a:solidFill>
              <a:srgbClr val="E3E0DA"/>
            </a:solidFill>
            <a:prstDash val="solid"/>
          </a:ln>
        </p:spPr>
      </p:sp>
      <p:sp>
        <p:nvSpPr>
          <p:cNvPr id="22" name="Text 20"/>
          <p:cNvSpPr/>
          <p:nvPr/>
        </p:nvSpPr>
        <p:spPr>
          <a:xfrm>
            <a:off x="640080" y="5102352"/>
            <a:ext cx="4846320" cy="384048"/>
          </a:xfrm>
          <a:prstGeom prst="rect">
            <a:avLst/>
          </a:prstGeom>
          <a:noFill/>
          <a:ln/>
        </p:spPr>
        <p:txBody>
          <a:bodyPr wrap="square" lIns="0" tIns="0" rIns="0" bIns="0" rtlCol="0" anchor="ctr"/>
          <a:lstStyle/>
          <a:p>
            <a:pPr indent="0" marL="0">
              <a:buNone/>
            </a:pPr>
            <a:r>
              <a:rPr lang="en-US" sz="1400" dirty="0">
                <a:solidFill>
                  <a:srgbClr val="23272C"/>
                </a:solidFill>
                <a:latin typeface="Calibri" pitchFamily="34" charset="0"/>
                <a:ea typeface="Calibri" pitchFamily="34" charset="-122"/>
                <a:cs typeface="Calibri" pitchFamily="34" charset="-120"/>
              </a:rPr>
              <a:t>No unchanged resubmissions</a:t>
            </a:r>
            <a:endParaRPr lang="en-US" sz="1400" dirty="0"/>
          </a:p>
        </p:txBody>
      </p:sp>
      <p:sp>
        <p:nvSpPr>
          <p:cNvPr id="23" name="Text 21"/>
          <p:cNvSpPr/>
          <p:nvPr/>
        </p:nvSpPr>
        <p:spPr>
          <a:xfrm>
            <a:off x="5623560" y="5148072"/>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6A727C"/>
                </a:solidFill>
                <a:latin typeface="Courier New" pitchFamily="34" charset="0"/>
                <a:ea typeface="Courier New" pitchFamily="34" charset="-122"/>
                <a:cs typeface="Courier New" pitchFamily="34" charset="-120"/>
              </a:rPr>
              <a:t>CO-18</a:t>
            </a:r>
            <a:endParaRPr lang="en-US" sz="1050" dirty="0"/>
          </a:p>
        </p:txBody>
      </p:sp>
      <p:sp>
        <p:nvSpPr>
          <p:cNvPr id="24" name="Shape 22"/>
          <p:cNvSpPr/>
          <p:nvPr/>
        </p:nvSpPr>
        <p:spPr>
          <a:xfrm>
            <a:off x="7178040" y="1645920"/>
            <a:ext cx="4434840" cy="3931920"/>
          </a:xfrm>
          <a:prstGeom prst="roundRect">
            <a:avLst>
              <a:gd name="adj" fmla="val 1047"/>
            </a:avLst>
          </a:prstGeom>
          <a:solidFill>
            <a:srgbClr val="FFFFFF"/>
          </a:solidFill>
          <a:ln w="12700">
            <a:solidFill>
              <a:srgbClr val="E3E0DA"/>
            </a:solidFill>
            <a:prstDash val="solid"/>
          </a:ln>
        </p:spPr>
      </p:sp>
      <p:sp>
        <p:nvSpPr>
          <p:cNvPr id="25" name="Text 23"/>
          <p:cNvSpPr/>
          <p:nvPr/>
        </p:nvSpPr>
        <p:spPr>
          <a:xfrm>
            <a:off x="7543800" y="1965960"/>
            <a:ext cx="365760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WHY DETERMINISTIC</a:t>
            </a:r>
            <a:endParaRPr lang="en-US" sz="950" dirty="0"/>
          </a:p>
        </p:txBody>
      </p:sp>
      <p:sp>
        <p:nvSpPr>
          <p:cNvPr id="26" name="Text 24"/>
          <p:cNvSpPr/>
          <p:nvPr/>
        </p:nvSpPr>
        <p:spPr>
          <a:xfrm>
            <a:off x="7543800" y="2331720"/>
            <a:ext cx="3749040" cy="3017520"/>
          </a:xfrm>
          <a:prstGeom prst="rect">
            <a:avLst/>
          </a:prstGeom>
          <a:noFill/>
          <a:ln/>
        </p:spPr>
        <p:txBody>
          <a:bodyPr wrap="square" rtlCol="0" anchor="ctr"/>
          <a:lstStyle/>
          <a:p>
            <a:pPr marL="342900" indent="-342900">
              <a:spcAft>
                <a:spcPts val="1000"/>
              </a:spcAft>
              <a:buSzPct val="100000"/>
              <a:buChar char="•"/>
            </a:pPr>
            <a:r>
              <a:rPr lang="en-US" sz="1350" dirty="0">
                <a:solidFill>
                  <a:srgbClr val="23272C"/>
                </a:solidFill>
                <a:latin typeface="Calibri" pitchFamily="34" charset="0"/>
                <a:ea typeface="Calibri" pitchFamily="34" charset="-122"/>
                <a:cs typeface="Calibri" pitchFamily="34" charset="-120"/>
              </a:rPr>
              <a:t>Recovery rates become attributable: any change in verdict is caused by the agent's revision.</a:t>
            </a:r>
            <a:endParaRPr lang="en-US" sz="1350" dirty="0"/>
          </a:p>
          <a:p>
            <a:pPr marL="342900" indent="-342900">
              <a:spcAft>
                <a:spcPts val="1000"/>
              </a:spcAft>
              <a:buSzPct val="100000"/>
              <a:buChar char="•"/>
            </a:pPr>
            <a:r>
              <a:rPr lang="en-US" sz="1350" dirty="0">
                <a:solidFill>
                  <a:srgbClr val="23272C"/>
                </a:solidFill>
                <a:latin typeface="Calibri" pitchFamily="34" charset="0"/>
                <a:ea typeface="Calibri" pitchFamily="34" charset="-122"/>
                <a:cs typeface="Calibri" pitchFamily="34" charset="-120"/>
              </a:rPr>
              <a:t>Appeals get a real review: the payer re-reads the full documented diagnosis list, like a human reviewer.</a:t>
            </a:r>
            <a:endParaRPr lang="en-US" sz="1350" dirty="0"/>
          </a:p>
          <a:p>
            <a:pPr marL="342900" indent="-342900">
              <a:buSzPct val="100000"/>
              <a:buChar char="•"/>
            </a:pPr>
            <a:r>
              <a:rPr lang="en-US" sz="1350" dirty="0">
                <a:solidFill>
                  <a:srgbClr val="23272C"/>
                </a:solidFill>
                <a:latin typeface="Calibri" pitchFamily="34" charset="0"/>
                <a:ea typeface="Calibri" pitchFamily="34" charset="-122"/>
                <a:cs typeface="Calibri" pitchFamily="34" charset="-120"/>
              </a:rPr>
              <a:t>The policy is illustrative fiction, disclosed as such. It is the test environment, not the dataset.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INTERFACE</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whole journey on one screen</a:t>
            </a:r>
            <a:endParaRPr lang="en-US" sz="2900" dirty="0"/>
          </a:p>
        </p:txBody>
      </p:sp>
      <p:sp>
        <p:nvSpPr>
          <p:cNvPr id="4" name="Shape 2"/>
          <p:cNvSpPr/>
          <p:nvPr/>
        </p:nvSpPr>
        <p:spPr>
          <a:xfrm>
            <a:off x="548640" y="1554480"/>
            <a:ext cx="6720840" cy="4434840"/>
          </a:xfrm>
          <a:prstGeom prst="roundRect">
            <a:avLst>
              <a:gd name="adj" fmla="val 928"/>
            </a:avLst>
          </a:prstGeom>
          <a:solidFill>
            <a:srgbClr val="FFFFFF"/>
          </a:solidFill>
          <a:ln w="12700">
            <a:solidFill>
              <a:srgbClr val="E3E0DA"/>
            </a:solidFill>
            <a:prstDash val="solid"/>
          </a:ln>
        </p:spPr>
      </p:sp>
      <p:sp>
        <p:nvSpPr>
          <p:cNvPr id="5" name="Shape 3"/>
          <p:cNvSpPr/>
          <p:nvPr/>
        </p:nvSpPr>
        <p:spPr>
          <a:xfrm>
            <a:off x="914400" y="1947672"/>
            <a:ext cx="146304" cy="146304"/>
          </a:xfrm>
          <a:prstGeom prst="ellipse">
            <a:avLst/>
          </a:prstGeom>
          <a:solidFill>
            <a:srgbClr val="FFFFFF"/>
          </a:solidFill>
          <a:ln w="22225">
            <a:solidFill>
              <a:srgbClr val="2E7D4F"/>
            </a:solidFill>
            <a:prstDash val="solid"/>
          </a:ln>
        </p:spPr>
      </p:sp>
      <p:sp>
        <p:nvSpPr>
          <p:cNvPr id="6" name="Text 4"/>
          <p:cNvSpPr/>
          <p:nvPr/>
        </p:nvSpPr>
        <p:spPr>
          <a:xfrm>
            <a:off x="1188720" y="1837944"/>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Scribe</a:t>
            </a:r>
            <a:endParaRPr lang="en-US" sz="1250" dirty="0"/>
          </a:p>
        </p:txBody>
      </p:sp>
      <p:sp>
        <p:nvSpPr>
          <p:cNvPr id="7" name="Shape 5"/>
          <p:cNvSpPr/>
          <p:nvPr/>
        </p:nvSpPr>
        <p:spPr>
          <a:xfrm>
            <a:off x="914400" y="2660904"/>
            <a:ext cx="146304" cy="146304"/>
          </a:xfrm>
          <a:prstGeom prst="ellipse">
            <a:avLst/>
          </a:prstGeom>
          <a:solidFill>
            <a:srgbClr val="FFFFFF"/>
          </a:solidFill>
          <a:ln w="22225">
            <a:solidFill>
              <a:srgbClr val="2E7D4F"/>
            </a:solidFill>
            <a:prstDash val="solid"/>
          </a:ln>
        </p:spPr>
      </p:sp>
      <p:sp>
        <p:nvSpPr>
          <p:cNvPr id="8" name="Text 6"/>
          <p:cNvSpPr/>
          <p:nvPr/>
        </p:nvSpPr>
        <p:spPr>
          <a:xfrm>
            <a:off x="1188720" y="2551176"/>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Coder</a:t>
            </a:r>
            <a:endParaRPr lang="en-US" sz="1250" dirty="0"/>
          </a:p>
        </p:txBody>
      </p:sp>
      <p:sp>
        <p:nvSpPr>
          <p:cNvPr id="9" name="Shape 7"/>
          <p:cNvSpPr/>
          <p:nvPr/>
        </p:nvSpPr>
        <p:spPr>
          <a:xfrm>
            <a:off x="914400" y="3374136"/>
            <a:ext cx="146304" cy="146304"/>
          </a:xfrm>
          <a:prstGeom prst="ellipse">
            <a:avLst/>
          </a:prstGeom>
          <a:solidFill>
            <a:srgbClr val="FFFFFF"/>
          </a:solidFill>
          <a:ln w="22225">
            <a:solidFill>
              <a:srgbClr val="2E7D4F"/>
            </a:solidFill>
            <a:prstDash val="solid"/>
          </a:ln>
        </p:spPr>
      </p:sp>
      <p:sp>
        <p:nvSpPr>
          <p:cNvPr id="10" name="Text 8"/>
          <p:cNvSpPr/>
          <p:nvPr/>
        </p:nvSpPr>
        <p:spPr>
          <a:xfrm>
            <a:off x="1188720" y="3264408"/>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Claim builder</a:t>
            </a:r>
            <a:endParaRPr lang="en-US" sz="1250" dirty="0"/>
          </a:p>
        </p:txBody>
      </p:sp>
      <p:sp>
        <p:nvSpPr>
          <p:cNvPr id="11" name="Shape 9"/>
          <p:cNvSpPr/>
          <p:nvPr/>
        </p:nvSpPr>
        <p:spPr>
          <a:xfrm>
            <a:off x="914400" y="4087368"/>
            <a:ext cx="146304" cy="146304"/>
          </a:xfrm>
          <a:prstGeom prst="ellipse">
            <a:avLst/>
          </a:prstGeom>
          <a:solidFill>
            <a:srgbClr val="FFFFFF"/>
          </a:solidFill>
          <a:ln w="22225">
            <a:solidFill>
              <a:srgbClr val="A8402F"/>
            </a:solidFill>
            <a:prstDash val="solid"/>
          </a:ln>
        </p:spPr>
      </p:sp>
      <p:sp>
        <p:nvSpPr>
          <p:cNvPr id="12" name="Text 10"/>
          <p:cNvSpPr/>
          <p:nvPr/>
        </p:nvSpPr>
        <p:spPr>
          <a:xfrm>
            <a:off x="1188720" y="3977640"/>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Payer</a:t>
            </a:r>
            <a:endParaRPr lang="en-US" sz="1250" dirty="0"/>
          </a:p>
        </p:txBody>
      </p:sp>
      <p:sp>
        <p:nvSpPr>
          <p:cNvPr id="13" name="Shape 11"/>
          <p:cNvSpPr/>
          <p:nvPr/>
        </p:nvSpPr>
        <p:spPr>
          <a:xfrm>
            <a:off x="914400" y="4800600"/>
            <a:ext cx="146304" cy="146304"/>
          </a:xfrm>
          <a:prstGeom prst="ellipse">
            <a:avLst/>
          </a:prstGeom>
          <a:solidFill>
            <a:srgbClr val="FFFFFF"/>
          </a:solidFill>
          <a:ln w="22225">
            <a:solidFill>
              <a:srgbClr val="35639C"/>
            </a:solidFill>
            <a:prstDash val="solid"/>
          </a:ln>
        </p:spPr>
      </p:sp>
      <p:sp>
        <p:nvSpPr>
          <p:cNvPr id="14" name="Text 12"/>
          <p:cNvSpPr/>
          <p:nvPr/>
        </p:nvSpPr>
        <p:spPr>
          <a:xfrm>
            <a:off x="1188720" y="4690872"/>
            <a:ext cx="1691640" cy="36576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Denial resolver</a:t>
            </a:r>
            <a:endParaRPr lang="en-US" sz="1250" dirty="0"/>
          </a:p>
        </p:txBody>
      </p:sp>
      <p:sp>
        <p:nvSpPr>
          <p:cNvPr id="15" name="Shape 13"/>
          <p:cNvSpPr/>
          <p:nvPr/>
        </p:nvSpPr>
        <p:spPr>
          <a:xfrm>
            <a:off x="3017520" y="1828800"/>
            <a:ext cx="0" cy="3840480"/>
          </a:xfrm>
          <a:prstGeom prst="line">
            <a:avLst/>
          </a:prstGeom>
          <a:noFill/>
          <a:ln w="9525">
            <a:solidFill>
              <a:srgbClr val="E3E0DA"/>
            </a:solidFill>
            <a:prstDash val="solid"/>
          </a:ln>
        </p:spPr>
      </p:sp>
      <p:sp>
        <p:nvSpPr>
          <p:cNvPr id="16" name="Shape 14"/>
          <p:cNvSpPr/>
          <p:nvPr/>
        </p:nvSpPr>
        <p:spPr>
          <a:xfrm>
            <a:off x="3246120" y="1828800"/>
            <a:ext cx="3749040" cy="2834640"/>
          </a:xfrm>
          <a:prstGeom prst="roundRect">
            <a:avLst>
              <a:gd name="adj" fmla="val 1290"/>
            </a:avLst>
          </a:prstGeom>
          <a:solidFill>
            <a:srgbClr val="F4F2ED"/>
          </a:solidFill>
          <a:ln w="9525">
            <a:solidFill>
              <a:srgbClr val="E3E0DA"/>
            </a:solidFill>
            <a:prstDash val="solid"/>
          </a:ln>
        </p:spPr>
      </p:sp>
      <p:sp>
        <p:nvSpPr>
          <p:cNvPr id="17" name="Text 15"/>
          <p:cNvSpPr/>
          <p:nvPr/>
        </p:nvSpPr>
        <p:spPr>
          <a:xfrm>
            <a:off x="3429000" y="1965960"/>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Coder agent is assigning ICD-10-CM + CPT</a:t>
            </a:r>
            <a:endParaRPr lang="en-US" sz="950" dirty="0"/>
          </a:p>
        </p:txBody>
      </p:sp>
      <p:sp>
        <p:nvSpPr>
          <p:cNvPr id="18" name="Text 16"/>
          <p:cNvSpPr/>
          <p:nvPr/>
        </p:nvSpPr>
        <p:spPr>
          <a:xfrm>
            <a:off x="3429000" y="2249424"/>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tool&gt; search_icd10({"query":</a:t>
            </a:r>
            <a:endParaRPr lang="en-US" sz="950" dirty="0"/>
          </a:p>
        </p:txBody>
      </p:sp>
      <p:sp>
        <p:nvSpPr>
          <p:cNvPr id="19" name="Text 17"/>
          <p:cNvSpPr/>
          <p:nvPr/>
        </p:nvSpPr>
        <p:spPr>
          <a:xfrm>
            <a:off x="3429000" y="2532888"/>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      "right knee pain"})</a:t>
            </a:r>
            <a:endParaRPr lang="en-US" sz="950" dirty="0"/>
          </a:p>
        </p:txBody>
      </p:sp>
      <p:sp>
        <p:nvSpPr>
          <p:cNvPr id="20" name="Text 18"/>
          <p:cNvSpPr/>
          <p:nvPr/>
        </p:nvSpPr>
        <p:spPr>
          <a:xfrm>
            <a:off x="3429000" y="2816352"/>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-&gt; [{"code": "M25.561",</a:t>
            </a:r>
            <a:endParaRPr lang="en-US" sz="950" dirty="0"/>
          </a:p>
        </p:txBody>
      </p:sp>
      <p:sp>
        <p:nvSpPr>
          <p:cNvPr id="21" name="Text 19"/>
          <p:cNvSpPr/>
          <p:nvPr/>
        </p:nvSpPr>
        <p:spPr>
          <a:xfrm>
            <a:off x="3429000" y="3099816"/>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"name": "Pain in right knee"}]</a:t>
            </a:r>
            <a:endParaRPr lang="en-US" sz="950" dirty="0"/>
          </a:p>
        </p:txBody>
      </p:sp>
      <p:sp>
        <p:nvSpPr>
          <p:cNvPr id="22" name="Text 20"/>
          <p:cNvSpPr/>
          <p:nvPr/>
        </p:nvSpPr>
        <p:spPr>
          <a:xfrm>
            <a:off x="3429000" y="3383280"/>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 "diagnoses": [ { "icd10_code":</a:t>
            </a:r>
            <a:endParaRPr lang="en-US" sz="950" dirty="0"/>
          </a:p>
        </p:txBody>
      </p:sp>
      <p:sp>
        <p:nvSpPr>
          <p:cNvPr id="23" name="Text 21"/>
          <p:cNvSpPr/>
          <p:nvPr/>
        </p:nvSpPr>
        <p:spPr>
          <a:xfrm>
            <a:off x="3429000" y="3666744"/>
            <a:ext cx="3474720" cy="274320"/>
          </a:xfrm>
          <a:prstGeom prst="rect">
            <a:avLst/>
          </a:prstGeom>
          <a:noFill/>
          <a:ln/>
        </p:spPr>
        <p:txBody>
          <a:bodyPr wrap="square" lIns="0" tIns="0" rIns="0" bIns="0" rtlCol="0" anchor="ctr"/>
          <a:lstStyle/>
          <a:p>
            <a:pPr indent="0" marL="0">
              <a:buNone/>
            </a:pPr>
            <a:r>
              <a:rPr lang="en-US" sz="950" dirty="0">
                <a:solidFill>
                  <a:srgbClr val="6A727C"/>
                </a:solidFill>
                <a:latin typeface="Courier New" pitchFamily="34" charset="0"/>
                <a:ea typeface="Courier New" pitchFamily="34" charset="-122"/>
                <a:cs typeface="Courier New" pitchFamily="34" charset="-120"/>
              </a:rPr>
              <a:t>    "M25.561", ...</a:t>
            </a:r>
            <a:endParaRPr lang="en-US" sz="950" dirty="0"/>
          </a:p>
        </p:txBody>
      </p:sp>
      <p:sp>
        <p:nvSpPr>
          <p:cNvPr id="24" name="Text 22"/>
          <p:cNvSpPr/>
          <p:nvPr/>
        </p:nvSpPr>
        <p:spPr>
          <a:xfrm>
            <a:off x="3429000" y="3950208"/>
            <a:ext cx="3474720" cy="274320"/>
          </a:xfrm>
          <a:prstGeom prst="rect">
            <a:avLst/>
          </a:prstGeom>
          <a:noFill/>
          <a:ln/>
        </p:spPr>
        <p:txBody>
          <a:bodyPr wrap="square" lIns="0" tIns="0" rIns="0" bIns="0" rtlCol="0" anchor="ctr"/>
          <a:lstStyle/>
          <a:p>
            <a:pPr indent="0" marL="0">
              <a:buNone/>
            </a:pPr>
            <a:r>
              <a:rPr lang="en-US" sz="950" dirty="0">
                <a:solidFill>
                  <a:srgbClr val="8A6116"/>
                </a:solidFill>
                <a:latin typeface="Courier New" pitchFamily="34" charset="0"/>
                <a:ea typeface="Courier New" pitchFamily="34" charset="-122"/>
                <a:cs typeface="Courier New" pitchFamily="34" charset="-120"/>
              </a:rPr>
              <a:t>tool&gt; request_prior_auth(</a:t>
            </a:r>
            <a:endParaRPr lang="en-US" sz="950" dirty="0"/>
          </a:p>
        </p:txBody>
      </p:sp>
      <p:sp>
        <p:nvSpPr>
          <p:cNvPr id="25" name="Text 23"/>
          <p:cNvSpPr/>
          <p:nvPr/>
        </p:nvSpPr>
        <p:spPr>
          <a:xfrm>
            <a:off x="3429000" y="4233672"/>
            <a:ext cx="3474720" cy="274320"/>
          </a:xfrm>
          <a:prstGeom prst="rect">
            <a:avLst/>
          </a:prstGeom>
          <a:noFill/>
          <a:ln/>
        </p:spPr>
        <p:txBody>
          <a:bodyPr wrap="square" lIns="0" tIns="0" rIns="0" bIns="0" rtlCol="0" anchor="ctr"/>
          <a:lstStyle/>
          <a:p>
            <a:pPr indent="0" marL="0">
              <a:buNone/>
            </a:pPr>
            <a:r>
              <a:rPr lang="en-US" sz="950" dirty="0">
                <a:solidFill>
                  <a:srgbClr val="2E7D4F"/>
                </a:solidFill>
                <a:latin typeface="Courier New" pitchFamily="34" charset="0"/>
                <a:ea typeface="Courier New" pitchFamily="34" charset="-122"/>
                <a:cs typeface="Courier New" pitchFamily="34" charset="-120"/>
              </a:rPr>
              <a:t>  -&gt; {"status": "approved"}</a:t>
            </a:r>
            <a:endParaRPr lang="en-US" sz="950" dirty="0"/>
          </a:p>
        </p:txBody>
      </p:sp>
      <p:sp>
        <p:nvSpPr>
          <p:cNvPr id="26" name="Text 24"/>
          <p:cNvSpPr/>
          <p:nvPr/>
        </p:nvSpPr>
        <p:spPr>
          <a:xfrm>
            <a:off x="3246120" y="4937760"/>
            <a:ext cx="3840480" cy="548640"/>
          </a:xfrm>
          <a:prstGeom prst="rect">
            <a:avLst/>
          </a:prstGeom>
          <a:noFill/>
          <a:ln/>
        </p:spPr>
        <p:txBody>
          <a:bodyPr wrap="square" lIns="0" tIns="0" rIns="0" bIns="0" rtlCol="0" anchor="ctr"/>
          <a:lstStyle/>
          <a:p>
            <a:pPr indent="0" marL="0">
              <a:buNone/>
            </a:pPr>
            <a:r>
              <a:rPr lang="en-US" sz="1050" dirty="0">
                <a:solidFill>
                  <a:srgbClr val="6A727C"/>
                </a:solidFill>
                <a:latin typeface="Courier New" pitchFamily="34" charset="0"/>
                <a:ea typeface="Courier New" pitchFamily="34" charset="-122"/>
                <a:cs typeface="Courier New" pitchFamily="34" charset="-120"/>
              </a:rPr>
              <a:t>submission 1: </a:t>
            </a:r>
            <a:pPr indent="0" marL="0">
              <a:buNone/>
            </a:pPr>
            <a:r>
              <a:rPr lang="en-US" sz="1050" b="1" dirty="0">
                <a:solidFill>
                  <a:srgbClr val="A8402F"/>
                </a:solidFill>
                <a:latin typeface="Courier New" pitchFamily="34" charset="0"/>
                <a:ea typeface="Courier New" pitchFamily="34" charset="-122"/>
                <a:cs typeface="Courier New" pitchFamily="34" charset="-120"/>
              </a:rPr>
              <a:t>denied CO-197</a:t>
            </a:r>
            <a:pPr indent="0" marL="0">
              <a:buNone/>
            </a:pPr>
            <a:r>
              <a:rPr lang="en-US" sz="1050" dirty="0">
                <a:solidFill>
                  <a:srgbClr val="6A727C"/>
                </a:solidFill>
                <a:latin typeface="Courier New" pitchFamily="34" charset="0"/>
                <a:ea typeface="Courier New" pitchFamily="34" charset="-122"/>
                <a:cs typeface="Courier New" pitchFamily="34" charset="-120"/>
              </a:rPr>
              <a:t>   submission 2: </a:t>
            </a:r>
            <a:pPr indent="0" marL="0">
              <a:buNone/>
            </a:pPr>
            <a:r>
              <a:rPr lang="en-US" sz="1050" b="1" dirty="0">
                <a:solidFill>
                  <a:srgbClr val="2E7D4F"/>
                </a:solidFill>
                <a:latin typeface="Courier New" pitchFamily="34" charset="0"/>
                <a:ea typeface="Courier New" pitchFamily="34" charset="-122"/>
                <a:cs typeface="Courier New" pitchFamily="34" charset="-120"/>
              </a:rPr>
              <a:t>accepted, paid</a:t>
            </a:r>
            <a:endParaRPr lang="en-US" sz="1050" dirty="0"/>
          </a:p>
        </p:txBody>
      </p:sp>
      <p:sp>
        <p:nvSpPr>
          <p:cNvPr id="27" name="Shape 25"/>
          <p:cNvSpPr/>
          <p:nvPr/>
        </p:nvSpPr>
        <p:spPr>
          <a:xfrm>
            <a:off x="7543800" y="1709928"/>
            <a:ext cx="82296" cy="82296"/>
          </a:xfrm>
          <a:prstGeom prst="rect">
            <a:avLst/>
          </a:prstGeom>
          <a:solidFill>
            <a:srgbClr val="35639C"/>
          </a:solidFill>
          <a:ln/>
        </p:spPr>
      </p:sp>
      <p:sp>
        <p:nvSpPr>
          <p:cNvPr id="28" name="Text 26"/>
          <p:cNvSpPr/>
          <p:nvPr/>
        </p:nvSpPr>
        <p:spPr>
          <a:xfrm>
            <a:off x="7754112" y="1572768"/>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The encounter transcript is first-class: read the visit before the agents touch it</a:t>
            </a:r>
            <a:endParaRPr lang="en-US" sz="1250" dirty="0"/>
          </a:p>
        </p:txBody>
      </p:sp>
      <p:sp>
        <p:nvSpPr>
          <p:cNvPr id="29" name="Shape 27"/>
          <p:cNvSpPr/>
          <p:nvPr/>
        </p:nvSpPr>
        <p:spPr>
          <a:xfrm>
            <a:off x="7543800" y="2551176"/>
            <a:ext cx="82296" cy="82296"/>
          </a:xfrm>
          <a:prstGeom prst="rect">
            <a:avLst/>
          </a:prstGeom>
          <a:solidFill>
            <a:srgbClr val="35639C"/>
          </a:solidFill>
          <a:ln/>
        </p:spPr>
      </p:sp>
      <p:sp>
        <p:nvSpPr>
          <p:cNvPr id="30" name="Text 28"/>
          <p:cNvSpPr/>
          <p:nvPr/>
        </p:nvSpPr>
        <p:spPr>
          <a:xfrm>
            <a:off x="7754112" y="2414016"/>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A live activity log: model output streaming, tool calls, retries, per stage</a:t>
            </a:r>
            <a:endParaRPr lang="en-US" sz="1250" dirty="0"/>
          </a:p>
        </p:txBody>
      </p:sp>
      <p:sp>
        <p:nvSpPr>
          <p:cNvPr id="31" name="Shape 29"/>
          <p:cNvSpPr/>
          <p:nvPr/>
        </p:nvSpPr>
        <p:spPr>
          <a:xfrm>
            <a:off x="7543800" y="3392424"/>
            <a:ext cx="82296" cy="82296"/>
          </a:xfrm>
          <a:prstGeom prst="rect">
            <a:avLst/>
          </a:prstGeom>
          <a:solidFill>
            <a:srgbClr val="35639C"/>
          </a:solidFill>
          <a:ln/>
        </p:spPr>
      </p:sp>
      <p:sp>
        <p:nvSpPr>
          <p:cNvPr id="32" name="Text 30"/>
          <p:cNvSpPr/>
          <p:nvPr/>
        </p:nvSpPr>
        <p:spPr>
          <a:xfrm>
            <a:off x="7754112" y="3255264"/>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The claim renders as a claim document (patient, provider, diagnoses, service lines), not raw JSON</a:t>
            </a:r>
            <a:endParaRPr lang="en-US" sz="1250" dirty="0"/>
          </a:p>
        </p:txBody>
      </p:sp>
      <p:sp>
        <p:nvSpPr>
          <p:cNvPr id="33" name="Shape 31"/>
          <p:cNvSpPr/>
          <p:nvPr/>
        </p:nvSpPr>
        <p:spPr>
          <a:xfrm>
            <a:off x="7543800" y="4233672"/>
            <a:ext cx="82296" cy="82296"/>
          </a:xfrm>
          <a:prstGeom prst="rect">
            <a:avLst/>
          </a:prstGeom>
          <a:solidFill>
            <a:srgbClr val="35639C"/>
          </a:solidFill>
          <a:ln/>
        </p:spPr>
      </p:sp>
      <p:sp>
        <p:nvSpPr>
          <p:cNvPr id="34" name="Text 32"/>
          <p:cNvSpPr/>
          <p:nvPr/>
        </p:nvSpPr>
        <p:spPr>
          <a:xfrm>
            <a:off x="7754112" y="4096512"/>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Verdicts carry the payer's reason codes; resolutions and appeal letters are shown in full</a:t>
            </a:r>
            <a:endParaRPr lang="en-US" sz="1250" dirty="0"/>
          </a:p>
        </p:txBody>
      </p:sp>
      <p:sp>
        <p:nvSpPr>
          <p:cNvPr id="35" name="Shape 33"/>
          <p:cNvSpPr/>
          <p:nvPr/>
        </p:nvSpPr>
        <p:spPr>
          <a:xfrm>
            <a:off x="7543800" y="5074920"/>
            <a:ext cx="82296" cy="82296"/>
          </a:xfrm>
          <a:prstGeom prst="rect">
            <a:avLst/>
          </a:prstGeom>
          <a:solidFill>
            <a:srgbClr val="35639C"/>
          </a:solidFill>
          <a:ln/>
        </p:spPr>
      </p:sp>
      <p:sp>
        <p:nvSpPr>
          <p:cNvPr id="36" name="Text 34"/>
          <p:cNvSpPr/>
          <p:nvPr/>
        </p:nvSpPr>
        <p:spPr>
          <a:xfrm>
            <a:off x="7754112" y="4937760"/>
            <a:ext cx="3886200" cy="777240"/>
          </a:xfrm>
          <a:prstGeom prst="rect">
            <a:avLst/>
          </a:prstGeom>
          <a:noFill/>
          <a:ln/>
        </p:spPr>
        <p:txBody>
          <a:bodyPr wrap="square" lIns="0" tIns="0" rIns="0" bIns="0" rtlCol="0" anchor="ctr"/>
          <a:lstStyle/>
          <a:p>
            <a:pPr indent="0" marL="0">
              <a:buNone/>
            </a:pPr>
            <a:r>
              <a:rPr lang="en-US" sz="1250" dirty="0">
                <a:solidFill>
                  <a:srgbClr val="23272C"/>
                </a:solidFill>
                <a:latin typeface="Calibri" pitchFamily="34" charset="0"/>
                <a:ea typeface="Calibri" pitchFamily="34" charset="-122"/>
                <a:cs typeface="Calibri" pitchFamily="34" charset="-120"/>
              </a:rPr>
              <a:t>A mock playback mode demos the interface without spending tokens</a:t>
            </a:r>
            <a:endParaRPr lang="en-US" sz="1250" dirty="0"/>
          </a:p>
        </p:txBody>
      </p:sp>
      <p:sp>
        <p:nvSpPr>
          <p:cNvPr id="37" name="Text 35"/>
          <p:cNvSpPr/>
          <p:nvPr/>
        </p:nvSpPr>
        <p:spPr>
          <a:xfrm>
            <a:off x="7754112" y="5806440"/>
            <a:ext cx="3657600" cy="320040"/>
          </a:xfrm>
          <a:prstGeom prst="rect">
            <a:avLst/>
          </a:prstGeom>
          <a:noFill/>
          <a:ln/>
        </p:spPr>
        <p:txBody>
          <a:bodyPr wrap="square" lIns="0" tIns="0" rIns="0" bIns="0" rtlCol="0" anchor="ctr"/>
          <a:lstStyle/>
          <a:p>
            <a:pPr indent="0" marL="0">
              <a:buNone/>
            </a:pPr>
            <a:r>
              <a:rPr lang="en-US" sz="1150" i="1" dirty="0">
                <a:solidFill>
                  <a:srgbClr val="9AA1AA"/>
                </a:solidFill>
                <a:latin typeface="Calibri" pitchFamily="34" charset="0"/>
                <a:ea typeface="Calibri" pitchFamily="34" charset="-122"/>
                <a:cs typeface="Calibri" pitchFamily="34" charset="-120"/>
              </a:rPr>
              <a:t>(live demo in the video)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Sixty encounters, end to end</a:t>
            </a:r>
            <a:endParaRPr lang="en-US" sz="2900" dirty="0"/>
          </a:p>
        </p:txBody>
      </p:sp>
      <p:graphicFrame>
        <p:nvGraphicFramePr>
          <p:cNvPr id="4" name="Chart 0" descr=""/>
          <p:cNvGraphicFramePr/>
          <p:nvPr/>
        </p:nvGraphicFramePr>
        <p:xfrm>
          <a:off x="594360" y="1691640"/>
          <a:ext cx="676656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863840" y="1691640"/>
            <a:ext cx="3657600" cy="822960"/>
          </a:xfrm>
          <a:prstGeom prst="rect">
            <a:avLst/>
          </a:prstGeom>
          <a:noFill/>
          <a:ln/>
        </p:spPr>
        <p:txBody>
          <a:bodyPr wrap="square" lIns="0" tIns="0" rIns="0" bIns="0" rtlCol="0" anchor="ctr"/>
          <a:lstStyle/>
          <a:p>
            <a:pPr indent="0" marL="0">
              <a:buNone/>
            </a:pPr>
            <a:r>
              <a:rPr lang="en-US" sz="4600" b="1" dirty="0">
                <a:solidFill>
                  <a:srgbClr val="2E7D4F"/>
                </a:solidFill>
                <a:latin typeface="Cambria" pitchFamily="34" charset="0"/>
                <a:ea typeface="Cambria" pitchFamily="34" charset="-122"/>
                <a:cs typeface="Cambria" pitchFamily="34" charset="-120"/>
              </a:rPr>
              <a:t>83.3%</a:t>
            </a:r>
            <a:endParaRPr lang="en-US" sz="4600" dirty="0"/>
          </a:p>
        </p:txBody>
      </p:sp>
      <p:sp>
        <p:nvSpPr>
          <p:cNvPr id="6" name="Text 3"/>
          <p:cNvSpPr/>
          <p:nvPr/>
        </p:nvSpPr>
        <p:spPr>
          <a:xfrm>
            <a:off x="7863840" y="2532888"/>
            <a:ext cx="365760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of claims accepted on the first submission</a:t>
            </a:r>
            <a:endParaRPr lang="en-US" sz="1250" dirty="0"/>
          </a:p>
        </p:txBody>
      </p:sp>
      <p:sp>
        <p:nvSpPr>
          <p:cNvPr id="7" name="Text 4"/>
          <p:cNvSpPr/>
          <p:nvPr/>
        </p:nvSpPr>
        <p:spPr>
          <a:xfrm>
            <a:off x="7863840" y="3383280"/>
            <a:ext cx="3657600" cy="822960"/>
          </a:xfrm>
          <a:prstGeom prst="rect">
            <a:avLst/>
          </a:prstGeom>
          <a:noFill/>
          <a:ln/>
        </p:spPr>
        <p:txBody>
          <a:bodyPr wrap="square" lIns="0" tIns="0" rIns="0" bIns="0" rtlCol="0" anchor="ctr"/>
          <a:lstStyle/>
          <a:p>
            <a:pPr indent="0" marL="0">
              <a:buNone/>
            </a:pPr>
            <a:r>
              <a:rPr lang="en-US" sz="4600" b="1" dirty="0">
                <a:solidFill>
                  <a:srgbClr val="35639C"/>
                </a:solidFill>
                <a:latin typeface="Cambria" pitchFamily="34" charset="0"/>
                <a:ea typeface="Cambria" pitchFamily="34" charset="-122"/>
                <a:cs typeface="Cambria" pitchFamily="34" charset="-120"/>
              </a:rPr>
              <a:t>96.7%</a:t>
            </a:r>
            <a:endParaRPr lang="en-US" sz="4600" dirty="0"/>
          </a:p>
        </p:txBody>
      </p:sp>
      <p:sp>
        <p:nvSpPr>
          <p:cNvPr id="8" name="Text 5"/>
          <p:cNvSpPr/>
          <p:nvPr/>
        </p:nvSpPr>
        <p:spPr>
          <a:xfrm>
            <a:off x="7863840" y="4224528"/>
            <a:ext cx="365760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final acceptance after the denial loop, 58 of 60 paid</a:t>
            </a:r>
            <a:endParaRPr lang="en-US" sz="1250" dirty="0"/>
          </a:p>
        </p:txBody>
      </p:sp>
      <p:sp>
        <p:nvSpPr>
          <p:cNvPr id="9" name="Text 6"/>
          <p:cNvSpPr/>
          <p:nvPr/>
        </p:nvSpPr>
        <p:spPr>
          <a:xfrm>
            <a:off x="7863840" y="5349240"/>
            <a:ext cx="3657600" cy="457200"/>
          </a:xfrm>
          <a:prstGeom prst="rect">
            <a:avLst/>
          </a:prstGeom>
          <a:noFill/>
          <a:ln/>
        </p:spPr>
        <p:txBody>
          <a:bodyPr wrap="square" lIns="0" tIns="0" rIns="0" bIns="0" rtlCol="0" anchor="ctr"/>
          <a:lstStyle/>
          <a:p>
            <a:pPr indent="0" marL="0">
              <a:buNone/>
            </a:pPr>
            <a:r>
              <a:rPr lang="en-US" sz="1150" dirty="0">
                <a:solidFill>
                  <a:srgbClr val="9AA1AA"/>
                </a:solidFill>
                <a:latin typeface="Courier New" pitchFamily="34" charset="0"/>
                <a:ea typeface="Courier New" pitchFamily="34" charset="-122"/>
                <a:cs typeface="Courier New" pitchFamily="34" charset="-120"/>
              </a:rPr>
              <a:t>mean 1.17 submissions · 33 seconds per encounter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What the loop can and cannot fix</a:t>
            </a:r>
            <a:endParaRPr lang="en-US" sz="2900" dirty="0"/>
          </a:p>
        </p:txBody>
      </p:sp>
      <p:graphicFrame>
        <p:nvGraphicFramePr>
          <p:cNvPr id="4" name="Chart 0" descr=""/>
          <p:cNvGraphicFramePr/>
          <p:nvPr/>
        </p:nvGraphicFramePr>
        <p:xfrm>
          <a:off x="594360" y="169164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52360" y="169164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2E7D4F"/>
                </a:solidFill>
                <a:latin typeface="Courier New" pitchFamily="34" charset="0"/>
                <a:ea typeface="Courier New" pitchFamily="34" charset="-122"/>
                <a:cs typeface="Courier New" pitchFamily="34" charset="-120"/>
              </a:rPr>
              <a:t>CO-197</a:t>
            </a:r>
            <a:endParaRPr lang="en-US" sz="1050" dirty="0"/>
          </a:p>
        </p:txBody>
      </p:sp>
      <p:sp>
        <p:nvSpPr>
          <p:cNvPr id="6" name="Text 3"/>
          <p:cNvSpPr/>
          <p:nvPr/>
        </p:nvSpPr>
        <p:spPr>
          <a:xfrm>
            <a:off x="8549640" y="16642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prior authorization</a:t>
            </a:r>
            <a:endParaRPr lang="en-US" sz="1350" dirty="0"/>
          </a:p>
        </p:txBody>
      </p:sp>
      <p:sp>
        <p:nvSpPr>
          <p:cNvPr id="7" name="Text 4"/>
          <p:cNvSpPr/>
          <p:nvPr/>
        </p:nvSpPr>
        <p:spPr>
          <a:xfrm>
            <a:off x="7452360" y="20574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2 of 2 automated away: the resolver calls the auth portal tool and resubmits with the number attached</a:t>
            </a:r>
            <a:endParaRPr lang="en-US" sz="1150" dirty="0"/>
          </a:p>
        </p:txBody>
      </p:sp>
      <p:sp>
        <p:nvSpPr>
          <p:cNvPr id="8" name="Text 5"/>
          <p:cNvSpPr/>
          <p:nvPr/>
        </p:nvSpPr>
        <p:spPr>
          <a:xfrm>
            <a:off x="7452360" y="3063240"/>
            <a:ext cx="740664"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2E7D4F"/>
                </a:solidFill>
                <a:latin typeface="Courier New" pitchFamily="34" charset="0"/>
                <a:ea typeface="Courier New" pitchFamily="34" charset="-122"/>
                <a:cs typeface="Courier New" pitchFamily="34" charset="-120"/>
              </a:rPr>
              <a:t>CO-150</a:t>
            </a:r>
            <a:endParaRPr lang="en-US" sz="1050" dirty="0"/>
          </a:p>
        </p:txBody>
      </p:sp>
      <p:sp>
        <p:nvSpPr>
          <p:cNvPr id="9" name="Text 6"/>
          <p:cNvSpPr/>
          <p:nvPr/>
        </p:nvSpPr>
        <p:spPr>
          <a:xfrm>
            <a:off x="8549640" y="30358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documentation level</a:t>
            </a:r>
            <a:endParaRPr lang="en-US" sz="1350" dirty="0"/>
          </a:p>
        </p:txBody>
      </p:sp>
      <p:sp>
        <p:nvSpPr>
          <p:cNvPr id="10" name="Text 7"/>
          <p:cNvSpPr/>
          <p:nvPr/>
        </p:nvSpPr>
        <p:spPr>
          <a:xfrm>
            <a:off x="7452360" y="34290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2 of 2 fixed: added a documented diagnosis the coder dropped, or downcoded the visit. Never upcoded.</a:t>
            </a:r>
            <a:endParaRPr lang="en-US" sz="1150" dirty="0"/>
          </a:p>
        </p:txBody>
      </p:sp>
      <p:sp>
        <p:nvSpPr>
          <p:cNvPr id="11" name="Text 8"/>
          <p:cNvSpPr/>
          <p:nvPr/>
        </p:nvSpPr>
        <p:spPr>
          <a:xfrm>
            <a:off x="7452360" y="4434840"/>
            <a:ext cx="662940" cy="292608"/>
          </a:xfrm>
          <a:prstGeom prst="roundRect">
            <a:avLst>
              <a:gd name="adj" fmla="val 10938"/>
            </a:avLst>
          </a:prstGeom>
          <a:solidFill>
            <a:srgbClr val="FFFFFF"/>
          </a:solidFill>
          <a:ln w="9525">
            <a:solidFill>
              <a:srgbClr val="CFCBC2"/>
            </a:solidFill>
          </a:ln>
        </p:spPr>
        <p:txBody>
          <a:bodyPr wrap="square" lIns="0" tIns="0" rIns="0" bIns="0" rtlCol="0" anchor="ctr"/>
          <a:lstStyle/>
          <a:p>
            <a:pPr algn="ctr" indent="0" marL="0">
              <a:buNone/>
            </a:pPr>
            <a:r>
              <a:rPr lang="en-US" sz="1050" b="1" dirty="0">
                <a:solidFill>
                  <a:srgbClr val="8A6116"/>
                </a:solidFill>
                <a:latin typeface="Courier New" pitchFamily="34" charset="0"/>
                <a:ea typeface="Courier New" pitchFamily="34" charset="-122"/>
                <a:cs typeface="Courier New" pitchFamily="34" charset="-120"/>
              </a:rPr>
              <a:t>CO-50</a:t>
            </a:r>
            <a:endParaRPr lang="en-US" sz="1050" dirty="0"/>
          </a:p>
        </p:txBody>
      </p:sp>
      <p:sp>
        <p:nvSpPr>
          <p:cNvPr id="12" name="Text 9"/>
          <p:cNvSpPr/>
          <p:nvPr/>
        </p:nvSpPr>
        <p:spPr>
          <a:xfrm>
            <a:off x="8549640" y="4407408"/>
            <a:ext cx="3017520" cy="365760"/>
          </a:xfrm>
          <a:prstGeom prst="rect">
            <a:avLst/>
          </a:prstGeom>
          <a:noFill/>
          <a:ln/>
        </p:spPr>
        <p:txBody>
          <a:bodyPr wrap="square" lIns="0" tIns="0" rIns="0" bIns="0" rtlCol="0" anchor="ctr"/>
          <a:lstStyle/>
          <a:p>
            <a:pPr indent="0" marL="0">
              <a:buNone/>
            </a:pPr>
            <a:r>
              <a:rPr lang="en-US" sz="1350" b="1" dirty="0">
                <a:solidFill>
                  <a:srgbClr val="23272C"/>
                </a:solidFill>
                <a:latin typeface="Calibri" pitchFamily="34" charset="0"/>
                <a:ea typeface="Calibri" pitchFamily="34" charset="-122"/>
                <a:cs typeface="Calibri" pitchFamily="34" charset="-120"/>
              </a:rPr>
              <a:t>medical necessity</a:t>
            </a:r>
            <a:endParaRPr lang="en-US" sz="1350" dirty="0"/>
          </a:p>
        </p:txBody>
      </p:sp>
      <p:sp>
        <p:nvSpPr>
          <p:cNvPr id="13" name="Text 10"/>
          <p:cNvSpPr/>
          <p:nvPr/>
        </p:nvSpPr>
        <p:spPr>
          <a:xfrm>
            <a:off x="7452360" y="4800600"/>
            <a:ext cx="4114800" cy="914400"/>
          </a:xfrm>
          <a:prstGeom prst="rect">
            <a:avLst/>
          </a:prstGeom>
          <a:noFill/>
          <a:ln/>
        </p:spPr>
        <p:txBody>
          <a:bodyPr wrap="square" lIns="0" tIns="0" rIns="0" bIns="0" rtlCol="0" anchor="ctr"/>
          <a:lstStyle/>
          <a:p>
            <a:pPr indent="0" marL="0">
              <a:buNone/>
            </a:pPr>
            <a:r>
              <a:rPr lang="en-US" sz="1150" dirty="0">
                <a:solidFill>
                  <a:srgbClr val="6A727C"/>
                </a:solidFill>
                <a:latin typeface="Calibri" pitchFamily="34" charset="0"/>
                <a:ea typeface="Calibri" pitchFamily="34" charset="-122"/>
                <a:cs typeface="Calibri" pitchFamily="34" charset="-120"/>
              </a:rPr>
              <a:t>6 of 8, the hard category. Includes 2 written appeals, both overturned on review</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The cheap model was enough</a:t>
            </a:r>
            <a:endParaRPr lang="en-US" sz="2900" dirty="0"/>
          </a:p>
        </p:txBody>
      </p:sp>
      <p:graphicFrame>
        <p:nvGraphicFramePr>
          <p:cNvPr id="4" name="Chart 0" descr=""/>
          <p:cNvGraphicFramePr/>
          <p:nvPr/>
        </p:nvGraphicFramePr>
        <p:xfrm>
          <a:off x="594360" y="1691640"/>
          <a:ext cx="603504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 y="5532120"/>
            <a:ext cx="6035040" cy="365760"/>
          </a:xfrm>
          <a:prstGeom prst="rect">
            <a:avLst/>
          </a:prstGeom>
          <a:noFill/>
          <a:ln/>
        </p:spPr>
        <p:txBody>
          <a:bodyPr wrap="square" lIns="0" tIns="0" rIns="0" bIns="0" rtlCol="0" anchor="ctr"/>
          <a:lstStyle/>
          <a:p>
            <a:pPr algn="ctr" indent="0" marL="0">
              <a:buNone/>
            </a:pPr>
            <a:r>
              <a:rPr lang="en-US" sz="1200" i="1" dirty="0">
                <a:solidFill>
                  <a:srgbClr val="9AA1AA"/>
                </a:solidFill>
                <a:latin typeface="Calibri" pitchFamily="34" charset="0"/>
                <a:ea typeface="Calibri" pitchFamily="34" charset="-122"/>
                <a:cs typeface="Calibri" pitchFamily="34" charset="-120"/>
              </a:rPr>
              <a:t>identical outcomes on the shared 20 encounters</a:t>
            </a:r>
            <a:endParaRPr lang="en-US" sz="1200" dirty="0"/>
          </a:p>
        </p:txBody>
      </p:sp>
      <p:sp>
        <p:nvSpPr>
          <p:cNvPr id="6" name="Text 3"/>
          <p:cNvSpPr/>
          <p:nvPr/>
        </p:nvSpPr>
        <p:spPr>
          <a:xfrm>
            <a:off x="7223760" y="1691640"/>
            <a:ext cx="4206240" cy="822960"/>
          </a:xfrm>
          <a:prstGeom prst="rect">
            <a:avLst/>
          </a:prstGeom>
          <a:noFill/>
          <a:ln/>
        </p:spPr>
        <p:txBody>
          <a:bodyPr wrap="square" lIns="0" tIns="0" rIns="0" bIns="0" rtlCol="0" anchor="ctr"/>
          <a:lstStyle/>
          <a:p>
            <a:pPr indent="0" marL="0">
              <a:buNone/>
            </a:pPr>
            <a:r>
              <a:rPr lang="en-US" sz="4600" b="1" dirty="0">
                <a:solidFill>
                  <a:srgbClr val="35639C"/>
                </a:solidFill>
                <a:latin typeface="Cambria" pitchFamily="34" charset="0"/>
                <a:ea typeface="Cambria" pitchFamily="34" charset="-122"/>
                <a:cs typeface="Cambria" pitchFamily="34" charset="-120"/>
              </a:rPr>
              <a:t>$0.0039</a:t>
            </a:r>
            <a:endParaRPr lang="en-US" sz="4600" dirty="0"/>
          </a:p>
        </p:txBody>
      </p:sp>
      <p:sp>
        <p:nvSpPr>
          <p:cNvPr id="7" name="Text 4"/>
          <p:cNvSpPr/>
          <p:nvPr/>
        </p:nvSpPr>
        <p:spPr>
          <a:xfrm>
            <a:off x="7223760" y="2532888"/>
            <a:ext cx="420624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per encounter on the budget tier; terra costs 5.5x for the same outcome here</a:t>
            </a:r>
            <a:endParaRPr lang="en-US" sz="1250" dirty="0"/>
          </a:p>
        </p:txBody>
      </p:sp>
      <p:sp>
        <p:nvSpPr>
          <p:cNvPr id="8" name="Text 5"/>
          <p:cNvSpPr/>
          <p:nvPr/>
        </p:nvSpPr>
        <p:spPr>
          <a:xfrm>
            <a:off x="7223760" y="3429000"/>
            <a:ext cx="4206240" cy="822960"/>
          </a:xfrm>
          <a:prstGeom prst="rect">
            <a:avLst/>
          </a:prstGeom>
          <a:noFill/>
          <a:ln/>
        </p:spPr>
        <p:txBody>
          <a:bodyPr wrap="square" lIns="0" tIns="0" rIns="0" bIns="0" rtlCol="0" anchor="ctr"/>
          <a:lstStyle/>
          <a:p>
            <a:pPr indent="0" marL="0">
              <a:buNone/>
            </a:pPr>
            <a:r>
              <a:rPr lang="en-US" sz="4600" b="1" dirty="0">
                <a:solidFill>
                  <a:srgbClr val="23272C"/>
                </a:solidFill>
                <a:latin typeface="Cambria" pitchFamily="34" charset="0"/>
                <a:ea typeface="Cambria" pitchFamily="34" charset="-122"/>
                <a:cs typeface="Cambria" pitchFamily="34" charset="-120"/>
              </a:rPr>
              <a:t>$0.23</a:t>
            </a:r>
            <a:endParaRPr lang="en-US" sz="4600" dirty="0"/>
          </a:p>
        </p:txBody>
      </p:sp>
      <p:sp>
        <p:nvSpPr>
          <p:cNvPr id="9" name="Text 6"/>
          <p:cNvSpPr/>
          <p:nvPr/>
        </p:nvSpPr>
        <p:spPr>
          <a:xfrm>
            <a:off x="7223760" y="4270248"/>
            <a:ext cx="4206240" cy="82296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total inference cost of the entire 60-encounter study</a:t>
            </a:r>
            <a:endParaRPr lang="en-US" sz="1250" dirty="0"/>
          </a:p>
        </p:txBody>
      </p:sp>
      <p:sp>
        <p:nvSpPr>
          <p:cNvPr id="10" name="Text 7"/>
          <p:cNvSpPr/>
          <p:nvPr/>
        </p:nvSpPr>
        <p:spPr>
          <a:xfrm>
            <a:off x="7223760" y="5394960"/>
            <a:ext cx="4206240" cy="548640"/>
          </a:xfrm>
          <a:prstGeom prst="rect">
            <a:avLst/>
          </a:prstGeom>
          <a:noFill/>
          <a:ln/>
        </p:spPr>
        <p:txBody>
          <a:bodyPr wrap="square" lIns="0" tIns="0" rIns="0" bIns="0" rtlCol="0" anchor="ctr"/>
          <a:lstStyle/>
          <a:p>
            <a:pPr indent="0" marL="0">
              <a:buNone/>
            </a:pPr>
            <a:r>
              <a:rPr lang="en-US" sz="1500" b="1" i="1" dirty="0">
                <a:solidFill>
                  <a:srgbClr val="23272C"/>
                </a:solidFill>
                <a:latin typeface="Cambria" pitchFamily="34" charset="0"/>
                <a:ea typeface="Cambria" pitchFamily="34" charset="-122"/>
                <a:cs typeface="Cambria" pitchFamily="34" charset="-120"/>
              </a:rPr>
              <a:t>Scaffolding earned more than the model upgrade.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FAILURE ANALYSIS</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Two failures worth more than the wins</a:t>
            </a:r>
            <a:endParaRPr lang="en-US" sz="2900" dirty="0"/>
          </a:p>
        </p:txBody>
      </p:sp>
      <p:sp>
        <p:nvSpPr>
          <p:cNvPr id="4" name="Shape 2"/>
          <p:cNvSpPr/>
          <p:nvPr/>
        </p:nvSpPr>
        <p:spPr>
          <a:xfrm>
            <a:off x="594360" y="1600200"/>
            <a:ext cx="5486400" cy="3931920"/>
          </a:xfrm>
          <a:prstGeom prst="roundRect">
            <a:avLst>
              <a:gd name="adj" fmla="val 1047"/>
            </a:avLst>
          </a:prstGeom>
          <a:solidFill>
            <a:srgbClr val="FFFFFF"/>
          </a:solidFill>
          <a:ln w="12700">
            <a:solidFill>
              <a:srgbClr val="E3E0DA"/>
            </a:solidFill>
            <a:prstDash val="solid"/>
          </a:ln>
        </p:spPr>
      </p:sp>
      <p:sp>
        <p:nvSpPr>
          <p:cNvPr id="5" name="Text 3"/>
          <p:cNvSpPr/>
          <p:nvPr/>
        </p:nvSpPr>
        <p:spPr>
          <a:xfrm>
            <a:off x="960120" y="1920240"/>
            <a:ext cx="457200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ENCOUNTER D2N102</a:t>
            </a:r>
            <a:endParaRPr lang="en-US" sz="950" dirty="0"/>
          </a:p>
        </p:txBody>
      </p:sp>
      <p:sp>
        <p:nvSpPr>
          <p:cNvPr id="6" name="Text 4"/>
          <p:cNvSpPr/>
          <p:nvPr/>
        </p:nvSpPr>
        <p:spPr>
          <a:xfrm>
            <a:off x="960120" y="2194560"/>
            <a:ext cx="4206240" cy="41148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The oscillator</a:t>
            </a:r>
            <a:endParaRPr lang="en-US" sz="1700" dirty="0"/>
          </a:p>
        </p:txBody>
      </p:sp>
      <p:sp>
        <p:nvSpPr>
          <p:cNvPr id="7" name="Text 5"/>
          <p:cNvSpPr/>
          <p:nvPr/>
        </p:nvSpPr>
        <p:spPr>
          <a:xfrm>
            <a:off x="960120"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R31.0</a:t>
            </a:r>
            <a:endParaRPr lang="en-US" sz="950" dirty="0"/>
          </a:p>
        </p:txBody>
      </p:sp>
      <p:sp>
        <p:nvSpPr>
          <p:cNvPr id="8" name="Text 6"/>
          <p:cNvSpPr/>
          <p:nvPr/>
        </p:nvSpPr>
        <p:spPr>
          <a:xfrm>
            <a:off x="1668780"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9" name="Text 7"/>
          <p:cNvSpPr/>
          <p:nvPr/>
        </p:nvSpPr>
        <p:spPr>
          <a:xfrm>
            <a:off x="1856232"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CO-50</a:t>
            </a:r>
            <a:endParaRPr lang="en-US" sz="950" dirty="0"/>
          </a:p>
        </p:txBody>
      </p:sp>
      <p:sp>
        <p:nvSpPr>
          <p:cNvPr id="10" name="Text 8"/>
          <p:cNvSpPr/>
          <p:nvPr/>
        </p:nvSpPr>
        <p:spPr>
          <a:xfrm>
            <a:off x="2564892"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1" name="Text 9"/>
          <p:cNvSpPr/>
          <p:nvPr/>
        </p:nvSpPr>
        <p:spPr>
          <a:xfrm>
            <a:off x="2752344"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N20.0</a:t>
            </a:r>
            <a:endParaRPr lang="en-US" sz="950" dirty="0"/>
          </a:p>
        </p:txBody>
      </p:sp>
      <p:sp>
        <p:nvSpPr>
          <p:cNvPr id="12" name="Text 10"/>
          <p:cNvSpPr/>
          <p:nvPr/>
        </p:nvSpPr>
        <p:spPr>
          <a:xfrm>
            <a:off x="3461004" y="2743200"/>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3" name="Text 11"/>
          <p:cNvSpPr/>
          <p:nvPr/>
        </p:nvSpPr>
        <p:spPr>
          <a:xfrm>
            <a:off x="3648456" y="2743200"/>
            <a:ext cx="68580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CO-50</a:t>
            </a:r>
            <a:endParaRPr lang="en-US" sz="950" dirty="0"/>
          </a:p>
        </p:txBody>
      </p:sp>
      <p:sp>
        <p:nvSpPr>
          <p:cNvPr id="14" name="Text 12"/>
          <p:cNvSpPr/>
          <p:nvPr/>
        </p:nvSpPr>
        <p:spPr>
          <a:xfrm>
            <a:off x="960120" y="3127248"/>
            <a:ext cx="118872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23272C"/>
                </a:solidFill>
                <a:latin typeface="Courier New" pitchFamily="34" charset="0"/>
                <a:ea typeface="Courier New" pitchFamily="34" charset="-122"/>
                <a:cs typeface="Courier New" pitchFamily="34" charset="-120"/>
              </a:rPr>
              <a:t>back to R31.0</a:t>
            </a:r>
            <a:endParaRPr lang="en-US" sz="950" dirty="0"/>
          </a:p>
        </p:txBody>
      </p:sp>
      <p:sp>
        <p:nvSpPr>
          <p:cNvPr id="15" name="Text 13"/>
          <p:cNvSpPr/>
          <p:nvPr/>
        </p:nvSpPr>
        <p:spPr>
          <a:xfrm>
            <a:off x="2171700" y="3127248"/>
            <a:ext cx="164592" cy="274320"/>
          </a:xfrm>
          <a:prstGeom prst="rect">
            <a:avLst/>
          </a:prstGeom>
          <a:noFill/>
          <a:ln/>
        </p:spPr>
        <p:txBody>
          <a:bodyPr wrap="square" lIns="0" tIns="0" rIns="0" bIns="0" rtlCol="0" anchor="ctr"/>
          <a:lstStyle/>
          <a:p>
            <a:pPr algn="ctr" indent="0" marL="0">
              <a:buNone/>
            </a:pPr>
            <a:r>
              <a:rPr lang="en-US" sz="1050" b="1" dirty="0">
                <a:solidFill>
                  <a:srgbClr val="9AA1AA"/>
                </a:solidFill>
                <a:latin typeface="Courier New" pitchFamily="34" charset="0"/>
                <a:ea typeface="Courier New" pitchFamily="34" charset="-122"/>
                <a:cs typeface="Courier New" pitchFamily="34" charset="-120"/>
              </a:rPr>
              <a:t>&gt;</a:t>
            </a:r>
            <a:endParaRPr lang="en-US" sz="1050" dirty="0"/>
          </a:p>
        </p:txBody>
      </p:sp>
      <p:sp>
        <p:nvSpPr>
          <p:cNvPr id="16" name="Text 14"/>
          <p:cNvSpPr/>
          <p:nvPr/>
        </p:nvSpPr>
        <p:spPr>
          <a:xfrm>
            <a:off x="2359152" y="3127248"/>
            <a:ext cx="1325880" cy="274320"/>
          </a:xfrm>
          <a:prstGeom prst="roundRect">
            <a:avLst>
              <a:gd name="adj" fmla="val 11667"/>
            </a:avLst>
          </a:prstGeom>
          <a:solidFill>
            <a:srgbClr val="FFFFFF"/>
          </a:solidFill>
          <a:ln w="9525">
            <a:solidFill>
              <a:srgbClr val="CFCBC2"/>
            </a:solidFill>
          </a:ln>
        </p:spPr>
        <p:txBody>
          <a:bodyPr wrap="square" lIns="0" tIns="0" rIns="0" bIns="0" rtlCol="0" anchor="ctr"/>
          <a:lstStyle/>
          <a:p>
            <a:pPr algn="ctr" indent="0" marL="0">
              <a:buNone/>
            </a:pPr>
            <a:r>
              <a:rPr lang="en-US" sz="950" b="1" dirty="0">
                <a:solidFill>
                  <a:srgbClr val="A8402F"/>
                </a:solidFill>
                <a:latin typeface="Courier New" pitchFamily="34" charset="0"/>
                <a:ea typeface="Courier New" pitchFamily="34" charset="-122"/>
                <a:cs typeface="Courier New" pitchFamily="34" charset="-120"/>
              </a:rPr>
              <a:t>CO-18 duplicate</a:t>
            </a:r>
            <a:endParaRPr lang="en-US" sz="950" dirty="0"/>
          </a:p>
        </p:txBody>
      </p:sp>
      <p:sp>
        <p:nvSpPr>
          <p:cNvPr id="17" name="Text 15"/>
          <p:cNvSpPr/>
          <p:nvPr/>
        </p:nvSpPr>
        <p:spPr>
          <a:xfrm>
            <a:off x="960120" y="3611880"/>
            <a:ext cx="4754880" cy="109728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The resolver swapped between two diagnosis pointers and walked straight back into its own first claim. Each resolution sees only the current denial, never the attempt history.</a:t>
            </a:r>
            <a:endParaRPr lang="en-US" sz="1250" dirty="0"/>
          </a:p>
        </p:txBody>
      </p:sp>
      <p:sp>
        <p:nvSpPr>
          <p:cNvPr id="18" name="Text 16"/>
          <p:cNvSpPr/>
          <p:nvPr/>
        </p:nvSpPr>
        <p:spPr>
          <a:xfrm>
            <a:off x="960120" y="4800600"/>
            <a:ext cx="4754880" cy="411480"/>
          </a:xfrm>
          <a:prstGeom prst="rect">
            <a:avLst/>
          </a:prstGeom>
          <a:noFill/>
          <a:ln/>
        </p:spPr>
        <p:txBody>
          <a:bodyPr wrap="square" lIns="0" tIns="0" rIns="0" bIns="0" rtlCol="0" anchor="ctr"/>
          <a:lstStyle/>
          <a:p>
            <a:pPr indent="0" marL="0">
              <a:buNone/>
            </a:pPr>
            <a:r>
              <a:rPr lang="en-US" sz="1350" b="1" dirty="0">
                <a:solidFill>
                  <a:srgbClr val="A8402F"/>
                </a:solidFill>
                <a:latin typeface="Calibri" pitchFamily="34" charset="0"/>
                <a:ea typeface="Calibri" pitchFamily="34" charset="-122"/>
                <a:cs typeface="Calibri" pitchFamily="34" charset="-120"/>
              </a:rPr>
              <a:t>An architecture gap, not a model gap.</a:t>
            </a:r>
            <a:endParaRPr lang="en-US" sz="1350" dirty="0"/>
          </a:p>
        </p:txBody>
      </p:sp>
      <p:sp>
        <p:nvSpPr>
          <p:cNvPr id="19" name="Shape 17"/>
          <p:cNvSpPr/>
          <p:nvPr/>
        </p:nvSpPr>
        <p:spPr>
          <a:xfrm>
            <a:off x="6400800" y="1600200"/>
            <a:ext cx="5212080" cy="3931920"/>
          </a:xfrm>
          <a:prstGeom prst="roundRect">
            <a:avLst>
              <a:gd name="adj" fmla="val 1047"/>
            </a:avLst>
          </a:prstGeom>
          <a:solidFill>
            <a:srgbClr val="FFFFFF"/>
          </a:solidFill>
          <a:ln w="12700">
            <a:solidFill>
              <a:srgbClr val="E3E0DA"/>
            </a:solidFill>
            <a:prstDash val="solid"/>
          </a:ln>
        </p:spPr>
      </p:sp>
      <p:sp>
        <p:nvSpPr>
          <p:cNvPr id="20" name="Text 18"/>
          <p:cNvSpPr/>
          <p:nvPr/>
        </p:nvSpPr>
        <p:spPr>
          <a:xfrm>
            <a:off x="6766560" y="1920240"/>
            <a:ext cx="438912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ENCOUNTER D2N093</a:t>
            </a:r>
            <a:endParaRPr lang="en-US" sz="950" dirty="0"/>
          </a:p>
        </p:txBody>
      </p:sp>
      <p:sp>
        <p:nvSpPr>
          <p:cNvPr id="21" name="Text 19"/>
          <p:cNvSpPr/>
          <p:nvPr/>
        </p:nvSpPr>
        <p:spPr>
          <a:xfrm>
            <a:off x="6766560" y="2194560"/>
            <a:ext cx="3931920" cy="411480"/>
          </a:xfrm>
          <a:prstGeom prst="rect">
            <a:avLst/>
          </a:prstGeom>
          <a:noFill/>
          <a:ln/>
        </p:spPr>
        <p:txBody>
          <a:bodyPr wrap="square" lIns="0" tIns="0" rIns="0" bIns="0" rtlCol="0" anchor="ctr"/>
          <a:lstStyle/>
          <a:p>
            <a:pPr indent="0" marL="0">
              <a:buNone/>
            </a:pPr>
            <a:r>
              <a:rPr lang="en-US" sz="1700" b="1" dirty="0">
                <a:solidFill>
                  <a:srgbClr val="23272C"/>
                </a:solidFill>
                <a:latin typeface="Calibri" pitchFamily="34" charset="0"/>
                <a:ea typeface="Calibri" pitchFamily="34" charset="-122"/>
                <a:cs typeface="Calibri" pitchFamily="34" charset="-120"/>
              </a:rPr>
              <a:t>The refusal</a:t>
            </a:r>
            <a:endParaRPr lang="en-US" sz="1700" dirty="0"/>
          </a:p>
        </p:txBody>
      </p:sp>
      <p:sp>
        <p:nvSpPr>
          <p:cNvPr id="22" name="Text 20"/>
          <p:cNvSpPr/>
          <p:nvPr/>
        </p:nvSpPr>
        <p:spPr>
          <a:xfrm>
            <a:off x="6766560" y="2743200"/>
            <a:ext cx="4480560" cy="1417320"/>
          </a:xfrm>
          <a:prstGeom prst="rect">
            <a:avLst/>
          </a:prstGeom>
          <a:noFill/>
          <a:ln/>
        </p:spPr>
        <p:txBody>
          <a:bodyPr wrap="square" lIns="0" tIns="0" rIns="0" bIns="0" rtlCol="0" anchor="ctr"/>
          <a:lstStyle/>
          <a:p>
            <a:pPr indent="0" marL="0">
              <a:buNone/>
            </a:pPr>
            <a:r>
              <a:rPr lang="en-US" sz="1250" dirty="0">
                <a:solidFill>
                  <a:srgbClr val="6A727C"/>
                </a:solidFill>
                <a:latin typeface="Calibri" pitchFamily="34" charset="0"/>
                <a:ea typeface="Calibri" pitchFamily="34" charset="-122"/>
                <a:cs typeface="Calibri" pitchFamily="34" charset="-120"/>
              </a:rPr>
              <a:t>An A1c lab was billed against type 1 diabetes, which the demo policy does not cover. The resolver examined the note, found no compliant fix, refused to invent a diagnosis, and abandoned the line.</a:t>
            </a:r>
            <a:endParaRPr lang="en-US" sz="1250" dirty="0"/>
          </a:p>
        </p:txBody>
      </p:sp>
      <p:sp>
        <p:nvSpPr>
          <p:cNvPr id="23" name="Text 21"/>
          <p:cNvSpPr/>
          <p:nvPr/>
        </p:nvSpPr>
        <p:spPr>
          <a:xfrm>
            <a:off x="6766560" y="4206240"/>
            <a:ext cx="4480560" cy="685800"/>
          </a:xfrm>
          <a:prstGeom prst="rect">
            <a:avLst/>
          </a:prstGeom>
          <a:noFill/>
          <a:ln/>
        </p:spPr>
        <p:txBody>
          <a:bodyPr wrap="square" lIns="0" tIns="0" rIns="0" bIns="0" rtlCol="0" anchor="ctr"/>
          <a:lstStyle/>
          <a:p>
            <a:pPr indent="0" marL="0">
              <a:buNone/>
            </a:pPr>
            <a:r>
              <a:rPr lang="en-US" sz="1350" b="1" dirty="0">
                <a:solidFill>
                  <a:srgbClr val="2E7D4F"/>
                </a:solidFill>
                <a:latin typeface="Calibri" pitchFamily="34" charset="0"/>
                <a:ea typeface="Calibri" pitchFamily="34" charset="-122"/>
                <a:cs typeface="Calibri" pitchFamily="34" charset="-120"/>
              </a:rPr>
              <a:t>The guardrail behaving exactly as instructed: never fabricate clinical facts.</a:t>
            </a:r>
            <a:endParaRPr lang="en-US" sz="1350" dirty="0"/>
          </a:p>
        </p:txBody>
      </p:sp>
      <p:sp>
        <p:nvSpPr>
          <p:cNvPr id="24" name="Text 22"/>
          <p:cNvSpPr/>
          <p:nvPr/>
        </p:nvSpPr>
        <p:spPr>
          <a:xfrm>
            <a:off x="594360" y="5806440"/>
            <a:ext cx="11018520" cy="411480"/>
          </a:xfrm>
          <a:prstGeom prst="rect">
            <a:avLst/>
          </a:prstGeom>
          <a:noFill/>
          <a:ln/>
        </p:spPr>
        <p:txBody>
          <a:bodyPr wrap="square" lIns="0" tIns="0" rIns="0" bIns="0" rtlCol="0" anchor="ctr"/>
          <a:lstStyle/>
          <a:p>
            <a:pPr algn="ctr" indent="0" marL="0">
              <a:buNone/>
            </a:pPr>
            <a:r>
              <a:rPr lang="en-US" sz="1300" i="1" dirty="0">
                <a:solidFill>
                  <a:srgbClr val="6A727C"/>
                </a:solidFill>
                <a:latin typeface="Calibri" pitchFamily="34" charset="0"/>
                <a:ea typeface="Calibri" pitchFamily="34" charset="-122"/>
                <a:cs typeface="Calibri" pitchFamily="34" charset="-120"/>
              </a:rPr>
              <a:t>A deterministic payer makes policy gaps and agent flaws cleanly separable.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050" b="1" spc="300" kern="0" dirty="0">
                <a:solidFill>
                  <a:srgbClr val="35639C"/>
                </a:solidFill>
                <a:latin typeface="Calibri" pitchFamily="34" charset="0"/>
                <a:ea typeface="Calibri" pitchFamily="34" charset="-122"/>
                <a:cs typeface="Calibri" pitchFamily="34" charset="-120"/>
              </a:rPr>
              <a:t>ENGINEERING VIEW</a:t>
            </a:r>
            <a:endParaRPr lang="en-US" sz="1050" dirty="0"/>
          </a:p>
        </p:txBody>
      </p:sp>
      <p:sp>
        <p:nvSpPr>
          <p:cNvPr id="3" name="Text 1"/>
          <p:cNvSpPr/>
          <p:nvPr/>
        </p:nvSpPr>
        <p:spPr>
          <a:xfrm>
            <a:off x="548640" y="566928"/>
            <a:ext cx="11064240" cy="685800"/>
          </a:xfrm>
          <a:prstGeom prst="rect">
            <a:avLst/>
          </a:prstGeom>
          <a:noFill/>
          <a:ln/>
        </p:spPr>
        <p:txBody>
          <a:bodyPr wrap="square" lIns="0" tIns="0" rIns="0" bIns="0" rtlCol="0" anchor="ctr"/>
          <a:lstStyle/>
          <a:p>
            <a:pPr indent="0" marL="0">
              <a:buNone/>
            </a:pPr>
            <a:r>
              <a:rPr lang="en-US" sz="2900" b="1" dirty="0">
                <a:solidFill>
                  <a:srgbClr val="23272C"/>
                </a:solidFill>
                <a:latin typeface="Cambria" pitchFamily="34" charset="0"/>
                <a:ea typeface="Cambria" pitchFamily="34" charset="-122"/>
                <a:cs typeface="Cambria" pitchFamily="34" charset="-120"/>
              </a:rPr>
              <a:t>What production would actually demand</a:t>
            </a:r>
            <a:endParaRPr lang="en-US" sz="2900" dirty="0"/>
          </a:p>
        </p:txBody>
      </p:sp>
      <p:sp>
        <p:nvSpPr>
          <p:cNvPr id="4" name="Shape 2"/>
          <p:cNvSpPr/>
          <p:nvPr/>
        </p:nvSpPr>
        <p:spPr>
          <a:xfrm>
            <a:off x="594360" y="1554480"/>
            <a:ext cx="5486400" cy="3977640"/>
          </a:xfrm>
          <a:prstGeom prst="roundRect">
            <a:avLst>
              <a:gd name="adj" fmla="val 1034"/>
            </a:avLst>
          </a:prstGeom>
          <a:solidFill>
            <a:srgbClr val="FFFFFF"/>
          </a:solidFill>
          <a:ln w="12700">
            <a:solidFill>
              <a:srgbClr val="E3E0DA"/>
            </a:solidFill>
            <a:prstDash val="solid"/>
          </a:ln>
        </p:spPr>
      </p:sp>
      <p:sp>
        <p:nvSpPr>
          <p:cNvPr id="5" name="Text 3"/>
          <p:cNvSpPr/>
          <p:nvPr/>
        </p:nvSpPr>
        <p:spPr>
          <a:xfrm>
            <a:off x="960120" y="1874520"/>
            <a:ext cx="4572000" cy="237744"/>
          </a:xfrm>
          <a:prstGeom prst="rect">
            <a:avLst/>
          </a:prstGeom>
          <a:noFill/>
          <a:ln/>
        </p:spPr>
        <p:txBody>
          <a:bodyPr wrap="square" lIns="0" tIns="0" rIns="0" bIns="0" rtlCol="0" anchor="ctr"/>
          <a:lstStyle/>
          <a:p>
            <a:pPr indent="0" marL="0">
              <a:buNone/>
            </a:pPr>
            <a:r>
              <a:rPr lang="en-US" sz="950" b="1" spc="200" kern="0" dirty="0">
                <a:solidFill>
                  <a:srgbClr val="A8402F"/>
                </a:solidFill>
                <a:latin typeface="Calibri" pitchFamily="34" charset="0"/>
                <a:ea typeface="Calibri" pitchFamily="34" charset="-122"/>
                <a:cs typeface="Calibri" pitchFamily="34" charset="-120"/>
              </a:rPr>
              <a:t>MISSING FOR PRODUCTION</a:t>
            </a:r>
            <a:endParaRPr lang="en-US" sz="950" dirty="0"/>
          </a:p>
        </p:txBody>
      </p:sp>
      <p:sp>
        <p:nvSpPr>
          <p:cNvPr id="6" name="Text 4"/>
          <p:cNvSpPr/>
          <p:nvPr/>
        </p:nvSpPr>
        <p:spPr>
          <a:xfrm>
            <a:off x="960120" y="2240280"/>
            <a:ext cx="48006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A human-in-the-loop review gate before any claim leaves the building</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Observability beyond per-run JSON: tracing, log aggregation, alerting</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Regression evals in CI, so a prompt or model change cannot silently drop acceptance</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State design: give the resolver the attempt history (kills the oscillator)</a:t>
            </a:r>
            <a:endParaRPr lang="en-US" sz="1300" dirty="0"/>
          </a:p>
          <a:p>
            <a:pPr marL="342900" indent="-342900">
              <a:buSzPct val="100000"/>
              <a:buChar char="•"/>
            </a:pPr>
            <a:r>
              <a:rPr lang="en-US" sz="1300" dirty="0">
                <a:solidFill>
                  <a:srgbClr val="23272C"/>
                </a:solidFill>
                <a:latin typeface="Calibri" pitchFamily="34" charset="0"/>
                <a:ea typeface="Calibri" pitchFamily="34" charset="-122"/>
                <a:cs typeface="Calibri" pitchFamily="34" charset="-120"/>
              </a:rPr>
              <a:t>Cost and rate-limit budgets, idempotent retries, versioned prompts</a:t>
            </a:r>
            <a:endParaRPr lang="en-US" sz="1300" dirty="0"/>
          </a:p>
        </p:txBody>
      </p:sp>
      <p:sp>
        <p:nvSpPr>
          <p:cNvPr id="7" name="Shape 5"/>
          <p:cNvSpPr/>
          <p:nvPr/>
        </p:nvSpPr>
        <p:spPr>
          <a:xfrm>
            <a:off x="6400800" y="1554480"/>
            <a:ext cx="5212080" cy="3977640"/>
          </a:xfrm>
          <a:prstGeom prst="roundRect">
            <a:avLst>
              <a:gd name="adj" fmla="val 1034"/>
            </a:avLst>
          </a:prstGeom>
          <a:solidFill>
            <a:srgbClr val="FFFFFF"/>
          </a:solidFill>
          <a:ln w="12700">
            <a:solidFill>
              <a:srgbClr val="E3E0DA"/>
            </a:solidFill>
            <a:prstDash val="solid"/>
          </a:ln>
        </p:spPr>
      </p:sp>
      <p:sp>
        <p:nvSpPr>
          <p:cNvPr id="8" name="Text 6"/>
          <p:cNvSpPr/>
          <p:nvPr/>
        </p:nvSpPr>
        <p:spPr>
          <a:xfrm>
            <a:off x="6766560" y="1874520"/>
            <a:ext cx="4389120" cy="237744"/>
          </a:xfrm>
          <a:prstGeom prst="rect">
            <a:avLst/>
          </a:prstGeom>
          <a:noFill/>
          <a:ln/>
        </p:spPr>
        <p:txBody>
          <a:bodyPr wrap="square" lIns="0" tIns="0" rIns="0" bIns="0" rtlCol="0" anchor="ctr"/>
          <a:lstStyle/>
          <a:p>
            <a:pPr indent="0" marL="0">
              <a:buNone/>
            </a:pPr>
            <a:r>
              <a:rPr lang="en-US" sz="950" b="1" spc="200" kern="0" dirty="0">
                <a:solidFill>
                  <a:srgbClr val="35639C"/>
                </a:solidFill>
                <a:latin typeface="Calibri" pitchFamily="34" charset="0"/>
                <a:ea typeface="Calibri" pitchFamily="34" charset="-122"/>
                <a:cs typeface="Calibri" pitchFamily="34" charset="-120"/>
              </a:rPr>
              <a:t>DOMAIN CONSTRAINTS, BRIEFLY</a:t>
            </a:r>
            <a:endParaRPr lang="en-US" sz="950" dirty="0"/>
          </a:p>
        </p:txBody>
      </p:sp>
      <p:sp>
        <p:nvSpPr>
          <p:cNvPr id="9" name="Text 7"/>
          <p:cNvSpPr/>
          <p:nvPr/>
        </p:nvSpPr>
        <p:spPr>
          <a:xfrm>
            <a:off x="6766560" y="2240280"/>
            <a:ext cx="4480560" cy="2743200"/>
          </a:xfrm>
          <a:prstGeom prst="rect">
            <a:avLst/>
          </a:prstGeom>
          <a:noFill/>
          <a:ln/>
        </p:spPr>
        <p:txBody>
          <a:bodyPr wrap="square" rtlCol="0" anchor="ctr"/>
          <a:lstStyle/>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The full CPT code set is AMA-licensed; this repo carries a tiny paraphrased subset</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Real claims travel as X12 837/835 transactions through clearinghouses</a:t>
            </a:r>
            <a:endParaRPr lang="en-US" sz="1300" dirty="0"/>
          </a:p>
          <a:p>
            <a:pPr marL="342900" indent="-342900">
              <a:spcAft>
                <a:spcPts val="800"/>
              </a:spcAft>
              <a:buSzPct val="100000"/>
              <a:buChar char="•"/>
            </a:pPr>
            <a:r>
              <a:rPr lang="en-US" sz="1300" dirty="0">
                <a:solidFill>
                  <a:srgbClr val="23272C"/>
                </a:solidFill>
                <a:latin typeface="Calibri" pitchFamily="34" charset="0"/>
                <a:ea typeface="Calibri" pitchFamily="34" charset="-122"/>
                <a:cs typeface="Calibri" pitchFamily="34" charset="-120"/>
              </a:rPr>
              <a:t>The moment real patient data enters, PHI compliance dominates the design</a:t>
            </a:r>
            <a:endParaRPr lang="en-US" sz="1300" dirty="0"/>
          </a:p>
          <a:p>
            <a:pPr marL="342900" indent="-342900">
              <a:buSzPct val="100000"/>
              <a:buChar char="•"/>
            </a:pPr>
            <a:r>
              <a:rPr lang="en-US" sz="1300" dirty="0">
                <a:solidFill>
                  <a:srgbClr val="23272C"/>
                </a:solidFill>
                <a:latin typeface="Calibri" pitchFamily="34" charset="0"/>
                <a:ea typeface="Calibri" pitchFamily="34" charset="-122"/>
                <a:cs typeface="Calibri" pitchFamily="34" charset="-120"/>
              </a:rPr>
              <a:t>Payer policy realism needs domain experts; mine is disclosed fiction</a:t>
            </a:r>
            <a:endParaRPr lang="en-US" sz="1300" dirty="0"/>
          </a:p>
        </p:txBody>
      </p:sp>
      <p:sp>
        <p:nvSpPr>
          <p:cNvPr id="10" name="Text 8"/>
          <p:cNvSpPr/>
          <p:nvPr/>
        </p:nvSpPr>
        <p:spPr>
          <a:xfrm>
            <a:off x="594360" y="5806440"/>
            <a:ext cx="11018520" cy="457200"/>
          </a:xfrm>
          <a:prstGeom prst="rect">
            <a:avLst/>
          </a:prstGeom>
          <a:noFill/>
          <a:ln/>
        </p:spPr>
        <p:txBody>
          <a:bodyPr wrap="square" lIns="0" tIns="0" rIns="0" bIns="0" rtlCol="0" anchor="ctr"/>
          <a:lstStyle/>
          <a:p>
            <a:pPr algn="ctr" indent="0" marL="0">
              <a:buNone/>
            </a:pPr>
            <a:r>
              <a:rPr lang="en-US" sz="1700" b="1" dirty="0">
                <a:solidFill>
                  <a:srgbClr val="23272C"/>
                </a:solidFill>
                <a:latin typeface="Cambria" pitchFamily="34" charset="0"/>
                <a:ea typeface="Cambria" pitchFamily="34" charset="-122"/>
                <a:cs typeface="Cambria" pitchFamily="34" charset="-120"/>
              </a:rPr>
              <a:t>The agent stack was the easy half. Productionizing judgment is the work. Thank you.</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Application>Microsoft PowerPoint</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ClaimLoop</dc:title>
  <dc:subject>PptxGenJS Presentation</dc:subject>
  <dc:creator>Abdullah Abdel-Khalek</dc:creator>
  <cp:lastModifiedBy>Abdullah Abdel-Khalek</cp:lastModifiedBy>
  <cp:revision>1</cp:revision>
  <dcterms:created xsi:type="dcterms:W3CDTF">2026-08-01T12:23:42Z</dcterms:created>
  <dcterms:modified xsi:type="dcterms:W3CDTF">2026-08-01T12:23:42Z</dcterms:modified>
</cp:coreProperties>
</file>
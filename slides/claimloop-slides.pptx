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encounters</c:v>
                </c:pt>
              </c:strCache>
            </c:strRef>
          </c:tx>
          <c:spPr>
            <a:solidFill>
              <a:srgbClr val="DC2626"/>
            </a:solidFill>
            <a:effectLst/>
          </c:spPr>
          <c:invertIfNegative val="0"/>
          <c:dLbls>
            <c:numFmt formatCode="#,##0" sourceLinked="0"/>
            <c:txPr>
              <a:bodyPr/>
              <a:lstStyle/>
              <a:p>
                <a:pPr>
                  <a:defRPr b="1" i="0" strike="noStrike" sz="1300" u="none">
                    <a:solidFill>
                      <a:srgbClr val="1F2933"/>
                    </a:solidFill>
                    <a:latin typeface="Arial"/>
                  </a:defRPr>
                </a:pPr>
              </a:p>
            </c:txPr>
            <c:showLegendKey val="0"/>
            <c:showVal val="1"/>
            <c:showCatName val="0"/>
            <c:showSerName val="0"/>
            <c:showPercent val="0"/>
            <c:showBubbleSize val="0"/>
            <c:showLeaderLines val="0"/>
          </c:dLbls>
          <c:dPt>
            <c:idx val="0"/>
            <c:invertIfNegative val="0"/>
            <c:bubble3D val="0"/>
            <c:spPr>
              <a:solidFill>
                <a:srgbClr val="DC2626"/>
              </a:solidFill>
              <a:effectLst/>
            </c:spPr>
          </c:dPt>
          <c:dPt>
            <c:idx val="1"/>
            <c:invertIfNegative val="0"/>
            <c:bubble3D val="0"/>
            <c:spPr>
              <a:solidFill>
                <a:srgbClr val="2563EB"/>
              </a:solidFill>
              <a:effectLst/>
            </c:spPr>
          </c:dPt>
          <c:dPt>
            <c:idx val="2"/>
            <c:invertIfNegative val="0"/>
            <c:bubble3D val="0"/>
            <c:spPr>
              <a:solidFill>
                <a:srgbClr val="16A34A"/>
              </a:solidFill>
              <a:effectLst/>
            </c:spPr>
          </c:dPt>
          <c:cat>
            <c:multiLvlStrRef>
              <c:f>Sheet1!$A$2:$A$4</c:f>
              <c:multiLvlStrCache>
                <c:ptCount val="3"/>
                <c:lvl>
                  <c:pt idx="0">
                    <c:v>still denied or abandoned</c:v>
                  </c:pt>
                  <c:pt idx="1">
                    <c:v>recovered by the loop</c:v>
                  </c:pt>
                  <c:pt idx="2">
                    <c:v>accepted first pass</c:v>
                  </c:pt>
                </c:lvl>
              </c:multiLvlStrCache>
            </c:multiLvlStrRef>
          </c:cat>
          <c:val>
            <c:numRef>
              <c:f>Sheet1!$B$2:$B$4</c:f>
              <c:numCache>
                <c:formatCode>General</c:formatCode>
                <c:ptCount val="3"/>
                <c:pt idx="0">
                  <c:v>2</c:v>
                </c:pt>
                <c:pt idx="1">
                  <c:v>8</c:v>
                </c:pt>
                <c:pt idx="2">
                  <c:v>50</c:v>
                </c:pt>
              </c:numCache>
            </c:numRef>
          </c:val>
        </c:ser>
        <c:dLbls>
          <c:numFmt formatCode="#,##0" sourceLinked="0"/>
          <c:txPr>
            <a:bodyPr/>
            <a:lstStyle/>
            <a:p>
              <a:pPr>
                <a:defRPr b="1" i="0" strike="noStrike" sz="13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55"/>
          <c:min val="0"/>
        </c:scaling>
        <c:delete val="0"/>
        <c:axPos val="b"/>
        <c:majorGridlines>
          <c:spPr>
            <a:ln w="6350" cap="flat">
              <a:solidFill>
                <a:srgbClr val="DEE6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B85"/>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denied on first attempt</c:v>
                </c:pt>
              </c:strCache>
            </c:strRef>
          </c:tx>
          <c:spPr>
            <a:solidFill>
              <a:srgbClr val="D97706"/>
            </a:solidFill>
            <a:effectLst/>
          </c:spPr>
          <c:invertIfNegative val="0"/>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CO-50 necessity</c:v>
                  </c:pt>
                  <c:pt idx="1">
                    <c:v>CO-150 documentation</c:v>
                  </c:pt>
                  <c:pt idx="2">
                    <c:v>CO-197 prior auth</c:v>
                  </c:pt>
                </c:lvl>
              </c:multiLvlStrCache>
            </c:multiLvlStrRef>
          </c:cat>
          <c:val>
            <c:numRef>
              <c:f>Sheet1!$B$2:$B$4</c:f>
              <c:numCache>
                <c:formatCode>General</c:formatCode>
                <c:ptCount val="3"/>
                <c:pt idx="0">
                  <c:v>8</c:v>
                </c:pt>
                <c:pt idx="1">
                  <c:v>2</c:v>
                </c:pt>
                <c:pt idx="2">
                  <c:v>2</c:v>
                </c:pt>
              </c:numCache>
            </c:numRef>
          </c:val>
        </c:ser>
        <c:ser>
          <c:idx val="1"/>
          <c:order val="1"/>
          <c:tx>
            <c:strRef>
              <c:f>Sheet1!$C$1</c:f>
              <c:strCache>
                <c:ptCount val="1"/>
                <c:pt idx="0">
                  <c:v>eventually paid</c:v>
                </c:pt>
              </c:strCache>
            </c:strRef>
          </c:tx>
          <c:spPr>
            <a:solidFill>
              <a:srgbClr val="16A34A"/>
            </a:solidFill>
            <a:effectLst/>
          </c:spPr>
          <c:invertIfNegative val="0"/>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cat>
            <c:multiLvlStrRef>
              <c:f>Sheet1!$A$2:$A$4</c:f>
              <c:multiLvlStrCache>
                <c:ptCount val="3"/>
                <c:lvl>
                  <c:pt idx="0">
                    <c:v>CO-50 necessity</c:v>
                  </c:pt>
                  <c:pt idx="1">
                    <c:v>CO-150 documentation</c:v>
                  </c:pt>
                  <c:pt idx="2">
                    <c:v>CO-197 prior auth</c:v>
                  </c:pt>
                </c:lvl>
              </c:multiLvlStrCache>
            </c:multiLvlStrRef>
          </c:cat>
          <c:val>
            <c:numRef>
              <c:f>Sheet1!$C$2:$C$4</c:f>
              <c:numCache>
                <c:formatCode>General</c:formatCode>
                <c:ptCount val="3"/>
                <c:pt idx="0">
                  <c:v>6</c:v>
                </c:pt>
                <c:pt idx="1">
                  <c:v>2</c:v>
                </c:pt>
                <c:pt idx="2">
                  <c:v>2</c:v>
                </c:pt>
              </c:numCache>
            </c:numRef>
          </c:val>
        </c:ser>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9"/>
        </c:scaling>
        <c:delete val="0"/>
        <c:axPos val="l"/>
        <c:majorGridlines>
          <c:spPr>
            <a:ln w="6350" cap="flat">
              <a:solidFill>
                <a:srgbClr val="DEE6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gpt-5.6-luna (budget)</c:v>
                </c:pt>
              </c:strCache>
            </c:strRef>
          </c:tx>
          <c:spPr>
            <a:solidFill>
              <a:srgbClr val="2563EB"/>
            </a:solidFill>
            <a:effectLst/>
          </c:spPr>
          <c:invertIfNegative val="0"/>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cat>
            <c:multiLvlStrRef>
              <c:f>Sheet1!$A$2:$A$3</c:f>
              <c:multiLvlStrCache>
                <c:ptCount val="2"/>
                <c:lvl>
                  <c:pt idx="0">
                    <c:v>first pass</c:v>
                  </c:pt>
                  <c:pt idx="1">
                    <c:v>final</c:v>
                  </c:pt>
                </c:lvl>
              </c:multiLvlStrCache>
            </c:multiLvlStrRef>
          </c:cat>
          <c:val>
            <c:numRef>
              <c:f>Sheet1!$B$2:$B$3</c:f>
              <c:numCache>
                <c:formatCode>General</c:formatCode>
                <c:ptCount val="2"/>
                <c:pt idx="0">
                  <c:v>0.95</c:v>
                </c:pt>
                <c:pt idx="1">
                  <c:v>1</c:v>
                </c:pt>
              </c:numCache>
            </c:numRef>
          </c:val>
        </c:ser>
        <c:ser>
          <c:idx val="1"/>
          <c:order val="1"/>
          <c:tx>
            <c:strRef>
              <c:f>Sheet1!$C$1</c:f>
              <c:strCache>
                <c:ptCount val="1"/>
                <c:pt idx="0">
                  <c:v>gpt-5.6-terra (balanced)</c:v>
                </c:pt>
              </c:strCache>
            </c:strRef>
          </c:tx>
          <c:spPr>
            <a:solidFill>
              <a:srgbClr val="7C3AED"/>
            </a:solidFill>
            <a:effectLst/>
          </c:spPr>
          <c:invertIfNegative val="0"/>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cat>
            <c:multiLvlStrRef>
              <c:f>Sheet1!$A$2:$A$3</c:f>
              <c:multiLvlStrCache>
                <c:ptCount val="2"/>
                <c:lvl>
                  <c:pt idx="0">
                    <c:v>first pass</c:v>
                  </c:pt>
                  <c:pt idx="1">
                    <c:v>final</c:v>
                  </c:pt>
                </c:lvl>
              </c:multiLvlStrCache>
            </c:multiLvlStrRef>
          </c:cat>
          <c:val>
            <c:numRef>
              <c:f>Sheet1!$C$2:$C$3</c:f>
              <c:numCache>
                <c:formatCode>General</c:formatCode>
                <c:ptCount val="2"/>
                <c:pt idx="0">
                  <c:v>0.95</c:v>
                </c:pt>
                <c:pt idx="1">
                  <c:v>1</c:v>
                </c:pt>
              </c:numCache>
            </c:numRef>
          </c:val>
        </c:ser>
        <c:dLbls>
          <c:numFmt formatCode="0%" sourceLinked="0"/>
          <c:txPr>
            <a:bodyPr/>
            <a:lstStyle/>
            <a:p>
              <a:pPr>
                <a:defRPr b="1" i="0" strike="noStrike" sz="1200" u="none">
                  <a:solidFill>
                    <a:srgbClr val="1F2933"/>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2933"/>
                </a:solidFill>
                <a:latin typeface="Calibri"/>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DEE6F2"/>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5"/>
                </a:solidFill>
                <a:latin typeface="Calibri"/>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F2933"/>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Abdullah Abdel-Khalek, and this is my high-risk project: ClaimLoop. I am an applied AI engineer, and my background is automation, not healthcare. For this project I built something I kept hearing about from people who work in healthcare operations: the medical claims grind. ClaimLoop is an end-to-end pipeline where LLM agents take a doctor-patient conversation, write the visit note, assign the billing codes, build a claim, submit it to a simulated insurance payer, and then, this is the interesting part, fight back when the claim gets denied. The question in the subtitle is genuine. I did not know if the agents would survive the denial loop, and the assignment rewards exactly that kind of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claims? Because between the exam room and the clinic being paid there is a chain of translation. A conversation becomes a note, a note becomes diagnosis and procedure codes, the codes become a claim, and when the payer rejects the claim, a human reads cryptic denial codes and argues back through resubmissions and letters. People I know in the industry told me the same thing over and over: the expensive part is not the coding, it is the arguing. This chain is repetitive, rule-bound, and text-heavy, which is exactly the shape of work my automation background applies to. So the project automates the full chain, and, more importantly, measures where it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literature say? A benchmark in NEJM AI asked GPT-4 and friends to produce medical codes from memory, and the results were bad: GPT-4 got only 34 percent of ICD-10 codes exactly right, and no model cleared fifty percent. Follow-up work showed the fix: stop asking models to recall codes, give them the real code table as a tool and let them verify. My design takes that lesson literally, every diagnosis code in my pipeline must be confirmed against the National Library of Medicine's public ICD-10 API before it is allowed on a claim. But here is the gap: everything published stops at coding accuracy. In the real workflow, the money is decided after the denial, and nobody measures whether agents can recover there. That is the corner I aimed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bet that makes this a high-risk project rather than a demo. Real payers are black boxes, so if I tested against one, I could never tell whether my agents failed or the payer was just opaque. Instead I built the payer myself as a deterministic rules engine. That gives me three properties researchers rarely get in this space. First, transparent ground truth: the same claim always gets the same verdict. Second, structured feedback: my payer denies with real, public CARC and RARC reason codes, the exact vocabulary human billing teams read. Third, a binary outcome: paid or not paid, no subjective judging of the agent's prose. With those three properties, denial recovery stops being an anecdote and becomes a measurable rate per denial category. And if the agents fail, the failure itself is a publishable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deliberately small. Five stages. Three of them are LLM agents, shown in blue: a scribe that turns the transcript into a structured visit note, a coder that assigns diagnosis and procedure codes, and a denial resolver that reads rejections and decides how to fight back. Two stages are ordinary code: the claim builder that assembles a FHIR-shaped claim, and the payer itself. The agents run on the OpenAI Agents SDK over the Responses API, and the orchestration is a plain Python loop you can read top to bottom, because the workflow order never changes. Agents are used only where language understanding actually lives. When the payer denies, the claim routes to the resolver, which can fix and resubmit, request prior authorization through a portal tool, write an appeal letter, or abandon. Three submissions maximum.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Meet the adversary. The payer enforces seven rules, and each denial uses the real public reason codes maintained by X12. It checks completeness, whether every diagnosis code actually exists, whether procedures are on the fee schedule, whether the linked diagnosis justifies each procedure, whether prior authorization is on file for imaging, whether the documentation supports a high-level visit, and it rejects unchanged resubmissions as duplicates, which blocks the lazy strategy of just retrying. Two design notes. Appeals are not rubber-stamped: the payer re-reviews the full documented diagnosis list, which models a human reviewer reading the whole record. And the necessity policy is illustrative fiction, disclosed as exactly that. It is the test environment, not training data, and the input encounters are a real public benchmark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this is an AI-first project, I wanted the process itself to be visible, the way you watch a coding agent work in a terminal. The frontend is a live agent console. On the left, the pipeline stages light up as they run. In the middle, you watch the model's raw output stream token by token, and you see every tool call the moment it happens: here the coder searching the official ICD-10 table to verify a knee-pain code, and the resolver calling the payer's authorization portal and getting an approval number back. On the right, the claim artifacts assemble themselves: the note, the code tables, the claim JSON, and the payer's verdict stamped with its reason codes. At this point in the video I will switch to the live application and run one encounter end to end so you can see the denial loop recover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results. I ran the full pipeline over sixty encounters from ACI-Bench, a public benchmark of simulated doctor-patient conversations written with clinician input. Every encounter completed. Fifty of the sixty claims, 83.3 percent, were accepted on the very first submission. Ten came back denied, and this is where the loop earns its name: the resolver recovered eight of those ten, lifting final acceptance to 96.7 percent, 58 paid claims out of 60, with an average of just 1.17 submissions per encounter. The two that stayed unpaid are actually my favorite result, and I will come back to them in a moment. The whole sixty-encounter study took about half an hour of wall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denials can agents actually fix? It depends sharply on the category. Prior authorization denials were fully automated away: the resolver recognized the reason code, called the payer's authorization portal as a tool, got an approval number, attached it to the service line, and resubmitted. Two out of two, no human needed. Documentation-level denials for high-intensity visits were also both fixed, once by adding a diagnosis that was documented in the note but dropped by the coder, and once by honestly downcoding the visit. Never upcoding, that is forbidden by instruction. Medical necessity was the hard category, six of eight recovered. Two of those recoveries were written appeals, where the agent argued from the documentation and the payer's review overturned the denial both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also asked a question every applied team asks: do I need the expensive model? I ran two configurations: a budget profile with gpt-5.6-luna everywhere, OpenAI's cheapest current tier, and a balanced profile that upgrades the coder and resolver to terra, which costs about ten times more per token. On the twenty encounters both tiers ran, the outcomes were identical: nineteen of twenty first pass, twenty of twenty final. The budget tier costs about four tenths of a cent per encounter. The entire study, sixty encounters end to end, cost twenty-three cents. The honest conclusion for this workflow: with structured outputs, tool-verified codes, and a rules-based adversary giving structured feedback, the scaffolding earned far more than the model upgrade. That is a very practical finding for anyone building in this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unpaid claims taught me more than the 58 paid ones. First, the oscillator. A urinalysis was denied for medical necessity. The resolver repointed it to a different documented diagnosis. Denied again. So it pointed back to the first one, which recreated the original claim exactly, and the payer rejected it as a duplicate. The agent was not being stupid, the architecture was: each resolution sees only the current denial, never what was already tried. No bigger model fixes that. Memory across attempts does, and that is my top future-work item. Second, the refusal. An A1c lab billed against type 1 diabetes, which my illustrative policy simply does not cover. The resolver checked the documentation, found no legitimate fix, and abandoned the line rather than invent a diagnosis. That is the anti-fraud guardrail working exactly as instructed. And because the payer is deterministic, I can separate cleanly what was a gap in my policy from what was a flaw in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what this is not, because the boundaries are part of the work. The payer is a simulation with a small rule set, and the CPT procedure codes in the repo are a tiny paraphrased subset because the full set is copyrighted by the American Medical Association. I cannot claim clinical coding correctness without certified coders, and I say so in the report. And there is deliberately no real patient data anywhere in this project, which is why it can be fully open source. If I kept building: first, give the resolver memory of what it already tried, which directly kills the oscillation failure. Then a human review queue, real X12 claim transactions, and a richer payer policy. I came into this project from the automation side of AI, and the healthcare-specific constraints, licensing, data rules, policy realism, turned out to be half the engineering. That was the point of picking a high-risk project.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A30"/>
        </a:solidFill>
      </p:bgPr>
    </p:bg>
    <p:spTree>
      <p:nvGrpSpPr>
        <p:cNvPr id="1" name=""/>
        <p:cNvGrpSpPr/>
        <p:nvPr/>
      </p:nvGrpSpPr>
      <p:grpSpPr>
        <a:xfrm>
          <a:off x="0" y="0"/>
          <a:ext cx="0" cy="0"/>
          <a:chOff x="0" y="0"/>
          <a:chExt cx="0" cy="0"/>
        </a:xfrm>
      </p:grpSpPr>
      <p:sp>
        <p:nvSpPr>
          <p:cNvPr id="2" name="Text 0"/>
          <p:cNvSpPr/>
          <p:nvPr/>
        </p:nvSpPr>
        <p:spPr>
          <a:xfrm>
            <a:off x="822960" y="1417320"/>
            <a:ext cx="10515600" cy="1371600"/>
          </a:xfrm>
          <a:prstGeom prst="rect">
            <a:avLst/>
          </a:prstGeom>
          <a:noFill/>
          <a:ln/>
        </p:spPr>
        <p:txBody>
          <a:bodyPr wrap="square" lIns="0" tIns="0" rIns="0" bIns="0" rtlCol="0" anchor="ctr"/>
          <a:lstStyle/>
          <a:p>
            <a:pPr indent="0" marL="0">
              <a:buNone/>
            </a:pPr>
            <a:r>
              <a:rPr lang="en-US" sz="7200" b="1" dirty="0">
                <a:solidFill>
                  <a:srgbClr val="FFFFFF"/>
                </a:solidFill>
                <a:latin typeface="Arial" pitchFamily="34" charset="0"/>
                <a:ea typeface="Arial" pitchFamily="34" charset="-122"/>
                <a:cs typeface="Arial" pitchFamily="34" charset="-120"/>
              </a:rPr>
              <a:t>ClaimLoop</a:t>
            </a:r>
            <a:endParaRPr lang="en-US" sz="7200" dirty="0"/>
          </a:p>
        </p:txBody>
      </p:sp>
      <p:sp>
        <p:nvSpPr>
          <p:cNvPr id="3" name="Text 1"/>
          <p:cNvSpPr/>
          <p:nvPr/>
        </p:nvSpPr>
        <p:spPr>
          <a:xfrm>
            <a:off x="841248" y="2743200"/>
            <a:ext cx="10515600" cy="640080"/>
          </a:xfrm>
          <a:prstGeom prst="rect">
            <a:avLst/>
          </a:prstGeom>
          <a:noFill/>
          <a:ln/>
        </p:spPr>
        <p:txBody>
          <a:bodyPr wrap="square" lIns="0" tIns="0" rIns="0" bIns="0" rtlCol="0" anchor="ctr"/>
          <a:lstStyle/>
          <a:p>
            <a:pPr indent="0" marL="0">
              <a:buNone/>
            </a:pPr>
            <a:r>
              <a:rPr lang="en-US" sz="2400" dirty="0">
                <a:solidFill>
                  <a:srgbClr val="9DB0D0"/>
                </a:solidFill>
                <a:latin typeface="Calibri" pitchFamily="34" charset="0"/>
                <a:ea typeface="Calibri" pitchFamily="34" charset="-122"/>
                <a:cs typeface="Calibri" pitchFamily="34" charset="-120"/>
              </a:rPr>
              <a:t>Can LLM agents survive the medical claims denial loop?</a:t>
            </a:r>
            <a:endParaRPr lang="en-US" sz="2400" dirty="0"/>
          </a:p>
        </p:txBody>
      </p:sp>
      <p:sp>
        <p:nvSpPr>
          <p:cNvPr id="4" name="Text 2"/>
          <p:cNvSpPr/>
          <p:nvPr/>
        </p:nvSpPr>
        <p:spPr>
          <a:xfrm>
            <a:off x="841248" y="3703320"/>
            <a:ext cx="1316736" cy="365760"/>
          </a:xfrm>
          <a:prstGeom prst="roundRect">
            <a:avLst>
              <a:gd name="adj" fmla="val 22500"/>
            </a:avLst>
          </a:prstGeom>
          <a:solidFill>
            <a:srgbClr val="1A2545"/>
          </a:solidFill>
          <a:ln w="9525">
            <a:solidFill>
              <a:srgbClr val="9DB0D0"/>
            </a:solidFill>
          </a:ln>
        </p:spPr>
        <p:txBody>
          <a:bodyPr wrap="square" lIns="0" tIns="0" rIns="0" bIns="0" rtlCol="0" anchor="ctr"/>
          <a:lstStyle/>
          <a:p>
            <a:pPr algn="ctr" indent="0" marL="0">
              <a:buNone/>
            </a:pPr>
            <a:r>
              <a:rPr lang="en-US" sz="1200" b="1" dirty="0">
                <a:solidFill>
                  <a:srgbClr val="9DB0D0"/>
                </a:solidFill>
                <a:latin typeface="Courier New" pitchFamily="34" charset="0"/>
                <a:ea typeface="Courier New" pitchFamily="34" charset="-122"/>
                <a:cs typeface="Courier New" pitchFamily="34" charset="-120"/>
              </a:rPr>
              <a:t>Transcript</a:t>
            </a:r>
            <a:endParaRPr lang="en-US" sz="1200" dirty="0"/>
          </a:p>
        </p:txBody>
      </p:sp>
      <p:sp>
        <p:nvSpPr>
          <p:cNvPr id="5" name="Text 3"/>
          <p:cNvSpPr/>
          <p:nvPr/>
        </p:nvSpPr>
        <p:spPr>
          <a:xfrm>
            <a:off x="2212848"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6" name="Text 4"/>
          <p:cNvSpPr/>
          <p:nvPr/>
        </p:nvSpPr>
        <p:spPr>
          <a:xfrm>
            <a:off x="2450592" y="3703320"/>
            <a:ext cx="866851" cy="365760"/>
          </a:xfrm>
          <a:prstGeom prst="roundRect">
            <a:avLst>
              <a:gd name="adj" fmla="val 22500"/>
            </a:avLst>
          </a:prstGeom>
          <a:solidFill>
            <a:srgbClr val="1A2545"/>
          </a:solidFill>
          <a:ln w="9525">
            <a:solidFill>
              <a:srgbClr val="9DB0D0"/>
            </a:solidFill>
          </a:ln>
        </p:spPr>
        <p:txBody>
          <a:bodyPr wrap="square" lIns="0" tIns="0" rIns="0" bIns="0" rtlCol="0" anchor="ctr"/>
          <a:lstStyle/>
          <a:p>
            <a:pPr algn="ctr" indent="0" marL="0">
              <a:buNone/>
            </a:pPr>
            <a:r>
              <a:rPr lang="en-US" sz="1200" b="1" dirty="0">
                <a:solidFill>
                  <a:srgbClr val="9DB0D0"/>
                </a:solidFill>
                <a:latin typeface="Courier New" pitchFamily="34" charset="0"/>
                <a:ea typeface="Courier New" pitchFamily="34" charset="-122"/>
                <a:cs typeface="Courier New" pitchFamily="34" charset="-120"/>
              </a:rPr>
              <a:t>Note</a:t>
            </a:r>
            <a:endParaRPr lang="en-US" sz="1200" dirty="0"/>
          </a:p>
        </p:txBody>
      </p:sp>
      <p:sp>
        <p:nvSpPr>
          <p:cNvPr id="7" name="Text 5"/>
          <p:cNvSpPr/>
          <p:nvPr/>
        </p:nvSpPr>
        <p:spPr>
          <a:xfrm>
            <a:off x="3372307"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8" name="Text 6"/>
          <p:cNvSpPr/>
          <p:nvPr/>
        </p:nvSpPr>
        <p:spPr>
          <a:xfrm>
            <a:off x="3610051" y="3703320"/>
            <a:ext cx="941832" cy="365760"/>
          </a:xfrm>
          <a:prstGeom prst="roundRect">
            <a:avLst>
              <a:gd name="adj" fmla="val 22500"/>
            </a:avLst>
          </a:prstGeom>
          <a:solidFill>
            <a:srgbClr val="1A2545"/>
          </a:solidFill>
          <a:ln w="9525">
            <a:solidFill>
              <a:srgbClr val="9DB0D0"/>
            </a:solidFill>
          </a:ln>
        </p:spPr>
        <p:txBody>
          <a:bodyPr wrap="square" lIns="0" tIns="0" rIns="0" bIns="0" rtlCol="0" anchor="ctr"/>
          <a:lstStyle/>
          <a:p>
            <a:pPr algn="ctr" indent="0" marL="0">
              <a:buNone/>
            </a:pPr>
            <a:r>
              <a:rPr lang="en-US" sz="1200" b="1" dirty="0">
                <a:solidFill>
                  <a:srgbClr val="9DB0D0"/>
                </a:solidFill>
                <a:latin typeface="Courier New" pitchFamily="34" charset="0"/>
                <a:ea typeface="Courier New" pitchFamily="34" charset="-122"/>
                <a:cs typeface="Courier New" pitchFamily="34" charset="-120"/>
              </a:rPr>
              <a:t>Codes</a:t>
            </a:r>
            <a:endParaRPr lang="en-US" sz="1200" dirty="0"/>
          </a:p>
        </p:txBody>
      </p:sp>
      <p:sp>
        <p:nvSpPr>
          <p:cNvPr id="9" name="Text 7"/>
          <p:cNvSpPr/>
          <p:nvPr/>
        </p:nvSpPr>
        <p:spPr>
          <a:xfrm>
            <a:off x="4606747"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10" name="Text 8"/>
          <p:cNvSpPr/>
          <p:nvPr/>
        </p:nvSpPr>
        <p:spPr>
          <a:xfrm>
            <a:off x="4844491" y="3703320"/>
            <a:ext cx="941832" cy="365760"/>
          </a:xfrm>
          <a:prstGeom prst="roundRect">
            <a:avLst>
              <a:gd name="adj" fmla="val 22500"/>
            </a:avLst>
          </a:prstGeom>
          <a:solidFill>
            <a:srgbClr val="1A2545"/>
          </a:solidFill>
          <a:ln w="9525">
            <a:solidFill>
              <a:srgbClr val="9DB0D0"/>
            </a:solidFill>
          </a:ln>
        </p:spPr>
        <p:txBody>
          <a:bodyPr wrap="square" lIns="0" tIns="0" rIns="0" bIns="0" rtlCol="0" anchor="ctr"/>
          <a:lstStyle/>
          <a:p>
            <a:pPr algn="ctr" indent="0" marL="0">
              <a:buNone/>
            </a:pPr>
            <a:r>
              <a:rPr lang="en-US" sz="1200" b="1" dirty="0">
                <a:solidFill>
                  <a:srgbClr val="9DB0D0"/>
                </a:solidFill>
                <a:latin typeface="Courier New" pitchFamily="34" charset="0"/>
                <a:ea typeface="Courier New" pitchFamily="34" charset="-122"/>
                <a:cs typeface="Courier New" pitchFamily="34" charset="-120"/>
              </a:rPr>
              <a:t>Claim</a:t>
            </a:r>
            <a:endParaRPr lang="en-US" sz="1200" dirty="0"/>
          </a:p>
        </p:txBody>
      </p:sp>
      <p:sp>
        <p:nvSpPr>
          <p:cNvPr id="11" name="Text 9"/>
          <p:cNvSpPr/>
          <p:nvPr/>
        </p:nvSpPr>
        <p:spPr>
          <a:xfrm>
            <a:off x="5841187"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12" name="Text 10"/>
          <p:cNvSpPr/>
          <p:nvPr/>
        </p:nvSpPr>
        <p:spPr>
          <a:xfrm>
            <a:off x="6078931" y="3703320"/>
            <a:ext cx="941832" cy="365760"/>
          </a:xfrm>
          <a:prstGeom prst="roundRect">
            <a:avLst>
              <a:gd name="adj" fmla="val 22500"/>
            </a:avLst>
          </a:prstGeom>
          <a:solidFill>
            <a:srgbClr val="1A2545"/>
          </a:solidFill>
          <a:ln w="9525">
            <a:solidFill>
              <a:srgbClr val="DC2626"/>
            </a:solidFill>
          </a:ln>
        </p:spPr>
        <p:txBody>
          <a:bodyPr wrap="square" lIns="0" tIns="0" rIns="0" bIns="0" rtlCol="0" anchor="ctr"/>
          <a:lstStyle/>
          <a:p>
            <a:pPr algn="ctr" indent="0" marL="0">
              <a:buNone/>
            </a:pPr>
            <a:r>
              <a:rPr lang="en-US" sz="1200" b="1" dirty="0">
                <a:solidFill>
                  <a:srgbClr val="DC2626"/>
                </a:solidFill>
                <a:latin typeface="Courier New" pitchFamily="34" charset="0"/>
                <a:ea typeface="Courier New" pitchFamily="34" charset="-122"/>
                <a:cs typeface="Courier New" pitchFamily="34" charset="-120"/>
              </a:rPr>
              <a:t>CO-50</a:t>
            </a:r>
            <a:endParaRPr lang="en-US" sz="1200" dirty="0"/>
          </a:p>
        </p:txBody>
      </p:sp>
      <p:sp>
        <p:nvSpPr>
          <p:cNvPr id="13" name="Text 11"/>
          <p:cNvSpPr/>
          <p:nvPr/>
        </p:nvSpPr>
        <p:spPr>
          <a:xfrm>
            <a:off x="7075627"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14" name="Text 12"/>
          <p:cNvSpPr/>
          <p:nvPr/>
        </p:nvSpPr>
        <p:spPr>
          <a:xfrm>
            <a:off x="7313371" y="3703320"/>
            <a:ext cx="1016813" cy="365760"/>
          </a:xfrm>
          <a:prstGeom prst="roundRect">
            <a:avLst>
              <a:gd name="adj" fmla="val 22500"/>
            </a:avLst>
          </a:prstGeom>
          <a:solidFill>
            <a:srgbClr val="1A2545"/>
          </a:solidFill>
          <a:ln w="9525">
            <a:solidFill>
              <a:srgbClr val="D97706"/>
            </a:solidFill>
          </a:ln>
        </p:spPr>
        <p:txBody>
          <a:bodyPr wrap="square" lIns="0" tIns="0" rIns="0" bIns="0" rtlCol="0" anchor="ctr"/>
          <a:lstStyle/>
          <a:p>
            <a:pPr algn="ctr" indent="0" marL="0">
              <a:buNone/>
            </a:pPr>
            <a:r>
              <a:rPr lang="en-US" sz="1200" b="1" dirty="0">
                <a:solidFill>
                  <a:srgbClr val="D97706"/>
                </a:solidFill>
                <a:latin typeface="Courier New" pitchFamily="34" charset="0"/>
                <a:ea typeface="Courier New" pitchFamily="34" charset="-122"/>
                <a:cs typeface="Courier New" pitchFamily="34" charset="-120"/>
              </a:rPr>
              <a:t>Appeal</a:t>
            </a:r>
            <a:endParaRPr lang="en-US" sz="1200" dirty="0"/>
          </a:p>
        </p:txBody>
      </p:sp>
      <p:sp>
        <p:nvSpPr>
          <p:cNvPr id="15" name="Text 13"/>
          <p:cNvSpPr/>
          <p:nvPr/>
        </p:nvSpPr>
        <p:spPr>
          <a:xfrm>
            <a:off x="8385048" y="3703320"/>
            <a:ext cx="219456" cy="365760"/>
          </a:xfrm>
          <a:prstGeom prst="rect">
            <a:avLst/>
          </a:prstGeom>
          <a:noFill/>
          <a:ln/>
        </p:spPr>
        <p:txBody>
          <a:bodyPr wrap="square" lIns="0" tIns="0" rIns="0" bIns="0" rtlCol="0" anchor="ctr"/>
          <a:lstStyle/>
          <a:p>
            <a:pPr algn="ctr" indent="0" marL="0">
              <a:buNone/>
            </a:pPr>
            <a:r>
              <a:rPr lang="en-US" sz="1300" b="1" dirty="0">
                <a:solidFill>
                  <a:srgbClr val="3D4E77"/>
                </a:solidFill>
                <a:latin typeface="Courier New" pitchFamily="34" charset="0"/>
                <a:ea typeface="Courier New" pitchFamily="34" charset="-122"/>
                <a:cs typeface="Courier New" pitchFamily="34" charset="-120"/>
              </a:rPr>
              <a:t>&gt;</a:t>
            </a:r>
            <a:endParaRPr lang="en-US" sz="1300" dirty="0"/>
          </a:p>
        </p:txBody>
      </p:sp>
      <p:sp>
        <p:nvSpPr>
          <p:cNvPr id="16" name="Text 14"/>
          <p:cNvSpPr/>
          <p:nvPr/>
        </p:nvSpPr>
        <p:spPr>
          <a:xfrm>
            <a:off x="8622792" y="3703320"/>
            <a:ext cx="866851" cy="365760"/>
          </a:xfrm>
          <a:prstGeom prst="roundRect">
            <a:avLst>
              <a:gd name="adj" fmla="val 22500"/>
            </a:avLst>
          </a:prstGeom>
          <a:solidFill>
            <a:srgbClr val="1A2545"/>
          </a:solidFill>
          <a:ln w="9525">
            <a:solidFill>
              <a:srgbClr val="16A34A"/>
            </a:solidFill>
          </a:ln>
        </p:spPr>
        <p:txBody>
          <a:bodyPr wrap="square" lIns="0" tIns="0" rIns="0" bIns="0" rtlCol="0" anchor="ctr"/>
          <a:lstStyle/>
          <a:p>
            <a:pPr algn="ctr" indent="0" marL="0">
              <a:buNone/>
            </a:pPr>
            <a:r>
              <a:rPr lang="en-US" sz="1200" b="1" dirty="0">
                <a:solidFill>
                  <a:srgbClr val="16A34A"/>
                </a:solidFill>
                <a:latin typeface="Courier New" pitchFamily="34" charset="0"/>
                <a:ea typeface="Courier New" pitchFamily="34" charset="-122"/>
                <a:cs typeface="Courier New" pitchFamily="34" charset="-120"/>
              </a:rPr>
              <a:t>PAID</a:t>
            </a:r>
            <a:endParaRPr lang="en-US" sz="1200" dirty="0"/>
          </a:p>
        </p:txBody>
      </p:sp>
      <p:sp>
        <p:nvSpPr>
          <p:cNvPr id="17" name="Text 15"/>
          <p:cNvSpPr/>
          <p:nvPr/>
        </p:nvSpPr>
        <p:spPr>
          <a:xfrm>
            <a:off x="841248" y="5989320"/>
            <a:ext cx="10515600" cy="365760"/>
          </a:xfrm>
          <a:prstGeom prst="rect">
            <a:avLst/>
          </a:prstGeom>
          <a:noFill/>
          <a:ln/>
        </p:spPr>
        <p:txBody>
          <a:bodyPr wrap="square" lIns="0" tIns="0" rIns="0" bIns="0" rtlCol="0" anchor="ctr"/>
          <a:lstStyle/>
          <a:p>
            <a:pPr indent="0" marL="0">
              <a:buNone/>
            </a:pPr>
            <a:r>
              <a:rPr lang="en-US" sz="1300" dirty="0">
                <a:solidFill>
                  <a:srgbClr val="7186B3"/>
                </a:solidFill>
                <a:latin typeface="Calibri" pitchFamily="34" charset="0"/>
                <a:ea typeface="Calibri" pitchFamily="34" charset="-122"/>
                <a:cs typeface="Calibri" pitchFamily="34" charset="-120"/>
              </a:rPr>
              <a:t>Abdullah Abdel-Khalek    |    AI in Healthcare, The University of Texas at Austin    |    High-Risk Project, August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The most automatable pain in healthcare is not clinical</a:t>
            </a:r>
            <a:endParaRPr lang="en-US" sz="3000" dirty="0"/>
          </a:p>
        </p:txBody>
      </p:sp>
      <p:sp>
        <p:nvSpPr>
          <p:cNvPr id="3" name="Shape 1"/>
          <p:cNvSpPr/>
          <p:nvPr/>
        </p:nvSpPr>
        <p:spPr>
          <a:xfrm>
            <a:off x="594360" y="1371600"/>
            <a:ext cx="475488" cy="475488"/>
          </a:xfrm>
          <a:prstGeom prst="ellipse">
            <a:avLst/>
          </a:prstGeom>
          <a:solidFill>
            <a:srgbClr val="2563EB"/>
          </a:solidFill>
          <a:ln/>
        </p:spPr>
      </p:sp>
      <p:pic>
        <p:nvPicPr>
          <p:cNvPr id="4" name="Image 0" descr="preencoded.png">    </p:cNvPr>
          <p:cNvPicPr>
            <a:picLocks noChangeAspect="1"/>
          </p:cNvPicPr>
          <p:nvPr/>
        </p:nvPicPr>
        <p:blipFill>
          <a:blip r:embed="rId1"/>
          <a:stretch>
            <a:fillRect/>
          </a:stretch>
        </p:blipFill>
        <p:spPr>
          <a:xfrm>
            <a:off x="717987" y="1495227"/>
            <a:ext cx="228234" cy="228234"/>
          </a:xfrm>
          <a:prstGeom prst="rect">
            <a:avLst/>
          </a:prstGeom>
        </p:spPr>
      </p:pic>
      <p:sp>
        <p:nvSpPr>
          <p:cNvPr id="5" name="Text 2"/>
          <p:cNvSpPr/>
          <p:nvPr/>
        </p:nvSpPr>
        <p:spPr>
          <a:xfrm>
            <a:off x="1280160" y="1316736"/>
            <a:ext cx="5120640" cy="36576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A conversation happens</a:t>
            </a:r>
            <a:endParaRPr lang="en-US" sz="1700" dirty="0"/>
          </a:p>
        </p:txBody>
      </p:sp>
      <p:sp>
        <p:nvSpPr>
          <p:cNvPr id="6" name="Text 3"/>
          <p:cNvSpPr/>
          <p:nvPr/>
        </p:nvSpPr>
        <p:spPr>
          <a:xfrm>
            <a:off x="1280160" y="1664208"/>
            <a:ext cx="5120640" cy="32004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fifteen minutes of unstructured dialogue</a:t>
            </a:r>
            <a:endParaRPr lang="en-US" sz="1300" dirty="0"/>
          </a:p>
        </p:txBody>
      </p:sp>
      <p:sp>
        <p:nvSpPr>
          <p:cNvPr id="7" name="Shape 4"/>
          <p:cNvSpPr/>
          <p:nvPr/>
        </p:nvSpPr>
        <p:spPr>
          <a:xfrm>
            <a:off x="594360" y="2542032"/>
            <a:ext cx="475488" cy="475488"/>
          </a:xfrm>
          <a:prstGeom prst="ellipse">
            <a:avLst/>
          </a:prstGeom>
          <a:solidFill>
            <a:srgbClr val="2563EB"/>
          </a:solidFill>
          <a:ln/>
        </p:spPr>
      </p:sp>
      <p:pic>
        <p:nvPicPr>
          <p:cNvPr id="8" name="Image 1" descr="preencoded.png">    </p:cNvPr>
          <p:cNvPicPr>
            <a:picLocks noChangeAspect="1"/>
          </p:cNvPicPr>
          <p:nvPr/>
        </p:nvPicPr>
        <p:blipFill>
          <a:blip r:embed="rId2"/>
          <a:stretch>
            <a:fillRect/>
          </a:stretch>
        </p:blipFill>
        <p:spPr>
          <a:xfrm>
            <a:off x="717987" y="2665659"/>
            <a:ext cx="228234" cy="228234"/>
          </a:xfrm>
          <a:prstGeom prst="rect">
            <a:avLst/>
          </a:prstGeom>
        </p:spPr>
      </p:pic>
      <p:sp>
        <p:nvSpPr>
          <p:cNvPr id="9" name="Text 5"/>
          <p:cNvSpPr/>
          <p:nvPr/>
        </p:nvSpPr>
        <p:spPr>
          <a:xfrm>
            <a:off x="1280160" y="2487168"/>
            <a:ext cx="5120640" cy="36576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Someone documents it</a:t>
            </a:r>
            <a:endParaRPr lang="en-US" sz="1700" dirty="0"/>
          </a:p>
        </p:txBody>
      </p:sp>
      <p:sp>
        <p:nvSpPr>
          <p:cNvPr id="10" name="Text 6"/>
          <p:cNvSpPr/>
          <p:nvPr/>
        </p:nvSpPr>
        <p:spPr>
          <a:xfrm>
            <a:off x="1280160" y="2834640"/>
            <a:ext cx="5120640" cy="32004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a structured note in clinical vocabulary</a:t>
            </a:r>
            <a:endParaRPr lang="en-US" sz="1300" dirty="0"/>
          </a:p>
        </p:txBody>
      </p:sp>
      <p:sp>
        <p:nvSpPr>
          <p:cNvPr id="11" name="Shape 7"/>
          <p:cNvSpPr/>
          <p:nvPr/>
        </p:nvSpPr>
        <p:spPr>
          <a:xfrm>
            <a:off x="594360" y="3712464"/>
            <a:ext cx="475488" cy="475488"/>
          </a:xfrm>
          <a:prstGeom prst="ellipse">
            <a:avLst/>
          </a:prstGeom>
          <a:solidFill>
            <a:srgbClr val="7C3AED"/>
          </a:solidFill>
          <a:ln/>
        </p:spPr>
      </p:sp>
      <p:pic>
        <p:nvPicPr>
          <p:cNvPr id="12" name="Image 2" descr="preencoded.png">    </p:cNvPr>
          <p:cNvPicPr>
            <a:picLocks noChangeAspect="1"/>
          </p:cNvPicPr>
          <p:nvPr/>
        </p:nvPicPr>
        <p:blipFill>
          <a:blip r:embed="rId3"/>
          <a:stretch>
            <a:fillRect/>
          </a:stretch>
        </p:blipFill>
        <p:spPr>
          <a:xfrm>
            <a:off x="717987" y="3836091"/>
            <a:ext cx="228234" cy="228234"/>
          </a:xfrm>
          <a:prstGeom prst="rect">
            <a:avLst/>
          </a:prstGeom>
        </p:spPr>
      </p:pic>
      <p:sp>
        <p:nvSpPr>
          <p:cNvPr id="13" name="Text 8"/>
          <p:cNvSpPr/>
          <p:nvPr/>
        </p:nvSpPr>
        <p:spPr>
          <a:xfrm>
            <a:off x="1280160" y="3657600"/>
            <a:ext cx="5120640" cy="36576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Someone translates it into codes</a:t>
            </a:r>
            <a:endParaRPr lang="en-US" sz="1700" dirty="0"/>
          </a:p>
        </p:txBody>
      </p:sp>
      <p:sp>
        <p:nvSpPr>
          <p:cNvPr id="14" name="Text 9"/>
          <p:cNvSpPr/>
          <p:nvPr/>
        </p:nvSpPr>
        <p:spPr>
          <a:xfrm>
            <a:off x="1280160" y="4005072"/>
            <a:ext cx="5120640" cy="32004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ICD-10-CM diagnoses, CPT procedures</a:t>
            </a:r>
            <a:endParaRPr lang="en-US" sz="1300" dirty="0"/>
          </a:p>
        </p:txBody>
      </p:sp>
      <p:sp>
        <p:nvSpPr>
          <p:cNvPr id="15" name="Shape 10"/>
          <p:cNvSpPr/>
          <p:nvPr/>
        </p:nvSpPr>
        <p:spPr>
          <a:xfrm>
            <a:off x="594360" y="4882896"/>
            <a:ext cx="475488" cy="475488"/>
          </a:xfrm>
          <a:prstGeom prst="ellipse">
            <a:avLst/>
          </a:prstGeom>
          <a:solidFill>
            <a:srgbClr val="DC2626"/>
          </a:solidFill>
          <a:ln/>
        </p:spPr>
      </p:sp>
      <p:pic>
        <p:nvPicPr>
          <p:cNvPr id="16" name="Image 3" descr="preencoded.png">    </p:cNvPr>
          <p:cNvPicPr>
            <a:picLocks noChangeAspect="1"/>
          </p:cNvPicPr>
          <p:nvPr/>
        </p:nvPicPr>
        <p:blipFill>
          <a:blip r:embed="rId4"/>
          <a:stretch>
            <a:fillRect/>
          </a:stretch>
        </p:blipFill>
        <p:spPr>
          <a:xfrm>
            <a:off x="717987" y="5006523"/>
            <a:ext cx="228234" cy="228234"/>
          </a:xfrm>
          <a:prstGeom prst="rect">
            <a:avLst/>
          </a:prstGeom>
        </p:spPr>
      </p:pic>
      <p:sp>
        <p:nvSpPr>
          <p:cNvPr id="17" name="Text 11"/>
          <p:cNvSpPr/>
          <p:nvPr/>
        </p:nvSpPr>
        <p:spPr>
          <a:xfrm>
            <a:off x="1280160" y="4828032"/>
            <a:ext cx="5120640" cy="36576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Someone fights the denial</a:t>
            </a:r>
            <a:endParaRPr lang="en-US" sz="1700" dirty="0"/>
          </a:p>
        </p:txBody>
      </p:sp>
      <p:sp>
        <p:nvSpPr>
          <p:cNvPr id="18" name="Text 12"/>
          <p:cNvSpPr/>
          <p:nvPr/>
        </p:nvSpPr>
        <p:spPr>
          <a:xfrm>
            <a:off x="1280160" y="5175504"/>
            <a:ext cx="5120640" cy="32004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reason codes, resubmissions, appeal letters</a:t>
            </a:r>
            <a:endParaRPr lang="en-US" sz="1300" dirty="0"/>
          </a:p>
        </p:txBody>
      </p:sp>
      <p:sp>
        <p:nvSpPr>
          <p:cNvPr id="19" name="Shape 13"/>
          <p:cNvSpPr/>
          <p:nvPr/>
        </p:nvSpPr>
        <p:spPr>
          <a:xfrm>
            <a:off x="6858000" y="1371600"/>
            <a:ext cx="4754880" cy="4480560"/>
          </a:xfrm>
          <a:prstGeom prst="roundRect">
            <a:avLst>
              <a:gd name="adj" fmla="val 2449"/>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20" name="Text 14"/>
          <p:cNvSpPr/>
          <p:nvPr/>
        </p:nvSpPr>
        <p:spPr>
          <a:xfrm>
            <a:off x="7269480" y="1828800"/>
            <a:ext cx="4023360" cy="1737360"/>
          </a:xfrm>
          <a:prstGeom prst="rect">
            <a:avLst/>
          </a:prstGeom>
          <a:noFill/>
          <a:ln/>
        </p:spPr>
        <p:txBody>
          <a:bodyPr wrap="square" lIns="0" tIns="0" rIns="0" bIns="0" rtlCol="0" anchor="ctr"/>
          <a:lstStyle/>
          <a:p>
            <a:pPr indent="0" marL="0">
              <a:lnSpc>
                <a:spcPts val="3000"/>
              </a:lnSpc>
              <a:buNone/>
            </a:pPr>
            <a:r>
              <a:rPr lang="en-US" sz="2100" b="1" dirty="0">
                <a:solidFill>
                  <a:srgbClr val="1F2933"/>
                </a:solidFill>
                <a:latin typeface="Arial" pitchFamily="34" charset="0"/>
                <a:ea typeface="Arial" pitchFamily="34" charset="-122"/>
                <a:cs typeface="Arial" pitchFamily="34" charset="-120"/>
              </a:rPr>
              <a:t>Every hop loses information.</a:t>
            </a:r>
            <a:endParaRPr lang="en-US" sz="2100" dirty="0"/>
          </a:p>
          <a:p>
            <a:pPr indent="0" marL="0">
              <a:lnSpc>
                <a:spcPts val="3000"/>
              </a:lnSpc>
              <a:buNone/>
            </a:pPr>
            <a:r>
              <a:rPr lang="en-US" sz="2100" b="1" dirty="0">
                <a:solidFill>
                  <a:srgbClr val="1F2933"/>
                </a:solidFill>
                <a:latin typeface="Arial" pitchFamily="34" charset="0"/>
                <a:ea typeface="Arial" pitchFamily="34" charset="-122"/>
                <a:cs typeface="Arial" pitchFamily="34" charset="-120"/>
              </a:rPr>
              <a:t>Every loss becomes a denial.</a:t>
            </a:r>
            <a:endParaRPr lang="en-US" sz="2100" dirty="0"/>
          </a:p>
          <a:p>
            <a:pPr indent="0" marL="0">
              <a:lnSpc>
                <a:spcPts val="3000"/>
              </a:lnSpc>
              <a:buNone/>
            </a:pPr>
            <a:r>
              <a:rPr lang="en-US" sz="2100" b="1" dirty="0">
                <a:solidFill>
                  <a:srgbClr val="1F2933"/>
                </a:solidFill>
                <a:latin typeface="Arial" pitchFamily="34" charset="0"/>
                <a:ea typeface="Arial" pitchFamily="34" charset="-122"/>
                <a:cs typeface="Arial" pitchFamily="34" charset="-120"/>
              </a:rPr>
              <a:t>Every denial becomes human labor.</a:t>
            </a:r>
            <a:endParaRPr lang="en-US" sz="2100" dirty="0"/>
          </a:p>
        </p:txBody>
      </p:sp>
      <p:sp>
        <p:nvSpPr>
          <p:cNvPr id="21" name="Text 15"/>
          <p:cNvSpPr/>
          <p:nvPr/>
        </p:nvSpPr>
        <p:spPr>
          <a:xfrm>
            <a:off x="7269480" y="3977640"/>
            <a:ext cx="4023360" cy="1188720"/>
          </a:xfrm>
          <a:prstGeom prst="rect">
            <a:avLst/>
          </a:prstGeom>
          <a:noFill/>
          <a:ln/>
        </p:spPr>
        <p:txBody>
          <a:bodyPr wrap="square" lIns="0" tIns="0" rIns="0" bIns="0" rtlCol="0" anchor="ctr"/>
          <a:lstStyle/>
          <a:p>
            <a:pPr indent="0" marL="0">
              <a:buNone/>
            </a:pPr>
            <a:r>
              <a:rPr lang="en-US" sz="1500" i="1" dirty="0">
                <a:solidFill>
                  <a:srgbClr val="2563EB"/>
                </a:solidFill>
                <a:latin typeface="Calibri" pitchFamily="34" charset="0"/>
                <a:ea typeface="Calibri" pitchFamily="34" charset="-122"/>
                <a:cs typeface="Calibri" pitchFamily="34" charset="-120"/>
              </a:rPr>
              <a:t>ClaimLoop automates the whole chain with agents, then measures exactly where it breaks.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LLMs alone are poor coders. Tools change that.</a:t>
            </a:r>
            <a:endParaRPr lang="en-US" sz="3000" dirty="0"/>
          </a:p>
        </p:txBody>
      </p:sp>
      <p:sp>
        <p:nvSpPr>
          <p:cNvPr id="3" name="Shape 1"/>
          <p:cNvSpPr/>
          <p:nvPr/>
        </p:nvSpPr>
        <p:spPr>
          <a:xfrm>
            <a:off x="594360" y="1417320"/>
            <a:ext cx="3611880" cy="4480560"/>
          </a:xfrm>
          <a:prstGeom prst="roundRect">
            <a:avLst>
              <a:gd name="adj" fmla="val 3038"/>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4" name="Text 2"/>
          <p:cNvSpPr/>
          <p:nvPr/>
        </p:nvSpPr>
        <p:spPr>
          <a:xfrm>
            <a:off x="960120" y="1920240"/>
            <a:ext cx="2926080" cy="868680"/>
          </a:xfrm>
          <a:prstGeom prst="rect">
            <a:avLst/>
          </a:prstGeom>
          <a:noFill/>
          <a:ln/>
        </p:spPr>
        <p:txBody>
          <a:bodyPr wrap="square" lIns="0" tIns="0" rIns="0" bIns="0" rtlCol="0" anchor="ctr"/>
          <a:lstStyle/>
          <a:p>
            <a:pPr algn="l" indent="0" marL="0">
              <a:buNone/>
            </a:pPr>
            <a:r>
              <a:rPr lang="en-US" sz="5400" b="1" dirty="0">
                <a:solidFill>
                  <a:srgbClr val="DC2626"/>
                </a:solidFill>
                <a:latin typeface="Arial" pitchFamily="34" charset="0"/>
                <a:ea typeface="Arial" pitchFamily="34" charset="-122"/>
                <a:cs typeface="Arial" pitchFamily="34" charset="-120"/>
              </a:rPr>
              <a:t>34%</a:t>
            </a:r>
            <a:endParaRPr lang="en-US" sz="5400" dirty="0"/>
          </a:p>
        </p:txBody>
      </p:sp>
      <p:sp>
        <p:nvSpPr>
          <p:cNvPr id="5" name="Text 3"/>
          <p:cNvSpPr/>
          <p:nvPr/>
        </p:nvSpPr>
        <p:spPr>
          <a:xfrm>
            <a:off x="960120" y="2816352"/>
            <a:ext cx="2926080" cy="777240"/>
          </a:xfrm>
          <a:prstGeom prst="rect">
            <a:avLst/>
          </a:prstGeom>
          <a:noFill/>
          <a:ln/>
        </p:spPr>
        <p:txBody>
          <a:bodyPr wrap="square" lIns="0" tIns="0" rIns="0" bIns="0" rtlCol="0" anchor="ctr"/>
          <a:lstStyle/>
          <a:p>
            <a:pPr algn="l" indent="0" marL="0">
              <a:buNone/>
            </a:pPr>
            <a:r>
              <a:rPr lang="en-US" sz="1250" dirty="0">
                <a:solidFill>
                  <a:srgbClr val="5B6B85"/>
                </a:solidFill>
                <a:latin typeface="Calibri" pitchFamily="34" charset="0"/>
                <a:ea typeface="Calibri" pitchFamily="34" charset="-122"/>
                <a:cs typeface="Calibri" pitchFamily="34" charset="-120"/>
              </a:rPr>
              <a:t>GPT-4 exact-match accuracy generating ICD-10-CM codes from memory, across 27,000 real codes (Soroush et al., NEJM AI 2024)</a:t>
            </a:r>
            <a:endParaRPr lang="en-US" sz="1250" dirty="0"/>
          </a:p>
        </p:txBody>
      </p:sp>
      <p:sp>
        <p:nvSpPr>
          <p:cNvPr id="6" name="Shape 4"/>
          <p:cNvSpPr/>
          <p:nvPr/>
        </p:nvSpPr>
        <p:spPr>
          <a:xfrm>
            <a:off x="4434840" y="1417320"/>
            <a:ext cx="3611880" cy="4480560"/>
          </a:xfrm>
          <a:prstGeom prst="roundRect">
            <a:avLst>
              <a:gd name="adj" fmla="val 3038"/>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7" name="Shape 5"/>
          <p:cNvSpPr/>
          <p:nvPr/>
        </p:nvSpPr>
        <p:spPr>
          <a:xfrm>
            <a:off x="4800600" y="1920240"/>
            <a:ext cx="475488" cy="475488"/>
          </a:xfrm>
          <a:prstGeom prst="ellipse">
            <a:avLst/>
          </a:prstGeom>
          <a:solidFill>
            <a:srgbClr val="16A34A"/>
          </a:solidFill>
          <a:ln/>
        </p:spPr>
      </p:sp>
      <p:pic>
        <p:nvPicPr>
          <p:cNvPr id="8" name="Image 0" descr="preencoded.png">    </p:cNvPr>
          <p:cNvPicPr>
            <a:picLocks noChangeAspect="1"/>
          </p:cNvPicPr>
          <p:nvPr/>
        </p:nvPicPr>
        <p:blipFill>
          <a:blip r:embed="rId1"/>
          <a:stretch>
            <a:fillRect/>
          </a:stretch>
        </p:blipFill>
        <p:spPr>
          <a:xfrm>
            <a:off x="4924227" y="2043867"/>
            <a:ext cx="228234" cy="228234"/>
          </a:xfrm>
          <a:prstGeom prst="rect">
            <a:avLst/>
          </a:prstGeom>
        </p:spPr>
      </p:pic>
      <p:sp>
        <p:nvSpPr>
          <p:cNvPr id="9" name="Text 6"/>
          <p:cNvSpPr/>
          <p:nvPr/>
        </p:nvSpPr>
        <p:spPr>
          <a:xfrm>
            <a:off x="4800600" y="2606040"/>
            <a:ext cx="292608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Verification beats recall</a:t>
            </a:r>
            <a:endParaRPr lang="en-US" sz="1800" dirty="0"/>
          </a:p>
        </p:txBody>
      </p:sp>
      <p:sp>
        <p:nvSpPr>
          <p:cNvPr id="10" name="Text 7"/>
          <p:cNvSpPr/>
          <p:nvPr/>
        </p:nvSpPr>
        <p:spPr>
          <a:xfrm>
            <a:off x="4800600" y="3108960"/>
            <a:ext cx="2926080" cy="1463040"/>
          </a:xfrm>
          <a:prstGeom prst="rect">
            <a:avLst/>
          </a:prstGeom>
          <a:noFill/>
          <a:ln/>
        </p:spPr>
        <p:txBody>
          <a:bodyPr wrap="square" lIns="0" tIns="0" rIns="0" bIns="0" rtlCol="0" anchor="ctr"/>
          <a:lstStyle/>
          <a:p>
            <a:pPr indent="0" marL="0">
              <a:buNone/>
            </a:pPr>
            <a:r>
              <a:rPr lang="en-US" sz="1400" dirty="0">
                <a:solidFill>
                  <a:srgbClr val="5B6B85"/>
                </a:solidFill>
                <a:latin typeface="Calibri" pitchFamily="34" charset="0"/>
                <a:ea typeface="Calibri" pitchFamily="34" charset="-122"/>
                <a:cs typeface="Calibri" pitchFamily="34" charset="-120"/>
              </a:rPr>
              <a:t>Give the model the real code table to search and check itself against, and coding becomes tractable (Kwan 2024).</a:t>
            </a:r>
            <a:endParaRPr lang="en-US" sz="1400" dirty="0"/>
          </a:p>
        </p:txBody>
      </p:sp>
      <p:sp>
        <p:nvSpPr>
          <p:cNvPr id="11" name="Shape 8"/>
          <p:cNvSpPr/>
          <p:nvPr/>
        </p:nvSpPr>
        <p:spPr>
          <a:xfrm>
            <a:off x="8275320" y="1417320"/>
            <a:ext cx="3337560" cy="4480560"/>
          </a:xfrm>
          <a:prstGeom prst="roundRect">
            <a:avLst>
              <a:gd name="adj" fmla="val 3288"/>
            </a:avLst>
          </a:prstGeom>
          <a:solidFill>
            <a:srgbClr val="F2EDFD"/>
          </a:solidFill>
          <a:ln w="12700">
            <a:solidFill>
              <a:srgbClr val="D8C9F7"/>
            </a:solidFill>
            <a:prstDash val="solid"/>
          </a:ln>
          <a:effectLst>
            <a:outerShdw sx="100000" sy="100000" kx="0" ky="0" algn="bl" rotWithShape="0" blurRad="76200" dist="25400" dir="5400000">
              <a:srgbClr val="94A3B8">
                <a:alpha val="18000"/>
              </a:srgbClr>
            </a:outerShdw>
          </a:effectLst>
        </p:spPr>
      </p:sp>
      <p:sp>
        <p:nvSpPr>
          <p:cNvPr id="12" name="Shape 9"/>
          <p:cNvSpPr/>
          <p:nvPr/>
        </p:nvSpPr>
        <p:spPr>
          <a:xfrm>
            <a:off x="8641080" y="1920240"/>
            <a:ext cx="475488" cy="475488"/>
          </a:xfrm>
          <a:prstGeom prst="ellipse">
            <a:avLst/>
          </a:prstGeom>
          <a:solidFill>
            <a:srgbClr val="7C3AED"/>
          </a:solidFill>
          <a:ln/>
        </p:spPr>
      </p:sp>
      <p:pic>
        <p:nvPicPr>
          <p:cNvPr id="13" name="Image 1" descr="preencoded.png">    </p:cNvPr>
          <p:cNvPicPr>
            <a:picLocks noChangeAspect="1"/>
          </p:cNvPicPr>
          <p:nvPr/>
        </p:nvPicPr>
        <p:blipFill>
          <a:blip r:embed="rId2"/>
          <a:stretch>
            <a:fillRect/>
          </a:stretch>
        </p:blipFill>
        <p:spPr>
          <a:xfrm>
            <a:off x="8764707" y="2043867"/>
            <a:ext cx="228234" cy="228234"/>
          </a:xfrm>
          <a:prstGeom prst="rect">
            <a:avLst/>
          </a:prstGeom>
        </p:spPr>
      </p:pic>
      <p:sp>
        <p:nvSpPr>
          <p:cNvPr id="14" name="Text 10"/>
          <p:cNvSpPr/>
          <p:nvPr/>
        </p:nvSpPr>
        <p:spPr>
          <a:xfrm>
            <a:off x="8641080" y="2606040"/>
            <a:ext cx="2651760" cy="457200"/>
          </a:xfrm>
          <a:prstGeom prst="rect">
            <a:avLst/>
          </a:prstGeom>
          <a:noFill/>
          <a:ln/>
        </p:spPr>
        <p:txBody>
          <a:bodyPr wrap="square" lIns="0" tIns="0" rIns="0" bIns="0" rtlCol="0" anchor="ctr"/>
          <a:lstStyle/>
          <a:p>
            <a:pPr indent="0" marL="0">
              <a:buNone/>
            </a:pPr>
            <a:r>
              <a:rPr lang="en-US" sz="1800" b="1" dirty="0">
                <a:solidFill>
                  <a:srgbClr val="7C3AED"/>
                </a:solidFill>
                <a:latin typeface="Arial" pitchFamily="34" charset="0"/>
                <a:ea typeface="Arial" pitchFamily="34" charset="-122"/>
                <a:cs typeface="Arial" pitchFamily="34" charset="-120"/>
              </a:rPr>
              <a:t>The gap</a:t>
            </a:r>
            <a:endParaRPr lang="en-US" sz="1800" dirty="0"/>
          </a:p>
        </p:txBody>
      </p:sp>
      <p:sp>
        <p:nvSpPr>
          <p:cNvPr id="15" name="Text 11"/>
          <p:cNvSpPr/>
          <p:nvPr/>
        </p:nvSpPr>
        <p:spPr>
          <a:xfrm>
            <a:off x="8641080" y="3108960"/>
            <a:ext cx="2651760" cy="1645920"/>
          </a:xfrm>
          <a:prstGeom prst="rect">
            <a:avLst/>
          </a:prstGeom>
          <a:noFill/>
          <a:ln/>
        </p:spPr>
        <p:txBody>
          <a:bodyPr wrap="square" lIns="0" tIns="0" rIns="0" bIns="0" rtlCol="0" anchor="ctr"/>
          <a:lstStyle/>
          <a:p>
            <a:pPr indent="0" marL="0">
              <a:buNone/>
            </a:pPr>
            <a:r>
              <a:rPr lang="en-US" sz="1400" dirty="0">
                <a:solidFill>
                  <a:srgbClr val="1F2933"/>
                </a:solidFill>
                <a:latin typeface="Calibri" pitchFamily="34" charset="0"/>
                <a:ea typeface="Calibri" pitchFamily="34" charset="-122"/>
                <a:cs typeface="Calibri" pitchFamily="34" charset="-120"/>
              </a:rPr>
              <a:t>Published work stops at the coding step. Revenue is decided later, in the denial loop nobody benchmarks.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The high-risk bet: make the denial loop measurable</a:t>
            </a:r>
            <a:endParaRPr lang="en-US" sz="3000" dirty="0"/>
          </a:p>
        </p:txBody>
      </p:sp>
      <p:sp>
        <p:nvSpPr>
          <p:cNvPr id="3" name="Shape 1"/>
          <p:cNvSpPr/>
          <p:nvPr/>
        </p:nvSpPr>
        <p:spPr>
          <a:xfrm>
            <a:off x="594360" y="1463040"/>
            <a:ext cx="3520440" cy="3291840"/>
          </a:xfrm>
          <a:prstGeom prst="roundRect">
            <a:avLst>
              <a:gd name="adj" fmla="val 3333"/>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4" name="Shape 2"/>
          <p:cNvSpPr/>
          <p:nvPr/>
        </p:nvSpPr>
        <p:spPr>
          <a:xfrm>
            <a:off x="960120" y="1920240"/>
            <a:ext cx="475488" cy="475488"/>
          </a:xfrm>
          <a:prstGeom prst="ellipse">
            <a:avLst/>
          </a:prstGeom>
          <a:solidFill>
            <a:srgbClr val="2563EB"/>
          </a:solidFill>
          <a:ln/>
        </p:spPr>
      </p:sp>
      <p:pic>
        <p:nvPicPr>
          <p:cNvPr id="5" name="Image 0" descr="preencoded.png">    </p:cNvPr>
          <p:cNvPicPr>
            <a:picLocks noChangeAspect="1"/>
          </p:cNvPicPr>
          <p:nvPr/>
        </p:nvPicPr>
        <p:blipFill>
          <a:blip r:embed="rId1"/>
          <a:stretch>
            <a:fillRect/>
          </a:stretch>
        </p:blipFill>
        <p:spPr>
          <a:xfrm>
            <a:off x="1083747" y="2043867"/>
            <a:ext cx="228234" cy="228234"/>
          </a:xfrm>
          <a:prstGeom prst="rect">
            <a:avLst/>
          </a:prstGeom>
        </p:spPr>
      </p:pic>
      <p:sp>
        <p:nvSpPr>
          <p:cNvPr id="6" name="Text 3"/>
          <p:cNvSpPr/>
          <p:nvPr/>
        </p:nvSpPr>
        <p:spPr>
          <a:xfrm>
            <a:off x="960120" y="2606040"/>
            <a:ext cx="283464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A transparent payer</a:t>
            </a:r>
            <a:endParaRPr lang="en-US" sz="1800" dirty="0"/>
          </a:p>
        </p:txBody>
      </p:sp>
      <p:sp>
        <p:nvSpPr>
          <p:cNvPr id="7" name="Text 4"/>
          <p:cNvSpPr/>
          <p:nvPr/>
        </p:nvSpPr>
        <p:spPr>
          <a:xfrm>
            <a:off x="960120" y="3090672"/>
            <a:ext cx="2834640" cy="1463040"/>
          </a:xfrm>
          <a:prstGeom prst="rect">
            <a:avLst/>
          </a:prstGeom>
          <a:noFill/>
          <a:ln/>
        </p:spPr>
        <p:txBody>
          <a:bodyPr wrap="square" lIns="0" tIns="0" rIns="0" bIns="0" rtlCol="0" anchor="ctr"/>
          <a:lstStyle/>
          <a:p>
            <a:pPr indent="0" marL="0">
              <a:buNone/>
            </a:pPr>
            <a:r>
              <a:rPr lang="en-US" sz="1400" dirty="0">
                <a:solidFill>
                  <a:srgbClr val="5B6B85"/>
                </a:solidFill>
                <a:latin typeface="Calibri" pitchFamily="34" charset="0"/>
                <a:ea typeface="Calibri" pitchFamily="34" charset="-122"/>
                <a:cs typeface="Calibri" pitchFamily="34" charset="-120"/>
              </a:rPr>
              <a:t>adjudication is a deterministic rules engine, not a model. Same claim in, same verdict out.</a:t>
            </a:r>
            <a:endParaRPr lang="en-US" sz="1400" dirty="0"/>
          </a:p>
        </p:txBody>
      </p:sp>
      <p:sp>
        <p:nvSpPr>
          <p:cNvPr id="8" name="Shape 5"/>
          <p:cNvSpPr/>
          <p:nvPr/>
        </p:nvSpPr>
        <p:spPr>
          <a:xfrm>
            <a:off x="4389120" y="1463040"/>
            <a:ext cx="3520440" cy="3291840"/>
          </a:xfrm>
          <a:prstGeom prst="roundRect">
            <a:avLst>
              <a:gd name="adj" fmla="val 3333"/>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9" name="Shape 6"/>
          <p:cNvSpPr/>
          <p:nvPr/>
        </p:nvSpPr>
        <p:spPr>
          <a:xfrm>
            <a:off x="4754880" y="1920240"/>
            <a:ext cx="475488" cy="475488"/>
          </a:xfrm>
          <a:prstGeom prst="ellipse">
            <a:avLst/>
          </a:prstGeom>
          <a:solidFill>
            <a:srgbClr val="D97706"/>
          </a:solidFill>
          <a:ln/>
        </p:spPr>
      </p:sp>
      <p:pic>
        <p:nvPicPr>
          <p:cNvPr id="10" name="Image 1" descr="preencoded.png">    </p:cNvPr>
          <p:cNvPicPr>
            <a:picLocks noChangeAspect="1"/>
          </p:cNvPicPr>
          <p:nvPr/>
        </p:nvPicPr>
        <p:blipFill>
          <a:blip r:embed="rId2"/>
          <a:stretch>
            <a:fillRect/>
          </a:stretch>
        </p:blipFill>
        <p:spPr>
          <a:xfrm>
            <a:off x="4878507" y="2043867"/>
            <a:ext cx="228234" cy="228234"/>
          </a:xfrm>
          <a:prstGeom prst="rect">
            <a:avLst/>
          </a:prstGeom>
        </p:spPr>
      </p:pic>
      <p:sp>
        <p:nvSpPr>
          <p:cNvPr id="11" name="Text 7"/>
          <p:cNvSpPr/>
          <p:nvPr/>
        </p:nvSpPr>
        <p:spPr>
          <a:xfrm>
            <a:off x="4754880" y="2606040"/>
            <a:ext cx="283464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Structured feedback</a:t>
            </a:r>
            <a:endParaRPr lang="en-US" sz="1800" dirty="0"/>
          </a:p>
        </p:txBody>
      </p:sp>
      <p:sp>
        <p:nvSpPr>
          <p:cNvPr id="12" name="Text 8"/>
          <p:cNvSpPr/>
          <p:nvPr/>
        </p:nvSpPr>
        <p:spPr>
          <a:xfrm>
            <a:off x="4754880" y="3090672"/>
            <a:ext cx="2834640" cy="1463040"/>
          </a:xfrm>
          <a:prstGeom prst="rect">
            <a:avLst/>
          </a:prstGeom>
          <a:noFill/>
          <a:ln/>
        </p:spPr>
        <p:txBody>
          <a:bodyPr wrap="square" lIns="0" tIns="0" rIns="0" bIns="0" rtlCol="0" anchor="ctr"/>
          <a:lstStyle/>
          <a:p>
            <a:pPr indent="0" marL="0">
              <a:buNone/>
            </a:pPr>
            <a:r>
              <a:rPr lang="en-US" sz="1400" dirty="0">
                <a:solidFill>
                  <a:srgbClr val="5B6B85"/>
                </a:solidFill>
                <a:latin typeface="Calibri" pitchFamily="34" charset="0"/>
                <a:ea typeface="Calibri" pitchFamily="34" charset="-122"/>
                <a:cs typeface="Calibri" pitchFamily="34" charset="-120"/>
              </a:rPr>
              <a:t>denials carry real CARC and RARC reason codes, the same vocabulary human billers read.</a:t>
            </a:r>
            <a:endParaRPr lang="en-US" sz="1400" dirty="0"/>
          </a:p>
        </p:txBody>
      </p:sp>
      <p:sp>
        <p:nvSpPr>
          <p:cNvPr id="13" name="Shape 9"/>
          <p:cNvSpPr/>
          <p:nvPr/>
        </p:nvSpPr>
        <p:spPr>
          <a:xfrm>
            <a:off x="8183880" y="1463040"/>
            <a:ext cx="3520440" cy="3291840"/>
          </a:xfrm>
          <a:prstGeom prst="roundRect">
            <a:avLst>
              <a:gd name="adj" fmla="val 3333"/>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14" name="Shape 10"/>
          <p:cNvSpPr/>
          <p:nvPr/>
        </p:nvSpPr>
        <p:spPr>
          <a:xfrm>
            <a:off x="8549640" y="1920240"/>
            <a:ext cx="475488" cy="475488"/>
          </a:xfrm>
          <a:prstGeom prst="ellipse">
            <a:avLst/>
          </a:prstGeom>
          <a:solidFill>
            <a:srgbClr val="16A34A"/>
          </a:solidFill>
          <a:ln/>
        </p:spPr>
      </p:sp>
      <p:pic>
        <p:nvPicPr>
          <p:cNvPr id="15" name="Image 2" descr="preencoded.png">    </p:cNvPr>
          <p:cNvPicPr>
            <a:picLocks noChangeAspect="1"/>
          </p:cNvPicPr>
          <p:nvPr/>
        </p:nvPicPr>
        <p:blipFill>
          <a:blip r:embed="rId3"/>
          <a:stretch>
            <a:fillRect/>
          </a:stretch>
        </p:blipFill>
        <p:spPr>
          <a:xfrm>
            <a:off x="8673267" y="2043867"/>
            <a:ext cx="228234" cy="228234"/>
          </a:xfrm>
          <a:prstGeom prst="rect">
            <a:avLst/>
          </a:prstGeom>
        </p:spPr>
      </p:pic>
      <p:sp>
        <p:nvSpPr>
          <p:cNvPr id="16" name="Text 11"/>
          <p:cNvSpPr/>
          <p:nvPr/>
        </p:nvSpPr>
        <p:spPr>
          <a:xfrm>
            <a:off x="8549640" y="2606040"/>
            <a:ext cx="2834640" cy="457200"/>
          </a:xfrm>
          <a:prstGeom prst="rect">
            <a:avLst/>
          </a:prstGeom>
          <a:noFill/>
          <a:ln/>
        </p:spPr>
        <p:txBody>
          <a:bodyPr wrap="square" lIns="0" tIns="0" rIns="0" bIns="0" rtlCol="0" anchor="ctr"/>
          <a:lstStyle/>
          <a:p>
            <a:pPr indent="0" marL="0">
              <a:buNone/>
            </a:pPr>
            <a:r>
              <a:rPr lang="en-US" sz="1800" b="1" dirty="0">
                <a:solidFill>
                  <a:srgbClr val="1F2933"/>
                </a:solidFill>
                <a:latin typeface="Arial" pitchFamily="34" charset="0"/>
                <a:ea typeface="Arial" pitchFamily="34" charset="-122"/>
                <a:cs typeface="Arial" pitchFamily="34" charset="-120"/>
              </a:rPr>
              <a:t>A binary outcome</a:t>
            </a:r>
            <a:endParaRPr lang="en-US" sz="1800" dirty="0"/>
          </a:p>
        </p:txBody>
      </p:sp>
      <p:sp>
        <p:nvSpPr>
          <p:cNvPr id="17" name="Text 12"/>
          <p:cNvSpPr/>
          <p:nvPr/>
        </p:nvSpPr>
        <p:spPr>
          <a:xfrm>
            <a:off x="8549640" y="3090672"/>
            <a:ext cx="2834640" cy="1463040"/>
          </a:xfrm>
          <a:prstGeom prst="rect">
            <a:avLst/>
          </a:prstGeom>
          <a:noFill/>
          <a:ln/>
        </p:spPr>
        <p:txBody>
          <a:bodyPr wrap="square" lIns="0" tIns="0" rIns="0" bIns="0" rtlCol="0" anchor="ctr"/>
          <a:lstStyle/>
          <a:p>
            <a:pPr indent="0" marL="0">
              <a:buNone/>
            </a:pPr>
            <a:r>
              <a:rPr lang="en-US" sz="1400" dirty="0">
                <a:solidFill>
                  <a:srgbClr val="5B6B85"/>
                </a:solidFill>
                <a:latin typeface="Calibri" pitchFamily="34" charset="0"/>
                <a:ea typeface="Calibri" pitchFamily="34" charset="-122"/>
                <a:cs typeface="Calibri" pitchFamily="34" charset="-120"/>
              </a:rPr>
              <a:t>the claim ends paid or not paid. No subjective grading of agent output.</a:t>
            </a:r>
            <a:endParaRPr lang="en-US" sz="1400" dirty="0"/>
          </a:p>
        </p:txBody>
      </p:sp>
      <p:sp>
        <p:nvSpPr>
          <p:cNvPr id="18" name="Text 13"/>
          <p:cNvSpPr/>
          <p:nvPr/>
        </p:nvSpPr>
        <p:spPr>
          <a:xfrm>
            <a:off x="594360" y="5257800"/>
            <a:ext cx="11018520" cy="640080"/>
          </a:xfrm>
          <a:prstGeom prst="rect">
            <a:avLst/>
          </a:prstGeom>
          <a:noFill/>
          <a:ln/>
        </p:spPr>
        <p:txBody>
          <a:bodyPr wrap="square" lIns="0" tIns="0" rIns="0" bIns="0" rtlCol="0" anchor="ctr"/>
          <a:lstStyle/>
          <a:p>
            <a:pPr algn="ctr" indent="0" marL="0">
              <a:buNone/>
            </a:pPr>
            <a:r>
              <a:rPr lang="en-US" sz="2000" b="1" i="1" dirty="0">
                <a:solidFill>
                  <a:srgbClr val="7C3AED"/>
                </a:solidFill>
                <a:latin typeface="Arial" pitchFamily="34" charset="0"/>
                <a:ea typeface="Arial" pitchFamily="34" charset="-122"/>
                <a:cs typeface="Arial" pitchFamily="34" charset="-120"/>
              </a:rPr>
              <a:t>If the agents fail here, the failure itself is the finding.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Five stages, agents only where language lives</a:t>
            </a:r>
            <a:endParaRPr lang="en-US" sz="3000" dirty="0"/>
          </a:p>
        </p:txBody>
      </p:sp>
      <p:pic>
        <p:nvPicPr>
          <p:cNvPr id="3" name="Image 0" descr="C:\Users\AbdullahAbdel-Khalek\Downloads\Test Codes\High-risk project\claimloop\report\figures\workflow.png">    </p:cNvPr>
          <p:cNvPicPr>
            <a:picLocks noChangeAspect="1"/>
          </p:cNvPicPr>
          <p:nvPr/>
        </p:nvPicPr>
        <p:blipFill>
          <a:blip r:embed="rId1"/>
          <a:stretch>
            <a:fillRect/>
          </a:stretch>
        </p:blipFill>
        <p:spPr>
          <a:xfrm>
            <a:off x="685800" y="1325880"/>
            <a:ext cx="10817352" cy="3895344"/>
          </a:xfrm>
          <a:prstGeom prst="rect">
            <a:avLst/>
          </a:prstGeom>
        </p:spPr>
      </p:pic>
      <p:sp>
        <p:nvSpPr>
          <p:cNvPr id="4" name="Shape 1"/>
          <p:cNvSpPr/>
          <p:nvPr/>
        </p:nvSpPr>
        <p:spPr>
          <a:xfrm>
            <a:off x="685800" y="5596128"/>
            <a:ext cx="128016" cy="128016"/>
          </a:xfrm>
          <a:prstGeom prst="ellipse">
            <a:avLst/>
          </a:prstGeom>
          <a:solidFill>
            <a:srgbClr val="2563EB"/>
          </a:solidFill>
          <a:ln/>
        </p:spPr>
      </p:sp>
      <p:sp>
        <p:nvSpPr>
          <p:cNvPr id="5" name="Text 2"/>
          <p:cNvSpPr/>
          <p:nvPr/>
        </p:nvSpPr>
        <p:spPr>
          <a:xfrm>
            <a:off x="923544" y="5413248"/>
            <a:ext cx="338328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Three agents on the OpenAI Agents SDK over the Responses API</a:t>
            </a:r>
            <a:endParaRPr lang="en-US" sz="1250" dirty="0"/>
          </a:p>
        </p:txBody>
      </p:sp>
      <p:sp>
        <p:nvSpPr>
          <p:cNvPr id="6" name="Shape 3"/>
          <p:cNvSpPr/>
          <p:nvPr/>
        </p:nvSpPr>
        <p:spPr>
          <a:xfrm>
            <a:off x="4343400" y="5596128"/>
            <a:ext cx="128016" cy="128016"/>
          </a:xfrm>
          <a:prstGeom prst="ellipse">
            <a:avLst/>
          </a:prstGeom>
          <a:solidFill>
            <a:srgbClr val="16A34A"/>
          </a:solidFill>
          <a:ln/>
        </p:spPr>
      </p:sp>
      <p:sp>
        <p:nvSpPr>
          <p:cNvPr id="7" name="Text 4"/>
          <p:cNvSpPr/>
          <p:nvPr/>
        </p:nvSpPr>
        <p:spPr>
          <a:xfrm>
            <a:off x="4581144" y="5413248"/>
            <a:ext cx="338328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The coder must verify every ICD-10 code against the live NLM table</a:t>
            </a:r>
            <a:endParaRPr lang="en-US" sz="1250" dirty="0"/>
          </a:p>
        </p:txBody>
      </p:sp>
      <p:sp>
        <p:nvSpPr>
          <p:cNvPr id="8" name="Shape 5"/>
          <p:cNvSpPr/>
          <p:nvPr/>
        </p:nvSpPr>
        <p:spPr>
          <a:xfrm>
            <a:off x="8001000" y="5596128"/>
            <a:ext cx="128016" cy="128016"/>
          </a:xfrm>
          <a:prstGeom prst="ellipse">
            <a:avLst/>
          </a:prstGeom>
          <a:solidFill>
            <a:srgbClr val="5B6B85"/>
          </a:solidFill>
          <a:ln/>
        </p:spPr>
      </p:sp>
      <p:sp>
        <p:nvSpPr>
          <p:cNvPr id="9" name="Text 6"/>
          <p:cNvSpPr/>
          <p:nvPr/>
        </p:nvSpPr>
        <p:spPr>
          <a:xfrm>
            <a:off x="8238744" y="5413248"/>
            <a:ext cx="3383280" cy="777240"/>
          </a:xfrm>
          <a:prstGeom prst="rect">
            <a:avLst/>
          </a:prstGeom>
          <a:noFill/>
          <a:ln/>
        </p:spPr>
        <p:txBody>
          <a:bodyPr wrap="square" lIns="0" tIns="0" rIns="0" bIns="0" rtlCol="0" anchor="ctr"/>
          <a:lstStyle/>
          <a:p>
            <a:pPr indent="0" marL="0">
              <a:buNone/>
            </a:pPr>
            <a:r>
              <a:rPr lang="en-US" sz="1250" dirty="0">
                <a:solidFill>
                  <a:srgbClr val="1F2933"/>
                </a:solidFill>
                <a:latin typeface="Calibri" pitchFamily="34" charset="0"/>
                <a:ea typeface="Calibri" pitchFamily="34" charset="-122"/>
                <a:cs typeface="Calibri" pitchFamily="34" charset="-120"/>
              </a:rPr>
              <a:t>Claim builder and payer are plain deterministic code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A payer you can argue with</a:t>
            </a:r>
            <a:endParaRPr lang="en-US" sz="3000" dirty="0"/>
          </a:p>
        </p:txBody>
      </p:sp>
      <p:sp>
        <p:nvSpPr>
          <p:cNvPr id="3" name="Text 1"/>
          <p:cNvSpPr/>
          <p:nvPr/>
        </p:nvSpPr>
        <p:spPr>
          <a:xfrm>
            <a:off x="640080" y="1417320"/>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Required fields present</a:t>
            </a:r>
            <a:endParaRPr lang="en-US" sz="1450" dirty="0"/>
          </a:p>
        </p:txBody>
      </p:sp>
      <p:sp>
        <p:nvSpPr>
          <p:cNvPr id="4" name="Text 2"/>
          <p:cNvSpPr/>
          <p:nvPr/>
        </p:nvSpPr>
        <p:spPr>
          <a:xfrm>
            <a:off x="5577840" y="1453896"/>
            <a:ext cx="941832" cy="310896"/>
          </a:xfrm>
          <a:prstGeom prst="roundRect">
            <a:avLst>
              <a:gd name="adj" fmla="val 26471"/>
            </a:avLst>
          </a:prstGeom>
          <a:solidFill>
            <a:srgbClr val="EEF2FF"/>
          </a:solidFill>
          <a:ln w="9525">
            <a:solidFill>
              <a:srgbClr val="D97706"/>
            </a:solidFill>
          </a:ln>
        </p:spPr>
        <p:txBody>
          <a:bodyPr wrap="square" lIns="0" tIns="0" rIns="0" bIns="0" rtlCol="0" anchor="ctr"/>
          <a:lstStyle/>
          <a:p>
            <a:pPr algn="ctr" indent="0" marL="0">
              <a:buNone/>
            </a:pPr>
            <a:r>
              <a:rPr lang="en-US" sz="1150" b="1" dirty="0">
                <a:solidFill>
                  <a:srgbClr val="D97706"/>
                </a:solidFill>
                <a:latin typeface="Courier New" pitchFamily="34" charset="0"/>
                <a:ea typeface="Courier New" pitchFamily="34" charset="-122"/>
                <a:cs typeface="Courier New" pitchFamily="34" charset="-120"/>
              </a:rPr>
              <a:t>CO-16</a:t>
            </a:r>
            <a:endParaRPr lang="en-US" sz="1150" dirty="0"/>
          </a:p>
        </p:txBody>
      </p:sp>
      <p:sp>
        <p:nvSpPr>
          <p:cNvPr id="5" name="Shape 3"/>
          <p:cNvSpPr/>
          <p:nvPr/>
        </p:nvSpPr>
        <p:spPr>
          <a:xfrm>
            <a:off x="640080" y="1929384"/>
            <a:ext cx="5943600" cy="0"/>
          </a:xfrm>
          <a:prstGeom prst="line">
            <a:avLst/>
          </a:prstGeom>
          <a:noFill/>
          <a:ln w="9525">
            <a:solidFill>
              <a:srgbClr val="DEE6F2"/>
            </a:solidFill>
            <a:prstDash val="solid"/>
          </a:ln>
        </p:spPr>
      </p:sp>
      <p:sp>
        <p:nvSpPr>
          <p:cNvPr id="6" name="Text 4"/>
          <p:cNvSpPr/>
          <p:nvPr/>
        </p:nvSpPr>
        <p:spPr>
          <a:xfrm>
            <a:off x="640080" y="2039112"/>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Diagnosis codes exist (live NLM check)</a:t>
            </a:r>
            <a:endParaRPr lang="en-US" sz="1450" dirty="0"/>
          </a:p>
        </p:txBody>
      </p:sp>
      <p:sp>
        <p:nvSpPr>
          <p:cNvPr id="7" name="Text 5"/>
          <p:cNvSpPr/>
          <p:nvPr/>
        </p:nvSpPr>
        <p:spPr>
          <a:xfrm>
            <a:off x="5577840" y="2075688"/>
            <a:ext cx="1016813" cy="310896"/>
          </a:xfrm>
          <a:prstGeom prst="roundRect">
            <a:avLst>
              <a:gd name="adj" fmla="val 26471"/>
            </a:avLst>
          </a:prstGeom>
          <a:solidFill>
            <a:srgbClr val="EEF2FF"/>
          </a:solidFill>
          <a:ln w="9525">
            <a:solidFill>
              <a:srgbClr val="D97706"/>
            </a:solidFill>
          </a:ln>
        </p:spPr>
        <p:txBody>
          <a:bodyPr wrap="square" lIns="0" tIns="0" rIns="0" bIns="0" rtlCol="0" anchor="ctr"/>
          <a:lstStyle/>
          <a:p>
            <a:pPr algn="ctr" indent="0" marL="0">
              <a:buNone/>
            </a:pPr>
            <a:r>
              <a:rPr lang="en-US" sz="1150" b="1" dirty="0">
                <a:solidFill>
                  <a:srgbClr val="D97706"/>
                </a:solidFill>
                <a:latin typeface="Courier New" pitchFamily="34" charset="0"/>
                <a:ea typeface="Courier New" pitchFamily="34" charset="-122"/>
                <a:cs typeface="Courier New" pitchFamily="34" charset="-120"/>
              </a:rPr>
              <a:t>CO-146</a:t>
            </a:r>
            <a:endParaRPr lang="en-US" sz="1150" dirty="0"/>
          </a:p>
        </p:txBody>
      </p:sp>
      <p:sp>
        <p:nvSpPr>
          <p:cNvPr id="8" name="Shape 6"/>
          <p:cNvSpPr/>
          <p:nvPr/>
        </p:nvSpPr>
        <p:spPr>
          <a:xfrm>
            <a:off x="640080" y="2551176"/>
            <a:ext cx="5943600" cy="0"/>
          </a:xfrm>
          <a:prstGeom prst="line">
            <a:avLst/>
          </a:prstGeom>
          <a:noFill/>
          <a:ln w="9525">
            <a:solidFill>
              <a:srgbClr val="DEE6F2"/>
            </a:solidFill>
            <a:prstDash val="solid"/>
          </a:ln>
        </p:spPr>
      </p:sp>
      <p:sp>
        <p:nvSpPr>
          <p:cNvPr id="9" name="Text 7"/>
          <p:cNvSpPr/>
          <p:nvPr/>
        </p:nvSpPr>
        <p:spPr>
          <a:xfrm>
            <a:off x="640080" y="2660904"/>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Procedure on the fee schedule</a:t>
            </a:r>
            <a:endParaRPr lang="en-US" sz="1450" dirty="0"/>
          </a:p>
        </p:txBody>
      </p:sp>
      <p:sp>
        <p:nvSpPr>
          <p:cNvPr id="10" name="Text 8"/>
          <p:cNvSpPr/>
          <p:nvPr/>
        </p:nvSpPr>
        <p:spPr>
          <a:xfrm>
            <a:off x="5577840" y="2697480"/>
            <a:ext cx="1016813" cy="310896"/>
          </a:xfrm>
          <a:prstGeom prst="roundRect">
            <a:avLst>
              <a:gd name="adj" fmla="val 26471"/>
            </a:avLst>
          </a:prstGeom>
          <a:solidFill>
            <a:srgbClr val="EEF2FF"/>
          </a:solidFill>
          <a:ln w="9525">
            <a:solidFill>
              <a:srgbClr val="D97706"/>
            </a:solidFill>
          </a:ln>
        </p:spPr>
        <p:txBody>
          <a:bodyPr wrap="square" lIns="0" tIns="0" rIns="0" bIns="0" rtlCol="0" anchor="ctr"/>
          <a:lstStyle/>
          <a:p>
            <a:pPr algn="ctr" indent="0" marL="0">
              <a:buNone/>
            </a:pPr>
            <a:r>
              <a:rPr lang="en-US" sz="1150" b="1" dirty="0">
                <a:solidFill>
                  <a:srgbClr val="D97706"/>
                </a:solidFill>
                <a:latin typeface="Courier New" pitchFamily="34" charset="0"/>
                <a:ea typeface="Courier New" pitchFamily="34" charset="-122"/>
                <a:cs typeface="Courier New" pitchFamily="34" charset="-120"/>
              </a:rPr>
              <a:t>CO-181</a:t>
            </a:r>
            <a:endParaRPr lang="en-US" sz="1150" dirty="0"/>
          </a:p>
        </p:txBody>
      </p:sp>
      <p:sp>
        <p:nvSpPr>
          <p:cNvPr id="11" name="Shape 9"/>
          <p:cNvSpPr/>
          <p:nvPr/>
        </p:nvSpPr>
        <p:spPr>
          <a:xfrm>
            <a:off x="640080" y="3172968"/>
            <a:ext cx="5943600" cy="0"/>
          </a:xfrm>
          <a:prstGeom prst="line">
            <a:avLst/>
          </a:prstGeom>
          <a:noFill/>
          <a:ln w="9525">
            <a:solidFill>
              <a:srgbClr val="DEE6F2"/>
            </a:solidFill>
            <a:prstDash val="solid"/>
          </a:ln>
        </p:spPr>
      </p:sp>
      <p:sp>
        <p:nvSpPr>
          <p:cNvPr id="12" name="Text 10"/>
          <p:cNvSpPr/>
          <p:nvPr/>
        </p:nvSpPr>
        <p:spPr>
          <a:xfrm>
            <a:off x="640080" y="3282696"/>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Diagnosis supports the procedure</a:t>
            </a:r>
            <a:endParaRPr lang="en-US" sz="1450" dirty="0"/>
          </a:p>
        </p:txBody>
      </p:sp>
      <p:sp>
        <p:nvSpPr>
          <p:cNvPr id="13" name="Text 11"/>
          <p:cNvSpPr/>
          <p:nvPr/>
        </p:nvSpPr>
        <p:spPr>
          <a:xfrm>
            <a:off x="5577840" y="3319272"/>
            <a:ext cx="941832" cy="310896"/>
          </a:xfrm>
          <a:prstGeom prst="roundRect">
            <a:avLst>
              <a:gd name="adj" fmla="val 26471"/>
            </a:avLst>
          </a:prstGeom>
          <a:solidFill>
            <a:srgbClr val="EEF2FF"/>
          </a:solidFill>
          <a:ln w="9525">
            <a:solidFill>
              <a:srgbClr val="DC2626"/>
            </a:solidFill>
          </a:ln>
        </p:spPr>
        <p:txBody>
          <a:bodyPr wrap="square" lIns="0" tIns="0" rIns="0" bIns="0" rtlCol="0" anchor="ctr"/>
          <a:lstStyle/>
          <a:p>
            <a:pPr algn="ctr" indent="0" marL="0">
              <a:buNone/>
            </a:pPr>
            <a:r>
              <a:rPr lang="en-US" sz="1150" b="1" dirty="0">
                <a:solidFill>
                  <a:srgbClr val="DC2626"/>
                </a:solidFill>
                <a:latin typeface="Courier New" pitchFamily="34" charset="0"/>
                <a:ea typeface="Courier New" pitchFamily="34" charset="-122"/>
                <a:cs typeface="Courier New" pitchFamily="34" charset="-120"/>
              </a:rPr>
              <a:t>CO-50</a:t>
            </a:r>
            <a:endParaRPr lang="en-US" sz="1150" dirty="0"/>
          </a:p>
        </p:txBody>
      </p:sp>
      <p:sp>
        <p:nvSpPr>
          <p:cNvPr id="14" name="Shape 12"/>
          <p:cNvSpPr/>
          <p:nvPr/>
        </p:nvSpPr>
        <p:spPr>
          <a:xfrm>
            <a:off x="640080" y="3794760"/>
            <a:ext cx="5943600" cy="0"/>
          </a:xfrm>
          <a:prstGeom prst="line">
            <a:avLst/>
          </a:prstGeom>
          <a:noFill/>
          <a:ln w="9525">
            <a:solidFill>
              <a:srgbClr val="DEE6F2"/>
            </a:solidFill>
            <a:prstDash val="solid"/>
          </a:ln>
        </p:spPr>
      </p:sp>
      <p:sp>
        <p:nvSpPr>
          <p:cNvPr id="15" name="Text 13"/>
          <p:cNvSpPr/>
          <p:nvPr/>
        </p:nvSpPr>
        <p:spPr>
          <a:xfrm>
            <a:off x="640080" y="3904488"/>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Prior authorization on file</a:t>
            </a:r>
            <a:endParaRPr lang="en-US" sz="1450" dirty="0"/>
          </a:p>
        </p:txBody>
      </p:sp>
      <p:sp>
        <p:nvSpPr>
          <p:cNvPr id="16" name="Text 14"/>
          <p:cNvSpPr/>
          <p:nvPr/>
        </p:nvSpPr>
        <p:spPr>
          <a:xfrm>
            <a:off x="5577840" y="3941064"/>
            <a:ext cx="1016813" cy="310896"/>
          </a:xfrm>
          <a:prstGeom prst="roundRect">
            <a:avLst>
              <a:gd name="adj" fmla="val 26471"/>
            </a:avLst>
          </a:prstGeom>
          <a:solidFill>
            <a:srgbClr val="EEF2FF"/>
          </a:solidFill>
          <a:ln w="9525">
            <a:solidFill>
              <a:srgbClr val="DC2626"/>
            </a:solidFill>
          </a:ln>
        </p:spPr>
        <p:txBody>
          <a:bodyPr wrap="square" lIns="0" tIns="0" rIns="0" bIns="0" rtlCol="0" anchor="ctr"/>
          <a:lstStyle/>
          <a:p>
            <a:pPr algn="ctr" indent="0" marL="0">
              <a:buNone/>
            </a:pPr>
            <a:r>
              <a:rPr lang="en-US" sz="1150" b="1" dirty="0">
                <a:solidFill>
                  <a:srgbClr val="DC2626"/>
                </a:solidFill>
                <a:latin typeface="Courier New" pitchFamily="34" charset="0"/>
                <a:ea typeface="Courier New" pitchFamily="34" charset="-122"/>
                <a:cs typeface="Courier New" pitchFamily="34" charset="-120"/>
              </a:rPr>
              <a:t>CO-197</a:t>
            </a:r>
            <a:endParaRPr lang="en-US" sz="1150" dirty="0"/>
          </a:p>
        </p:txBody>
      </p:sp>
      <p:sp>
        <p:nvSpPr>
          <p:cNvPr id="17" name="Shape 15"/>
          <p:cNvSpPr/>
          <p:nvPr/>
        </p:nvSpPr>
        <p:spPr>
          <a:xfrm>
            <a:off x="640080" y="4416552"/>
            <a:ext cx="5943600" cy="0"/>
          </a:xfrm>
          <a:prstGeom prst="line">
            <a:avLst/>
          </a:prstGeom>
          <a:noFill/>
          <a:ln w="9525">
            <a:solidFill>
              <a:srgbClr val="DEE6F2"/>
            </a:solidFill>
            <a:prstDash val="solid"/>
          </a:ln>
        </p:spPr>
      </p:sp>
      <p:sp>
        <p:nvSpPr>
          <p:cNvPr id="18" name="Text 16"/>
          <p:cNvSpPr/>
          <p:nvPr/>
        </p:nvSpPr>
        <p:spPr>
          <a:xfrm>
            <a:off x="640080" y="4526280"/>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Documentation supports visit level</a:t>
            </a:r>
            <a:endParaRPr lang="en-US" sz="1450" dirty="0"/>
          </a:p>
        </p:txBody>
      </p:sp>
      <p:sp>
        <p:nvSpPr>
          <p:cNvPr id="19" name="Text 17"/>
          <p:cNvSpPr/>
          <p:nvPr/>
        </p:nvSpPr>
        <p:spPr>
          <a:xfrm>
            <a:off x="5577840" y="4562856"/>
            <a:ext cx="1016813" cy="310896"/>
          </a:xfrm>
          <a:prstGeom prst="roundRect">
            <a:avLst>
              <a:gd name="adj" fmla="val 26471"/>
            </a:avLst>
          </a:prstGeom>
          <a:solidFill>
            <a:srgbClr val="EEF2FF"/>
          </a:solidFill>
          <a:ln w="9525">
            <a:solidFill>
              <a:srgbClr val="DC2626"/>
            </a:solidFill>
          </a:ln>
        </p:spPr>
        <p:txBody>
          <a:bodyPr wrap="square" lIns="0" tIns="0" rIns="0" bIns="0" rtlCol="0" anchor="ctr"/>
          <a:lstStyle/>
          <a:p>
            <a:pPr algn="ctr" indent="0" marL="0">
              <a:buNone/>
            </a:pPr>
            <a:r>
              <a:rPr lang="en-US" sz="1150" b="1" dirty="0">
                <a:solidFill>
                  <a:srgbClr val="DC2626"/>
                </a:solidFill>
                <a:latin typeface="Courier New" pitchFamily="34" charset="0"/>
                <a:ea typeface="Courier New" pitchFamily="34" charset="-122"/>
                <a:cs typeface="Courier New" pitchFamily="34" charset="-120"/>
              </a:rPr>
              <a:t>CO-150</a:t>
            </a:r>
            <a:endParaRPr lang="en-US" sz="1150" dirty="0"/>
          </a:p>
        </p:txBody>
      </p:sp>
      <p:sp>
        <p:nvSpPr>
          <p:cNvPr id="20" name="Shape 18"/>
          <p:cNvSpPr/>
          <p:nvPr/>
        </p:nvSpPr>
        <p:spPr>
          <a:xfrm>
            <a:off x="640080" y="5038344"/>
            <a:ext cx="5943600" cy="0"/>
          </a:xfrm>
          <a:prstGeom prst="line">
            <a:avLst/>
          </a:prstGeom>
          <a:noFill/>
          <a:ln w="9525">
            <a:solidFill>
              <a:srgbClr val="DEE6F2"/>
            </a:solidFill>
            <a:prstDash val="solid"/>
          </a:ln>
        </p:spPr>
      </p:sp>
      <p:sp>
        <p:nvSpPr>
          <p:cNvPr id="21" name="Text 19"/>
          <p:cNvSpPr/>
          <p:nvPr/>
        </p:nvSpPr>
        <p:spPr>
          <a:xfrm>
            <a:off x="640080" y="5148072"/>
            <a:ext cx="4846320" cy="411480"/>
          </a:xfrm>
          <a:prstGeom prst="rect">
            <a:avLst/>
          </a:prstGeom>
          <a:noFill/>
          <a:ln/>
        </p:spPr>
        <p:txBody>
          <a:bodyPr wrap="square" lIns="0" tIns="0" rIns="0" bIns="0" rtlCol="0" anchor="ctr"/>
          <a:lstStyle/>
          <a:p>
            <a:pPr indent="0" marL="0">
              <a:buNone/>
            </a:pPr>
            <a:r>
              <a:rPr lang="en-US" sz="1450" dirty="0">
                <a:solidFill>
                  <a:srgbClr val="1F2933"/>
                </a:solidFill>
                <a:latin typeface="Calibri" pitchFamily="34" charset="0"/>
                <a:ea typeface="Calibri" pitchFamily="34" charset="-122"/>
                <a:cs typeface="Calibri" pitchFamily="34" charset="-120"/>
              </a:rPr>
              <a:t>No unchanged resubmissions</a:t>
            </a:r>
            <a:endParaRPr lang="en-US" sz="1450" dirty="0"/>
          </a:p>
        </p:txBody>
      </p:sp>
      <p:sp>
        <p:nvSpPr>
          <p:cNvPr id="22" name="Text 20"/>
          <p:cNvSpPr/>
          <p:nvPr/>
        </p:nvSpPr>
        <p:spPr>
          <a:xfrm>
            <a:off x="5577840" y="5184648"/>
            <a:ext cx="941832" cy="310896"/>
          </a:xfrm>
          <a:prstGeom prst="roundRect">
            <a:avLst>
              <a:gd name="adj" fmla="val 26471"/>
            </a:avLst>
          </a:prstGeom>
          <a:solidFill>
            <a:srgbClr val="EEF2FF"/>
          </a:solidFill>
          <a:ln w="9525">
            <a:solidFill>
              <a:srgbClr val="5B6B85"/>
            </a:solidFill>
          </a:ln>
        </p:spPr>
        <p:txBody>
          <a:bodyPr wrap="square" lIns="0" tIns="0" rIns="0" bIns="0" rtlCol="0" anchor="ctr"/>
          <a:lstStyle/>
          <a:p>
            <a:pPr algn="ctr" indent="0" marL="0">
              <a:buNone/>
            </a:pPr>
            <a:r>
              <a:rPr lang="en-US" sz="1150" b="1" dirty="0">
                <a:solidFill>
                  <a:srgbClr val="5B6B85"/>
                </a:solidFill>
                <a:latin typeface="Courier New" pitchFamily="34" charset="0"/>
                <a:ea typeface="Courier New" pitchFamily="34" charset="-122"/>
                <a:cs typeface="Courier New" pitchFamily="34" charset="-120"/>
              </a:rPr>
              <a:t>CO-18</a:t>
            </a:r>
            <a:endParaRPr lang="en-US" sz="1150" dirty="0"/>
          </a:p>
        </p:txBody>
      </p:sp>
      <p:sp>
        <p:nvSpPr>
          <p:cNvPr id="23" name="Shape 21"/>
          <p:cNvSpPr/>
          <p:nvPr/>
        </p:nvSpPr>
        <p:spPr>
          <a:xfrm>
            <a:off x="7178040" y="1417320"/>
            <a:ext cx="4434840" cy="4297680"/>
          </a:xfrm>
          <a:prstGeom prst="roundRect">
            <a:avLst>
              <a:gd name="adj" fmla="val 2553"/>
            </a:avLst>
          </a:prstGeom>
          <a:solidFill>
            <a:srgbClr val="F0F7F2"/>
          </a:solidFill>
          <a:ln w="12700">
            <a:solidFill>
              <a:srgbClr val="CBE5D3"/>
            </a:solidFill>
            <a:prstDash val="solid"/>
          </a:ln>
          <a:effectLst>
            <a:outerShdw sx="100000" sy="100000" kx="0" ky="0" algn="bl" rotWithShape="0" blurRad="76200" dist="25400" dir="5400000">
              <a:srgbClr val="94A3B8">
                <a:alpha val="18000"/>
              </a:srgbClr>
            </a:outerShdw>
          </a:effectLst>
        </p:spPr>
      </p:sp>
      <p:sp>
        <p:nvSpPr>
          <p:cNvPr id="24" name="Text 22"/>
          <p:cNvSpPr/>
          <p:nvPr/>
        </p:nvSpPr>
        <p:spPr>
          <a:xfrm>
            <a:off x="7543800" y="1783080"/>
            <a:ext cx="3749040" cy="457200"/>
          </a:xfrm>
          <a:prstGeom prst="rect">
            <a:avLst/>
          </a:prstGeom>
          <a:noFill/>
          <a:ln/>
        </p:spPr>
        <p:txBody>
          <a:bodyPr wrap="square" lIns="0" tIns="0" rIns="0" bIns="0" rtlCol="0" anchor="ctr"/>
          <a:lstStyle/>
          <a:p>
            <a:pPr indent="0" marL="0">
              <a:buNone/>
            </a:pPr>
            <a:r>
              <a:rPr lang="en-US" sz="1800" b="1" dirty="0">
                <a:solidFill>
                  <a:srgbClr val="16A34A"/>
                </a:solidFill>
                <a:latin typeface="Arial" pitchFamily="34" charset="0"/>
                <a:ea typeface="Arial" pitchFamily="34" charset="-122"/>
                <a:cs typeface="Arial" pitchFamily="34" charset="-120"/>
              </a:rPr>
              <a:t>Why deterministic?</a:t>
            </a:r>
            <a:endParaRPr lang="en-US" sz="1800" dirty="0"/>
          </a:p>
        </p:txBody>
      </p:sp>
      <p:sp>
        <p:nvSpPr>
          <p:cNvPr id="25" name="Text 23"/>
          <p:cNvSpPr/>
          <p:nvPr/>
        </p:nvSpPr>
        <p:spPr>
          <a:xfrm>
            <a:off x="7543800" y="2331720"/>
            <a:ext cx="3794760" cy="3108960"/>
          </a:xfrm>
          <a:prstGeom prst="rect">
            <a:avLst/>
          </a:prstGeom>
          <a:noFill/>
          <a:ln/>
        </p:spPr>
        <p:txBody>
          <a:bodyPr wrap="square" rtlCol="0" anchor="ctr"/>
          <a:lstStyle/>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Recovery rates become attributable: any change in verdict is caused by the agent's revision.</a:t>
            </a:r>
            <a:endParaRPr lang="en-US" sz="1400" dirty="0"/>
          </a:p>
          <a:p>
            <a:pPr marL="342900" indent="-342900">
              <a:spcAft>
                <a:spcPts val="1000"/>
              </a:spcAft>
              <a:buSzPct val="100000"/>
              <a:buChar char="•"/>
            </a:pPr>
            <a:r>
              <a:rPr lang="en-US" sz="1400" dirty="0">
                <a:solidFill>
                  <a:srgbClr val="1F2933"/>
                </a:solidFill>
                <a:latin typeface="Calibri" pitchFamily="34" charset="0"/>
                <a:ea typeface="Calibri" pitchFamily="34" charset="-122"/>
                <a:cs typeface="Calibri" pitchFamily="34" charset="-120"/>
              </a:rPr>
              <a:t>Appeals get a real review: the payer re-reads the full documented diagnosis list, like a human reviewer.</a:t>
            </a:r>
            <a:endParaRPr lang="en-US" sz="1400" dirty="0"/>
          </a:p>
          <a:p>
            <a:pPr marL="342900" indent="-342900">
              <a:buSzPct val="100000"/>
              <a:buChar char="•"/>
            </a:pPr>
            <a:r>
              <a:rPr lang="en-US" sz="1400" dirty="0">
                <a:solidFill>
                  <a:srgbClr val="1F2933"/>
                </a:solidFill>
                <a:latin typeface="Calibri" pitchFamily="34" charset="0"/>
                <a:ea typeface="Calibri" pitchFamily="34" charset="-122"/>
                <a:cs typeface="Calibri" pitchFamily="34" charset="-120"/>
              </a:rPr>
              <a:t>The policy is illustrative fiction, disclosed as such. It is the environment, not the dataset.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Watching the agents work</a:t>
            </a:r>
            <a:endParaRPr lang="en-US" sz="3000" dirty="0"/>
          </a:p>
        </p:txBody>
      </p:sp>
      <p:sp>
        <p:nvSpPr>
          <p:cNvPr id="3" name="Shape 1"/>
          <p:cNvSpPr/>
          <p:nvPr/>
        </p:nvSpPr>
        <p:spPr>
          <a:xfrm>
            <a:off x="594360" y="1371600"/>
            <a:ext cx="6675120" cy="4572000"/>
          </a:xfrm>
          <a:prstGeom prst="roundRect">
            <a:avLst>
              <a:gd name="adj" fmla="val 2400"/>
            </a:avLst>
          </a:prstGeom>
          <a:solidFill>
            <a:srgbClr val="111A30"/>
          </a:solidFill>
          <a:ln w="12700">
            <a:solidFill>
              <a:srgbClr val="1A2545"/>
            </a:solidFill>
            <a:prstDash val="solid"/>
          </a:ln>
          <a:effectLst>
            <a:outerShdw sx="100000" sy="100000" kx="0" ky="0" algn="bl" rotWithShape="0" blurRad="76200" dist="25400" dir="5400000">
              <a:srgbClr val="94A3B8">
                <a:alpha val="18000"/>
              </a:srgbClr>
            </a:outerShdw>
          </a:effectLst>
        </p:spPr>
      </p:sp>
      <p:sp>
        <p:nvSpPr>
          <p:cNvPr id="4" name="Shape 2"/>
          <p:cNvSpPr/>
          <p:nvPr/>
        </p:nvSpPr>
        <p:spPr>
          <a:xfrm>
            <a:off x="960120" y="1783080"/>
            <a:ext cx="237744" cy="237744"/>
          </a:xfrm>
          <a:prstGeom prst="ellipse">
            <a:avLst/>
          </a:prstGeom>
          <a:solidFill>
            <a:srgbClr val="111A30"/>
          </a:solidFill>
          <a:ln w="25400">
            <a:solidFill>
              <a:srgbClr val="16A34A"/>
            </a:solidFill>
            <a:prstDash val="solid"/>
          </a:ln>
        </p:spPr>
      </p:sp>
      <p:sp>
        <p:nvSpPr>
          <p:cNvPr id="5" name="Text 3"/>
          <p:cNvSpPr/>
          <p:nvPr/>
        </p:nvSpPr>
        <p:spPr>
          <a:xfrm>
            <a:off x="1325880" y="1709928"/>
            <a:ext cx="1463040" cy="365760"/>
          </a:xfrm>
          <a:prstGeom prst="rect">
            <a:avLst/>
          </a:prstGeom>
          <a:noFill/>
          <a:ln/>
        </p:spPr>
        <p:txBody>
          <a:bodyPr wrap="square" lIns="0" tIns="0" rIns="0" bIns="0" rtlCol="0" anchor="ctr"/>
          <a:lstStyle/>
          <a:p>
            <a:pPr indent="0" marL="0">
              <a:buNone/>
            </a:pPr>
            <a:r>
              <a:rPr lang="en-US" sz="1350" dirty="0">
                <a:solidFill>
                  <a:srgbClr val="E5EAF5"/>
                </a:solidFill>
                <a:latin typeface="Calibri" pitchFamily="34" charset="0"/>
                <a:ea typeface="Calibri" pitchFamily="34" charset="-122"/>
                <a:cs typeface="Calibri" pitchFamily="34" charset="-120"/>
              </a:rPr>
              <a:t>Scribe</a:t>
            </a:r>
            <a:endParaRPr lang="en-US" sz="1350" dirty="0"/>
          </a:p>
        </p:txBody>
      </p:sp>
      <p:sp>
        <p:nvSpPr>
          <p:cNvPr id="6" name="Shape 4"/>
          <p:cNvSpPr/>
          <p:nvPr/>
        </p:nvSpPr>
        <p:spPr>
          <a:xfrm>
            <a:off x="960120" y="2587752"/>
            <a:ext cx="237744" cy="237744"/>
          </a:xfrm>
          <a:prstGeom prst="ellipse">
            <a:avLst/>
          </a:prstGeom>
          <a:solidFill>
            <a:srgbClr val="111A30"/>
          </a:solidFill>
          <a:ln w="25400">
            <a:solidFill>
              <a:srgbClr val="16A34A"/>
            </a:solidFill>
            <a:prstDash val="solid"/>
          </a:ln>
        </p:spPr>
      </p:sp>
      <p:sp>
        <p:nvSpPr>
          <p:cNvPr id="7" name="Text 5"/>
          <p:cNvSpPr/>
          <p:nvPr/>
        </p:nvSpPr>
        <p:spPr>
          <a:xfrm>
            <a:off x="1325880" y="2514600"/>
            <a:ext cx="1463040" cy="365760"/>
          </a:xfrm>
          <a:prstGeom prst="rect">
            <a:avLst/>
          </a:prstGeom>
          <a:noFill/>
          <a:ln/>
        </p:spPr>
        <p:txBody>
          <a:bodyPr wrap="square" lIns="0" tIns="0" rIns="0" bIns="0" rtlCol="0" anchor="ctr"/>
          <a:lstStyle/>
          <a:p>
            <a:pPr indent="0" marL="0">
              <a:buNone/>
            </a:pPr>
            <a:r>
              <a:rPr lang="en-US" sz="1350" dirty="0">
                <a:solidFill>
                  <a:srgbClr val="E5EAF5"/>
                </a:solidFill>
                <a:latin typeface="Calibri" pitchFamily="34" charset="0"/>
                <a:ea typeface="Calibri" pitchFamily="34" charset="-122"/>
                <a:cs typeface="Calibri" pitchFamily="34" charset="-120"/>
              </a:rPr>
              <a:t>Coder</a:t>
            </a:r>
            <a:endParaRPr lang="en-US" sz="1350" dirty="0"/>
          </a:p>
        </p:txBody>
      </p:sp>
      <p:sp>
        <p:nvSpPr>
          <p:cNvPr id="8" name="Shape 6"/>
          <p:cNvSpPr/>
          <p:nvPr/>
        </p:nvSpPr>
        <p:spPr>
          <a:xfrm>
            <a:off x="960120" y="3392424"/>
            <a:ext cx="237744" cy="237744"/>
          </a:xfrm>
          <a:prstGeom prst="ellipse">
            <a:avLst/>
          </a:prstGeom>
          <a:solidFill>
            <a:srgbClr val="111A30"/>
          </a:solidFill>
          <a:ln w="25400">
            <a:solidFill>
              <a:srgbClr val="16A34A"/>
            </a:solidFill>
            <a:prstDash val="solid"/>
          </a:ln>
        </p:spPr>
      </p:sp>
      <p:sp>
        <p:nvSpPr>
          <p:cNvPr id="9" name="Text 7"/>
          <p:cNvSpPr/>
          <p:nvPr/>
        </p:nvSpPr>
        <p:spPr>
          <a:xfrm>
            <a:off x="1325880" y="3319272"/>
            <a:ext cx="1463040" cy="365760"/>
          </a:xfrm>
          <a:prstGeom prst="rect">
            <a:avLst/>
          </a:prstGeom>
          <a:noFill/>
          <a:ln/>
        </p:spPr>
        <p:txBody>
          <a:bodyPr wrap="square" lIns="0" tIns="0" rIns="0" bIns="0" rtlCol="0" anchor="ctr"/>
          <a:lstStyle/>
          <a:p>
            <a:pPr indent="0" marL="0">
              <a:buNone/>
            </a:pPr>
            <a:r>
              <a:rPr lang="en-US" sz="1350" dirty="0">
                <a:solidFill>
                  <a:srgbClr val="E5EAF5"/>
                </a:solidFill>
                <a:latin typeface="Calibri" pitchFamily="34" charset="0"/>
                <a:ea typeface="Calibri" pitchFamily="34" charset="-122"/>
                <a:cs typeface="Calibri" pitchFamily="34" charset="-120"/>
              </a:rPr>
              <a:t>Claim</a:t>
            </a:r>
            <a:endParaRPr lang="en-US" sz="1350" dirty="0"/>
          </a:p>
        </p:txBody>
      </p:sp>
      <p:sp>
        <p:nvSpPr>
          <p:cNvPr id="10" name="Shape 8"/>
          <p:cNvSpPr/>
          <p:nvPr/>
        </p:nvSpPr>
        <p:spPr>
          <a:xfrm>
            <a:off x="960120" y="4197096"/>
            <a:ext cx="237744" cy="237744"/>
          </a:xfrm>
          <a:prstGeom prst="ellipse">
            <a:avLst/>
          </a:prstGeom>
          <a:solidFill>
            <a:srgbClr val="111A30"/>
          </a:solidFill>
          <a:ln w="25400">
            <a:solidFill>
              <a:srgbClr val="DC2626"/>
            </a:solidFill>
            <a:prstDash val="solid"/>
          </a:ln>
        </p:spPr>
      </p:sp>
      <p:sp>
        <p:nvSpPr>
          <p:cNvPr id="11" name="Text 9"/>
          <p:cNvSpPr/>
          <p:nvPr/>
        </p:nvSpPr>
        <p:spPr>
          <a:xfrm>
            <a:off x="1325880" y="4123944"/>
            <a:ext cx="1463040" cy="365760"/>
          </a:xfrm>
          <a:prstGeom prst="rect">
            <a:avLst/>
          </a:prstGeom>
          <a:noFill/>
          <a:ln/>
        </p:spPr>
        <p:txBody>
          <a:bodyPr wrap="square" lIns="0" tIns="0" rIns="0" bIns="0" rtlCol="0" anchor="ctr"/>
          <a:lstStyle/>
          <a:p>
            <a:pPr indent="0" marL="0">
              <a:buNone/>
            </a:pPr>
            <a:r>
              <a:rPr lang="en-US" sz="1350" dirty="0">
                <a:solidFill>
                  <a:srgbClr val="E5EAF5"/>
                </a:solidFill>
                <a:latin typeface="Calibri" pitchFamily="34" charset="0"/>
                <a:ea typeface="Calibri" pitchFamily="34" charset="-122"/>
                <a:cs typeface="Calibri" pitchFamily="34" charset="-120"/>
              </a:rPr>
              <a:t>Payer</a:t>
            </a:r>
            <a:endParaRPr lang="en-US" sz="1350" dirty="0"/>
          </a:p>
        </p:txBody>
      </p:sp>
      <p:sp>
        <p:nvSpPr>
          <p:cNvPr id="12" name="Shape 10"/>
          <p:cNvSpPr/>
          <p:nvPr/>
        </p:nvSpPr>
        <p:spPr>
          <a:xfrm>
            <a:off x="960120" y="5001768"/>
            <a:ext cx="237744" cy="237744"/>
          </a:xfrm>
          <a:prstGeom prst="ellipse">
            <a:avLst/>
          </a:prstGeom>
          <a:solidFill>
            <a:srgbClr val="111A30"/>
          </a:solidFill>
          <a:ln w="25400">
            <a:solidFill>
              <a:srgbClr val="2563EB"/>
            </a:solidFill>
            <a:prstDash val="solid"/>
          </a:ln>
        </p:spPr>
      </p:sp>
      <p:sp>
        <p:nvSpPr>
          <p:cNvPr id="13" name="Text 11"/>
          <p:cNvSpPr/>
          <p:nvPr/>
        </p:nvSpPr>
        <p:spPr>
          <a:xfrm>
            <a:off x="1325880" y="4928616"/>
            <a:ext cx="1463040" cy="365760"/>
          </a:xfrm>
          <a:prstGeom prst="rect">
            <a:avLst/>
          </a:prstGeom>
          <a:noFill/>
          <a:ln/>
        </p:spPr>
        <p:txBody>
          <a:bodyPr wrap="square" lIns="0" tIns="0" rIns="0" bIns="0" rtlCol="0" anchor="ctr"/>
          <a:lstStyle/>
          <a:p>
            <a:pPr indent="0" marL="0">
              <a:buNone/>
            </a:pPr>
            <a:r>
              <a:rPr lang="en-US" sz="1350" dirty="0">
                <a:solidFill>
                  <a:srgbClr val="E5EAF5"/>
                </a:solidFill>
                <a:latin typeface="Calibri" pitchFamily="34" charset="0"/>
                <a:ea typeface="Calibri" pitchFamily="34" charset="-122"/>
                <a:cs typeface="Calibri" pitchFamily="34" charset="-120"/>
              </a:rPr>
              <a:t>Resolver</a:t>
            </a:r>
            <a:endParaRPr lang="en-US" sz="1350" dirty="0"/>
          </a:p>
        </p:txBody>
      </p:sp>
      <p:sp>
        <p:nvSpPr>
          <p:cNvPr id="14" name="Shape 12"/>
          <p:cNvSpPr/>
          <p:nvPr/>
        </p:nvSpPr>
        <p:spPr>
          <a:xfrm>
            <a:off x="2926080" y="1691640"/>
            <a:ext cx="0" cy="3931920"/>
          </a:xfrm>
          <a:prstGeom prst="line">
            <a:avLst/>
          </a:prstGeom>
          <a:noFill/>
          <a:ln w="12700">
            <a:solidFill>
              <a:srgbClr val="1A2545"/>
            </a:solidFill>
            <a:prstDash val="solid"/>
          </a:ln>
        </p:spPr>
      </p:sp>
      <p:sp>
        <p:nvSpPr>
          <p:cNvPr id="15" name="Text 13"/>
          <p:cNvSpPr/>
          <p:nvPr/>
        </p:nvSpPr>
        <p:spPr>
          <a:xfrm>
            <a:off x="3200400" y="1783080"/>
            <a:ext cx="3840480" cy="384048"/>
          </a:xfrm>
          <a:prstGeom prst="rect">
            <a:avLst/>
          </a:prstGeom>
          <a:noFill/>
          <a:ln/>
        </p:spPr>
        <p:txBody>
          <a:bodyPr wrap="square" lIns="0" tIns="0" rIns="0" bIns="0" rtlCol="0" anchor="ctr"/>
          <a:lstStyle/>
          <a:p>
            <a:pPr indent="0" marL="0">
              <a:buNone/>
            </a:pPr>
            <a:r>
              <a:rPr lang="en-US" sz="1050" dirty="0">
                <a:solidFill>
                  <a:srgbClr val="9DB0D0"/>
                </a:solidFill>
                <a:latin typeface="Courier New" pitchFamily="34" charset="0"/>
                <a:ea typeface="Courier New" pitchFamily="34" charset="-122"/>
                <a:cs typeface="Courier New" pitchFamily="34" charset="-120"/>
              </a:rPr>
              <a:t>Coder agent is assigning ICD-10-CM and CPT codes</a:t>
            </a:r>
            <a:endParaRPr lang="en-US" sz="1050" dirty="0"/>
          </a:p>
        </p:txBody>
      </p:sp>
      <p:sp>
        <p:nvSpPr>
          <p:cNvPr id="16" name="Text 14"/>
          <p:cNvSpPr/>
          <p:nvPr/>
        </p:nvSpPr>
        <p:spPr>
          <a:xfrm>
            <a:off x="3200400" y="2240280"/>
            <a:ext cx="3840480" cy="384048"/>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tool&gt; search_icd10({"query": "right knee pain"})</a:t>
            </a:r>
            <a:endParaRPr lang="en-US" sz="1050" dirty="0"/>
          </a:p>
        </p:txBody>
      </p:sp>
      <p:sp>
        <p:nvSpPr>
          <p:cNvPr id="17" name="Text 15"/>
          <p:cNvSpPr/>
          <p:nvPr/>
        </p:nvSpPr>
        <p:spPr>
          <a:xfrm>
            <a:off x="3200400" y="2697480"/>
            <a:ext cx="3840480" cy="384048"/>
          </a:xfrm>
          <a:prstGeom prst="rect">
            <a:avLst/>
          </a:prstGeom>
          <a:noFill/>
          <a:ln/>
        </p:spPr>
        <p:txBody>
          <a:bodyPr wrap="square" lIns="0" tIns="0" rIns="0" bIns="0" rtlCol="0" anchor="ctr"/>
          <a:lstStyle/>
          <a:p>
            <a:pPr indent="0" marL="0">
              <a:buNone/>
            </a:pPr>
            <a:r>
              <a:rPr lang="en-US" sz="1050" dirty="0">
                <a:solidFill>
                  <a:srgbClr val="16A34A"/>
                </a:solidFill>
                <a:latin typeface="Courier New" pitchFamily="34" charset="0"/>
                <a:ea typeface="Courier New" pitchFamily="34" charset="-122"/>
                <a:cs typeface="Courier New" pitchFamily="34" charset="-120"/>
              </a:rPr>
              <a:t>  -&gt; [{"code": "M25.561", "name": "Pain in right knee"}]</a:t>
            </a:r>
            <a:endParaRPr lang="en-US" sz="1050" dirty="0"/>
          </a:p>
        </p:txBody>
      </p:sp>
      <p:sp>
        <p:nvSpPr>
          <p:cNvPr id="18" name="Text 16"/>
          <p:cNvSpPr/>
          <p:nvPr/>
        </p:nvSpPr>
        <p:spPr>
          <a:xfrm>
            <a:off x="3200400" y="3154680"/>
            <a:ext cx="3840480" cy="384048"/>
          </a:xfrm>
          <a:prstGeom prst="rect">
            <a:avLst/>
          </a:prstGeom>
          <a:noFill/>
          <a:ln/>
        </p:spPr>
        <p:txBody>
          <a:bodyPr wrap="square" lIns="0" tIns="0" rIns="0" bIns="0" rtlCol="0" anchor="ctr"/>
          <a:lstStyle/>
          <a:p>
            <a:pPr indent="0" marL="0">
              <a:buNone/>
            </a:pPr>
            <a:r>
              <a:rPr lang="en-US" sz="1050" dirty="0">
                <a:solidFill>
                  <a:srgbClr val="8FA3C8"/>
                </a:solidFill>
                <a:latin typeface="Courier New" pitchFamily="34" charset="0"/>
                <a:ea typeface="Courier New" pitchFamily="34" charset="-122"/>
                <a:cs typeface="Courier New" pitchFamily="34" charset="-120"/>
              </a:rPr>
              <a:t>{ "diagnoses": [ { "icd10_code": "M25.561", ...</a:t>
            </a:r>
            <a:endParaRPr lang="en-US" sz="1050" dirty="0"/>
          </a:p>
        </p:txBody>
      </p:sp>
      <p:sp>
        <p:nvSpPr>
          <p:cNvPr id="19" name="Text 17"/>
          <p:cNvSpPr/>
          <p:nvPr/>
        </p:nvSpPr>
        <p:spPr>
          <a:xfrm>
            <a:off x="3200400" y="3611880"/>
            <a:ext cx="3840480" cy="384048"/>
          </a:xfrm>
          <a:prstGeom prst="rect">
            <a:avLst/>
          </a:prstGeom>
          <a:noFill/>
          <a:ln/>
        </p:spPr>
        <p:txBody>
          <a:bodyPr wrap="square" lIns="0" tIns="0" rIns="0" bIns="0" rtlCol="0" anchor="ctr"/>
          <a:lstStyle/>
          <a:p>
            <a:pPr indent="0" marL="0">
              <a:buNone/>
            </a:pPr>
            <a:r>
              <a:rPr lang="en-US" sz="1050" dirty="0">
                <a:solidFill>
                  <a:srgbClr val="D97706"/>
                </a:solidFill>
                <a:latin typeface="Courier New" pitchFamily="34" charset="0"/>
                <a:ea typeface="Courier New" pitchFamily="34" charset="-122"/>
                <a:cs typeface="Courier New" pitchFamily="34" charset="-120"/>
              </a:rPr>
              <a:t>tool&gt; request_prior_auth({"cpt_code": "73721"})</a:t>
            </a:r>
            <a:endParaRPr lang="en-US" sz="1050" dirty="0"/>
          </a:p>
        </p:txBody>
      </p:sp>
      <p:sp>
        <p:nvSpPr>
          <p:cNvPr id="20" name="Text 18"/>
          <p:cNvSpPr/>
          <p:nvPr/>
        </p:nvSpPr>
        <p:spPr>
          <a:xfrm>
            <a:off x="3200400" y="4069080"/>
            <a:ext cx="3840480" cy="384048"/>
          </a:xfrm>
          <a:prstGeom prst="rect">
            <a:avLst/>
          </a:prstGeom>
          <a:noFill/>
          <a:ln/>
        </p:spPr>
        <p:txBody>
          <a:bodyPr wrap="square" lIns="0" tIns="0" rIns="0" bIns="0" rtlCol="0" anchor="ctr"/>
          <a:lstStyle/>
          <a:p>
            <a:pPr indent="0" marL="0">
              <a:buNone/>
            </a:pPr>
            <a:r>
              <a:rPr lang="en-US" sz="1050" dirty="0">
                <a:solidFill>
                  <a:srgbClr val="16A34A"/>
                </a:solidFill>
                <a:latin typeface="Courier New" pitchFamily="34" charset="0"/>
                <a:ea typeface="Courier New" pitchFamily="34" charset="-122"/>
                <a:cs typeface="Courier New" pitchFamily="34" charset="-120"/>
              </a:rPr>
              <a:t>  -&gt; {"status": "approved", "auth_number": "PA402113"}</a:t>
            </a:r>
            <a:endParaRPr lang="en-US" sz="1050" dirty="0"/>
          </a:p>
        </p:txBody>
      </p:sp>
      <p:sp>
        <p:nvSpPr>
          <p:cNvPr id="21" name="Text 19"/>
          <p:cNvSpPr/>
          <p:nvPr/>
        </p:nvSpPr>
        <p:spPr>
          <a:xfrm>
            <a:off x="3200400" y="4709160"/>
            <a:ext cx="1691640" cy="384048"/>
          </a:xfrm>
          <a:prstGeom prst="roundRect">
            <a:avLst>
              <a:gd name="adj" fmla="val 19048"/>
            </a:avLst>
          </a:prstGeom>
          <a:solidFill>
            <a:srgbClr val="2F1214"/>
          </a:solidFill>
          <a:ln w="15875">
            <a:solidFill>
              <a:srgbClr val="DC2626"/>
            </a:solidFill>
          </a:ln>
        </p:spPr>
        <p:txBody>
          <a:bodyPr wrap="square" lIns="0" tIns="0" rIns="0" bIns="0" rtlCol="0" anchor="ctr"/>
          <a:lstStyle/>
          <a:p>
            <a:pPr algn="ctr" indent="0" marL="0">
              <a:buNone/>
            </a:pPr>
            <a:r>
              <a:rPr lang="en-US" sz="1100" b="1" dirty="0">
                <a:solidFill>
                  <a:srgbClr val="DC2626"/>
                </a:solidFill>
                <a:latin typeface="Courier New" pitchFamily="34" charset="0"/>
                <a:ea typeface="Courier New" pitchFamily="34" charset="-122"/>
                <a:cs typeface="Courier New" pitchFamily="34" charset="-120"/>
              </a:rPr>
              <a:t>DENIED CO-197</a:t>
            </a:r>
            <a:endParaRPr lang="en-US" sz="1100" dirty="0"/>
          </a:p>
        </p:txBody>
      </p:sp>
      <p:sp>
        <p:nvSpPr>
          <p:cNvPr id="22" name="Text 20"/>
          <p:cNvSpPr/>
          <p:nvPr/>
        </p:nvSpPr>
        <p:spPr>
          <a:xfrm>
            <a:off x="4983480" y="4709160"/>
            <a:ext cx="868680" cy="384048"/>
          </a:xfrm>
          <a:prstGeom prst="rect">
            <a:avLst/>
          </a:prstGeom>
          <a:noFill/>
          <a:ln/>
        </p:spPr>
        <p:txBody>
          <a:bodyPr wrap="square" lIns="0" tIns="0" rIns="0" bIns="0" rtlCol="0" anchor="ctr"/>
          <a:lstStyle/>
          <a:p>
            <a:pPr algn="ctr" indent="0" marL="0">
              <a:buNone/>
            </a:pPr>
            <a:r>
              <a:rPr lang="en-US" sz="1100" dirty="0">
                <a:solidFill>
                  <a:srgbClr val="9DB0D0"/>
                </a:solidFill>
                <a:latin typeface="Calibri" pitchFamily="34" charset="0"/>
                <a:ea typeface="Calibri" pitchFamily="34" charset="-122"/>
                <a:cs typeface="Calibri" pitchFamily="34" charset="-120"/>
              </a:rPr>
              <a:t>resubmit</a:t>
            </a:r>
            <a:endParaRPr lang="en-US" sz="1100" dirty="0"/>
          </a:p>
        </p:txBody>
      </p:sp>
      <p:sp>
        <p:nvSpPr>
          <p:cNvPr id="23" name="Text 21"/>
          <p:cNvSpPr/>
          <p:nvPr/>
        </p:nvSpPr>
        <p:spPr>
          <a:xfrm>
            <a:off x="5897880" y="4709160"/>
            <a:ext cx="1188720" cy="384048"/>
          </a:xfrm>
          <a:prstGeom prst="roundRect">
            <a:avLst>
              <a:gd name="adj" fmla="val 19048"/>
            </a:avLst>
          </a:prstGeom>
          <a:solidFill>
            <a:srgbClr val="0C2B22"/>
          </a:solidFill>
          <a:ln w="15875">
            <a:solidFill>
              <a:srgbClr val="16A34A"/>
            </a:solidFill>
          </a:ln>
        </p:spPr>
        <p:txBody>
          <a:bodyPr wrap="square" lIns="0" tIns="0" rIns="0" bIns="0" rtlCol="0" anchor="ctr"/>
          <a:lstStyle/>
          <a:p>
            <a:pPr algn="ctr" indent="0" marL="0">
              <a:buNone/>
            </a:pPr>
            <a:r>
              <a:rPr lang="en-US" sz="1100" b="1" dirty="0">
                <a:solidFill>
                  <a:srgbClr val="16A34A"/>
                </a:solidFill>
                <a:latin typeface="Courier New" pitchFamily="34" charset="0"/>
                <a:ea typeface="Courier New" pitchFamily="34" charset="-122"/>
                <a:cs typeface="Courier New" pitchFamily="34" charset="-120"/>
              </a:rPr>
              <a:t>ACCEPTED</a:t>
            </a:r>
            <a:endParaRPr lang="en-US" sz="1100" dirty="0"/>
          </a:p>
        </p:txBody>
      </p:sp>
      <p:sp>
        <p:nvSpPr>
          <p:cNvPr id="24" name="Shape 22"/>
          <p:cNvSpPr/>
          <p:nvPr/>
        </p:nvSpPr>
        <p:spPr>
          <a:xfrm>
            <a:off x="7635240" y="1645920"/>
            <a:ext cx="128016" cy="128016"/>
          </a:xfrm>
          <a:prstGeom prst="ellipse">
            <a:avLst/>
          </a:prstGeom>
          <a:solidFill>
            <a:srgbClr val="2563EB"/>
          </a:solidFill>
          <a:ln/>
        </p:spPr>
      </p:sp>
      <p:sp>
        <p:nvSpPr>
          <p:cNvPr id="25" name="Text 23"/>
          <p:cNvSpPr/>
          <p:nvPr/>
        </p:nvSpPr>
        <p:spPr>
          <a:xfrm>
            <a:off x="7882128" y="1508760"/>
            <a:ext cx="3749040" cy="82296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Live token streams from every agent, over server-sent events</a:t>
            </a:r>
            <a:endParaRPr lang="en-US" sz="1350" dirty="0"/>
          </a:p>
        </p:txBody>
      </p:sp>
      <p:sp>
        <p:nvSpPr>
          <p:cNvPr id="26" name="Shape 24"/>
          <p:cNvSpPr/>
          <p:nvPr/>
        </p:nvSpPr>
        <p:spPr>
          <a:xfrm>
            <a:off x="7635240" y="2651760"/>
            <a:ext cx="128016" cy="128016"/>
          </a:xfrm>
          <a:prstGeom prst="ellipse">
            <a:avLst/>
          </a:prstGeom>
          <a:solidFill>
            <a:srgbClr val="D97706"/>
          </a:solidFill>
          <a:ln/>
        </p:spPr>
      </p:sp>
      <p:sp>
        <p:nvSpPr>
          <p:cNvPr id="27" name="Text 25"/>
          <p:cNvSpPr/>
          <p:nvPr/>
        </p:nvSpPr>
        <p:spPr>
          <a:xfrm>
            <a:off x="7882128" y="2514600"/>
            <a:ext cx="3749040" cy="82296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Tool calls shown as they happen: code lookups, the auth portal</a:t>
            </a:r>
            <a:endParaRPr lang="en-US" sz="1350" dirty="0"/>
          </a:p>
        </p:txBody>
      </p:sp>
      <p:sp>
        <p:nvSpPr>
          <p:cNvPr id="28" name="Shape 26"/>
          <p:cNvSpPr/>
          <p:nvPr/>
        </p:nvSpPr>
        <p:spPr>
          <a:xfrm>
            <a:off x="7635240" y="3657600"/>
            <a:ext cx="128016" cy="128016"/>
          </a:xfrm>
          <a:prstGeom prst="ellipse">
            <a:avLst/>
          </a:prstGeom>
          <a:solidFill>
            <a:srgbClr val="DC2626"/>
          </a:solidFill>
          <a:ln/>
        </p:spPr>
      </p:sp>
      <p:sp>
        <p:nvSpPr>
          <p:cNvPr id="29" name="Text 27"/>
          <p:cNvSpPr/>
          <p:nvPr/>
        </p:nvSpPr>
        <p:spPr>
          <a:xfrm>
            <a:off x="7882128" y="3520440"/>
            <a:ext cx="3749040" cy="82296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Claims stamped accepted or denied, with the payer's reason codes</a:t>
            </a:r>
            <a:endParaRPr lang="en-US" sz="1350" dirty="0"/>
          </a:p>
        </p:txBody>
      </p:sp>
      <p:sp>
        <p:nvSpPr>
          <p:cNvPr id="30" name="Shape 28"/>
          <p:cNvSpPr/>
          <p:nvPr/>
        </p:nvSpPr>
        <p:spPr>
          <a:xfrm>
            <a:off x="7635240" y="4663440"/>
            <a:ext cx="128016" cy="128016"/>
          </a:xfrm>
          <a:prstGeom prst="ellipse">
            <a:avLst/>
          </a:prstGeom>
          <a:solidFill>
            <a:srgbClr val="16A34A"/>
          </a:solidFill>
          <a:ln/>
        </p:spPr>
      </p:sp>
      <p:sp>
        <p:nvSpPr>
          <p:cNvPr id="31" name="Text 29"/>
          <p:cNvSpPr/>
          <p:nvPr/>
        </p:nvSpPr>
        <p:spPr>
          <a:xfrm>
            <a:off x="7882128" y="4526280"/>
            <a:ext cx="3749040" cy="822960"/>
          </a:xfrm>
          <a:prstGeom prst="rect">
            <a:avLst/>
          </a:prstGeom>
          <a:noFill/>
          <a:ln/>
        </p:spPr>
        <p:txBody>
          <a:bodyPr wrap="square" lIns="0" tIns="0" rIns="0" bIns="0" rtlCol="0" anchor="ctr"/>
          <a:lstStyle/>
          <a:p>
            <a:pPr indent="0" marL="0">
              <a:buNone/>
            </a:pPr>
            <a:r>
              <a:rPr lang="en-US" sz="1350" dirty="0">
                <a:solidFill>
                  <a:srgbClr val="1F2933"/>
                </a:solidFill>
                <a:latin typeface="Calibri" pitchFamily="34" charset="0"/>
                <a:ea typeface="Calibri" pitchFamily="34" charset="-122"/>
                <a:cs typeface="Calibri" pitchFamily="34" charset="-120"/>
              </a:rPr>
              <a:t>A mock playback mode demos the UI without spending tokens</a:t>
            </a:r>
            <a:endParaRPr lang="en-US" sz="1350" dirty="0"/>
          </a:p>
        </p:txBody>
      </p:sp>
      <p:sp>
        <p:nvSpPr>
          <p:cNvPr id="32" name="Text 30"/>
          <p:cNvSpPr/>
          <p:nvPr/>
        </p:nvSpPr>
        <p:spPr>
          <a:xfrm>
            <a:off x="7882128" y="5577840"/>
            <a:ext cx="3657600" cy="365760"/>
          </a:xfrm>
          <a:prstGeom prst="rect">
            <a:avLst/>
          </a:prstGeom>
          <a:noFill/>
          <a:ln/>
        </p:spPr>
        <p:txBody>
          <a:bodyPr wrap="square" lIns="0" tIns="0" rIns="0" bIns="0" rtlCol="0" anchor="ctr"/>
          <a:lstStyle/>
          <a:p>
            <a:pPr indent="0" marL="0">
              <a:buNone/>
            </a:pPr>
            <a:r>
              <a:rPr lang="en-US" sz="1200" i="1" dirty="0">
                <a:solidFill>
                  <a:srgbClr val="5B6B85"/>
                </a:solidFill>
                <a:latin typeface="Calibri" pitchFamily="34" charset="0"/>
                <a:ea typeface="Calibri" pitchFamily="34" charset="-122"/>
                <a:cs typeface="Calibri" pitchFamily="34" charset="-120"/>
              </a:rPr>
              <a:t>(live demo in the video)</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Sixty encounters, end to end</a:t>
            </a:r>
            <a:endParaRPr lang="en-US" sz="3000" dirty="0"/>
          </a:p>
        </p:txBody>
      </p:sp>
      <p:graphicFrame>
        <p:nvGraphicFramePr>
          <p:cNvPr id="3" name="Chart 0" descr=""/>
          <p:cNvGraphicFramePr/>
          <p:nvPr/>
        </p:nvGraphicFramePr>
        <p:xfrm>
          <a:off x="594360" y="1554480"/>
          <a:ext cx="676656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863840" y="1463040"/>
            <a:ext cx="3657600" cy="868680"/>
          </a:xfrm>
          <a:prstGeom prst="rect">
            <a:avLst/>
          </a:prstGeom>
          <a:noFill/>
          <a:ln/>
        </p:spPr>
        <p:txBody>
          <a:bodyPr wrap="square" lIns="0" tIns="0" rIns="0" bIns="0" rtlCol="0" anchor="ctr"/>
          <a:lstStyle/>
          <a:p>
            <a:pPr algn="l" indent="0" marL="0">
              <a:buNone/>
            </a:pPr>
            <a:r>
              <a:rPr lang="en-US" sz="5400" b="1" dirty="0">
                <a:solidFill>
                  <a:srgbClr val="16A34A"/>
                </a:solidFill>
                <a:latin typeface="Arial" pitchFamily="34" charset="0"/>
                <a:ea typeface="Arial" pitchFamily="34" charset="-122"/>
                <a:cs typeface="Arial" pitchFamily="34" charset="-120"/>
              </a:rPr>
              <a:t>83.3%</a:t>
            </a:r>
            <a:endParaRPr lang="en-US" sz="5400" dirty="0"/>
          </a:p>
        </p:txBody>
      </p:sp>
      <p:sp>
        <p:nvSpPr>
          <p:cNvPr id="5" name="Text 2"/>
          <p:cNvSpPr/>
          <p:nvPr/>
        </p:nvSpPr>
        <p:spPr>
          <a:xfrm>
            <a:off x="7863840" y="2359152"/>
            <a:ext cx="3657600" cy="777240"/>
          </a:xfrm>
          <a:prstGeom prst="rect">
            <a:avLst/>
          </a:prstGeom>
          <a:noFill/>
          <a:ln/>
        </p:spPr>
        <p:txBody>
          <a:bodyPr wrap="square" lIns="0" tIns="0" rIns="0" bIns="0" rtlCol="0" anchor="ctr"/>
          <a:lstStyle/>
          <a:p>
            <a:pPr algn="l" indent="0" marL="0">
              <a:buNone/>
            </a:pPr>
            <a:r>
              <a:rPr lang="en-US" sz="1250" dirty="0">
                <a:solidFill>
                  <a:srgbClr val="5B6B85"/>
                </a:solidFill>
                <a:latin typeface="Calibri" pitchFamily="34" charset="0"/>
                <a:ea typeface="Calibri" pitchFamily="34" charset="-122"/>
                <a:cs typeface="Calibri" pitchFamily="34" charset="-120"/>
              </a:rPr>
              <a:t>of claims accepted on the first submission</a:t>
            </a:r>
            <a:endParaRPr lang="en-US" sz="1250" dirty="0"/>
          </a:p>
        </p:txBody>
      </p:sp>
      <p:sp>
        <p:nvSpPr>
          <p:cNvPr id="6" name="Text 3"/>
          <p:cNvSpPr/>
          <p:nvPr/>
        </p:nvSpPr>
        <p:spPr>
          <a:xfrm>
            <a:off x="7863840" y="3063240"/>
            <a:ext cx="3657600" cy="868680"/>
          </a:xfrm>
          <a:prstGeom prst="rect">
            <a:avLst/>
          </a:prstGeom>
          <a:noFill/>
          <a:ln/>
        </p:spPr>
        <p:txBody>
          <a:bodyPr wrap="square" lIns="0" tIns="0" rIns="0" bIns="0" rtlCol="0" anchor="ctr"/>
          <a:lstStyle/>
          <a:p>
            <a:pPr algn="l" indent="0" marL="0">
              <a:buNone/>
            </a:pPr>
            <a:r>
              <a:rPr lang="en-US" sz="5400" b="1" dirty="0">
                <a:solidFill>
                  <a:srgbClr val="2563EB"/>
                </a:solidFill>
                <a:latin typeface="Arial" pitchFamily="34" charset="0"/>
                <a:ea typeface="Arial" pitchFamily="34" charset="-122"/>
                <a:cs typeface="Arial" pitchFamily="34" charset="-120"/>
              </a:rPr>
              <a:t>96.7%</a:t>
            </a:r>
            <a:endParaRPr lang="en-US" sz="5400" dirty="0"/>
          </a:p>
        </p:txBody>
      </p:sp>
      <p:sp>
        <p:nvSpPr>
          <p:cNvPr id="7" name="Text 4"/>
          <p:cNvSpPr/>
          <p:nvPr/>
        </p:nvSpPr>
        <p:spPr>
          <a:xfrm>
            <a:off x="7863840" y="3959352"/>
            <a:ext cx="3657600" cy="777240"/>
          </a:xfrm>
          <a:prstGeom prst="rect">
            <a:avLst/>
          </a:prstGeom>
          <a:noFill/>
          <a:ln/>
        </p:spPr>
        <p:txBody>
          <a:bodyPr wrap="square" lIns="0" tIns="0" rIns="0" bIns="0" rtlCol="0" anchor="ctr"/>
          <a:lstStyle/>
          <a:p>
            <a:pPr algn="l" indent="0" marL="0">
              <a:buNone/>
            </a:pPr>
            <a:r>
              <a:rPr lang="en-US" sz="1250" dirty="0">
                <a:solidFill>
                  <a:srgbClr val="5B6B85"/>
                </a:solidFill>
                <a:latin typeface="Calibri" pitchFamily="34" charset="0"/>
                <a:ea typeface="Calibri" pitchFamily="34" charset="-122"/>
                <a:cs typeface="Calibri" pitchFamily="34" charset="-120"/>
              </a:rPr>
              <a:t>final acceptance after the denial loop, 58 of 60 paid</a:t>
            </a:r>
            <a:endParaRPr lang="en-US" sz="1250" dirty="0"/>
          </a:p>
        </p:txBody>
      </p:sp>
      <p:sp>
        <p:nvSpPr>
          <p:cNvPr id="8" name="Text 5"/>
          <p:cNvSpPr/>
          <p:nvPr/>
        </p:nvSpPr>
        <p:spPr>
          <a:xfrm>
            <a:off x="7863840" y="5029200"/>
            <a:ext cx="3657600" cy="548640"/>
          </a:xfrm>
          <a:prstGeom prst="rect">
            <a:avLst/>
          </a:prstGeom>
          <a:noFill/>
          <a:ln/>
        </p:spPr>
        <p:txBody>
          <a:bodyPr wrap="square" lIns="0" tIns="0" rIns="0" bIns="0" rtlCol="0" anchor="ctr"/>
          <a:lstStyle/>
          <a:p>
            <a:pPr indent="0" marL="0">
              <a:buNone/>
            </a:pPr>
            <a:r>
              <a:rPr lang="en-US" sz="1300" i="1" dirty="0">
                <a:solidFill>
                  <a:srgbClr val="5B6B85"/>
                </a:solidFill>
                <a:latin typeface="Calibri" pitchFamily="34" charset="0"/>
                <a:ea typeface="Calibri" pitchFamily="34" charset="-122"/>
                <a:cs typeface="Calibri" pitchFamily="34" charset="-120"/>
              </a:rPr>
              <a:t>mean 1.17 submissions, 33 seconds per encounter</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What the loop can and cannot fix</a:t>
            </a:r>
            <a:endParaRPr lang="en-US" sz="3000" dirty="0"/>
          </a:p>
        </p:txBody>
      </p:sp>
      <p:graphicFrame>
        <p:nvGraphicFramePr>
          <p:cNvPr id="3" name="Chart 0" descr=""/>
          <p:cNvGraphicFramePr/>
          <p:nvPr/>
        </p:nvGraphicFramePr>
        <p:xfrm>
          <a:off x="594360" y="1554480"/>
          <a:ext cx="6583680" cy="393192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7452360" y="1554480"/>
            <a:ext cx="1016813" cy="310896"/>
          </a:xfrm>
          <a:prstGeom prst="roundRect">
            <a:avLst>
              <a:gd name="adj" fmla="val 26471"/>
            </a:avLst>
          </a:prstGeom>
          <a:solidFill>
            <a:srgbClr val="EEF2FF"/>
          </a:solidFill>
          <a:ln w="9525">
            <a:solidFill>
              <a:srgbClr val="16A34A"/>
            </a:solidFill>
          </a:ln>
        </p:spPr>
        <p:txBody>
          <a:bodyPr wrap="square" lIns="0" tIns="0" rIns="0" bIns="0" rtlCol="0" anchor="ctr"/>
          <a:lstStyle/>
          <a:p>
            <a:pPr algn="ctr" indent="0" marL="0">
              <a:buNone/>
            </a:pPr>
            <a:r>
              <a:rPr lang="en-US" sz="1150" b="1" dirty="0">
                <a:solidFill>
                  <a:srgbClr val="16A34A"/>
                </a:solidFill>
                <a:latin typeface="Courier New" pitchFamily="34" charset="0"/>
                <a:ea typeface="Courier New" pitchFamily="34" charset="-122"/>
                <a:cs typeface="Courier New" pitchFamily="34" charset="-120"/>
              </a:rPr>
              <a:t>CO-197</a:t>
            </a:r>
            <a:endParaRPr lang="en-US" sz="1150" dirty="0"/>
          </a:p>
        </p:txBody>
      </p:sp>
      <p:sp>
        <p:nvSpPr>
          <p:cNvPr id="5" name="Text 2"/>
          <p:cNvSpPr/>
          <p:nvPr/>
        </p:nvSpPr>
        <p:spPr>
          <a:xfrm>
            <a:off x="8732520" y="1536192"/>
            <a:ext cx="2834640" cy="3657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prior authorization</a:t>
            </a:r>
            <a:endParaRPr lang="en-US" sz="1350" dirty="0"/>
          </a:p>
        </p:txBody>
      </p:sp>
      <p:sp>
        <p:nvSpPr>
          <p:cNvPr id="6" name="Text 3"/>
          <p:cNvSpPr/>
          <p:nvPr/>
        </p:nvSpPr>
        <p:spPr>
          <a:xfrm>
            <a:off x="7452360" y="1938528"/>
            <a:ext cx="4114800" cy="914400"/>
          </a:xfrm>
          <a:prstGeom prst="rect">
            <a:avLst/>
          </a:prstGeom>
          <a:noFill/>
          <a:ln/>
        </p:spPr>
        <p:txBody>
          <a:bodyPr wrap="square" lIns="0" tIns="0" rIns="0" bIns="0" rtlCol="0" anchor="ctr"/>
          <a:lstStyle/>
          <a:p>
            <a:pPr indent="0" marL="0">
              <a:buNone/>
            </a:pPr>
            <a:r>
              <a:rPr lang="en-US" sz="1200" dirty="0">
                <a:solidFill>
                  <a:srgbClr val="5B6B85"/>
                </a:solidFill>
                <a:latin typeface="Calibri" pitchFamily="34" charset="0"/>
                <a:ea typeface="Calibri" pitchFamily="34" charset="-122"/>
                <a:cs typeface="Calibri" pitchFamily="34" charset="-120"/>
              </a:rPr>
              <a:t>2 of 2 automated away: the resolver calls the auth portal tool and resubmits with the number attached</a:t>
            </a:r>
            <a:endParaRPr lang="en-US" sz="1200" dirty="0"/>
          </a:p>
        </p:txBody>
      </p:sp>
      <p:sp>
        <p:nvSpPr>
          <p:cNvPr id="7" name="Text 4"/>
          <p:cNvSpPr/>
          <p:nvPr/>
        </p:nvSpPr>
        <p:spPr>
          <a:xfrm>
            <a:off x="7452360" y="2971800"/>
            <a:ext cx="1016813" cy="310896"/>
          </a:xfrm>
          <a:prstGeom prst="roundRect">
            <a:avLst>
              <a:gd name="adj" fmla="val 26471"/>
            </a:avLst>
          </a:prstGeom>
          <a:solidFill>
            <a:srgbClr val="EEF2FF"/>
          </a:solidFill>
          <a:ln w="9525">
            <a:solidFill>
              <a:srgbClr val="16A34A"/>
            </a:solidFill>
          </a:ln>
        </p:spPr>
        <p:txBody>
          <a:bodyPr wrap="square" lIns="0" tIns="0" rIns="0" bIns="0" rtlCol="0" anchor="ctr"/>
          <a:lstStyle/>
          <a:p>
            <a:pPr algn="ctr" indent="0" marL="0">
              <a:buNone/>
            </a:pPr>
            <a:r>
              <a:rPr lang="en-US" sz="1150" b="1" dirty="0">
                <a:solidFill>
                  <a:srgbClr val="16A34A"/>
                </a:solidFill>
                <a:latin typeface="Courier New" pitchFamily="34" charset="0"/>
                <a:ea typeface="Courier New" pitchFamily="34" charset="-122"/>
                <a:cs typeface="Courier New" pitchFamily="34" charset="-120"/>
              </a:rPr>
              <a:t>CO-150</a:t>
            </a:r>
            <a:endParaRPr lang="en-US" sz="1150" dirty="0"/>
          </a:p>
        </p:txBody>
      </p:sp>
      <p:sp>
        <p:nvSpPr>
          <p:cNvPr id="8" name="Text 5"/>
          <p:cNvSpPr/>
          <p:nvPr/>
        </p:nvSpPr>
        <p:spPr>
          <a:xfrm>
            <a:off x="8732520" y="2953512"/>
            <a:ext cx="2834640" cy="3657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documentation level</a:t>
            </a:r>
            <a:endParaRPr lang="en-US" sz="1350" dirty="0"/>
          </a:p>
        </p:txBody>
      </p:sp>
      <p:sp>
        <p:nvSpPr>
          <p:cNvPr id="9" name="Text 6"/>
          <p:cNvSpPr/>
          <p:nvPr/>
        </p:nvSpPr>
        <p:spPr>
          <a:xfrm>
            <a:off x="7452360" y="3355848"/>
            <a:ext cx="4114800" cy="914400"/>
          </a:xfrm>
          <a:prstGeom prst="rect">
            <a:avLst/>
          </a:prstGeom>
          <a:noFill/>
          <a:ln/>
        </p:spPr>
        <p:txBody>
          <a:bodyPr wrap="square" lIns="0" tIns="0" rIns="0" bIns="0" rtlCol="0" anchor="ctr"/>
          <a:lstStyle/>
          <a:p>
            <a:pPr indent="0" marL="0">
              <a:buNone/>
            </a:pPr>
            <a:r>
              <a:rPr lang="en-US" sz="1200" dirty="0">
                <a:solidFill>
                  <a:srgbClr val="5B6B85"/>
                </a:solidFill>
                <a:latin typeface="Calibri" pitchFamily="34" charset="0"/>
                <a:ea typeface="Calibri" pitchFamily="34" charset="-122"/>
                <a:cs typeface="Calibri" pitchFamily="34" charset="-120"/>
              </a:rPr>
              <a:t>2 of 2 fixed: added a documented diagnosis the coder dropped, or downcoded the visit</a:t>
            </a:r>
            <a:endParaRPr lang="en-US" sz="1200" dirty="0"/>
          </a:p>
        </p:txBody>
      </p:sp>
      <p:sp>
        <p:nvSpPr>
          <p:cNvPr id="10" name="Text 7"/>
          <p:cNvSpPr/>
          <p:nvPr/>
        </p:nvSpPr>
        <p:spPr>
          <a:xfrm>
            <a:off x="7452360" y="4389120"/>
            <a:ext cx="941832" cy="310896"/>
          </a:xfrm>
          <a:prstGeom prst="roundRect">
            <a:avLst>
              <a:gd name="adj" fmla="val 26471"/>
            </a:avLst>
          </a:prstGeom>
          <a:solidFill>
            <a:srgbClr val="EEF2FF"/>
          </a:solidFill>
          <a:ln w="9525">
            <a:solidFill>
              <a:srgbClr val="D97706"/>
            </a:solidFill>
          </a:ln>
        </p:spPr>
        <p:txBody>
          <a:bodyPr wrap="square" lIns="0" tIns="0" rIns="0" bIns="0" rtlCol="0" anchor="ctr"/>
          <a:lstStyle/>
          <a:p>
            <a:pPr algn="ctr" indent="0" marL="0">
              <a:buNone/>
            </a:pPr>
            <a:r>
              <a:rPr lang="en-US" sz="1150" b="1" dirty="0">
                <a:solidFill>
                  <a:srgbClr val="D97706"/>
                </a:solidFill>
                <a:latin typeface="Courier New" pitchFamily="34" charset="0"/>
                <a:ea typeface="Courier New" pitchFamily="34" charset="-122"/>
                <a:cs typeface="Courier New" pitchFamily="34" charset="-120"/>
              </a:rPr>
              <a:t>CO-50</a:t>
            </a:r>
            <a:endParaRPr lang="en-US" sz="1150" dirty="0"/>
          </a:p>
        </p:txBody>
      </p:sp>
      <p:sp>
        <p:nvSpPr>
          <p:cNvPr id="11" name="Text 8"/>
          <p:cNvSpPr/>
          <p:nvPr/>
        </p:nvSpPr>
        <p:spPr>
          <a:xfrm>
            <a:off x="8732520" y="4370832"/>
            <a:ext cx="2834640" cy="365760"/>
          </a:xfrm>
          <a:prstGeom prst="rect">
            <a:avLst/>
          </a:prstGeom>
          <a:noFill/>
          <a:ln/>
        </p:spPr>
        <p:txBody>
          <a:bodyPr wrap="square" lIns="0" tIns="0" rIns="0" bIns="0" rtlCol="0" anchor="ctr"/>
          <a:lstStyle/>
          <a:p>
            <a:pPr indent="0" marL="0">
              <a:buNone/>
            </a:pPr>
            <a:r>
              <a:rPr lang="en-US" sz="1350" b="1" dirty="0">
                <a:solidFill>
                  <a:srgbClr val="1F2933"/>
                </a:solidFill>
                <a:latin typeface="Arial" pitchFamily="34" charset="0"/>
                <a:ea typeface="Arial" pitchFamily="34" charset="-122"/>
                <a:cs typeface="Arial" pitchFamily="34" charset="-120"/>
              </a:rPr>
              <a:t>medical necessity</a:t>
            </a:r>
            <a:endParaRPr lang="en-US" sz="1350" dirty="0"/>
          </a:p>
        </p:txBody>
      </p:sp>
      <p:sp>
        <p:nvSpPr>
          <p:cNvPr id="12" name="Text 9"/>
          <p:cNvSpPr/>
          <p:nvPr/>
        </p:nvSpPr>
        <p:spPr>
          <a:xfrm>
            <a:off x="7452360" y="4773168"/>
            <a:ext cx="4114800" cy="914400"/>
          </a:xfrm>
          <a:prstGeom prst="rect">
            <a:avLst/>
          </a:prstGeom>
          <a:noFill/>
          <a:ln/>
        </p:spPr>
        <p:txBody>
          <a:bodyPr wrap="square" lIns="0" tIns="0" rIns="0" bIns="0" rtlCol="0" anchor="ctr"/>
          <a:lstStyle/>
          <a:p>
            <a:pPr indent="0" marL="0">
              <a:buNone/>
            </a:pPr>
            <a:r>
              <a:rPr lang="en-US" sz="1200" dirty="0">
                <a:solidFill>
                  <a:srgbClr val="5B6B85"/>
                </a:solidFill>
                <a:latin typeface="Calibri" pitchFamily="34" charset="0"/>
                <a:ea typeface="Calibri" pitchFamily="34" charset="-122"/>
                <a:cs typeface="Calibri" pitchFamily="34" charset="-120"/>
              </a:rPr>
              <a:t>6 of 8, the hard category. Includes 2 written appeals, both overturned on review</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The cheap model was enough</a:t>
            </a:r>
            <a:endParaRPr lang="en-US" sz="3000" dirty="0"/>
          </a:p>
        </p:txBody>
      </p:sp>
      <p:graphicFrame>
        <p:nvGraphicFramePr>
          <p:cNvPr id="3" name="Chart 0" descr=""/>
          <p:cNvGraphicFramePr/>
          <p:nvPr/>
        </p:nvGraphicFramePr>
        <p:xfrm>
          <a:off x="594360" y="160020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4" name="Text 1"/>
          <p:cNvSpPr/>
          <p:nvPr/>
        </p:nvSpPr>
        <p:spPr>
          <a:xfrm>
            <a:off x="594360" y="5486400"/>
            <a:ext cx="6035040" cy="365760"/>
          </a:xfrm>
          <a:prstGeom prst="rect">
            <a:avLst/>
          </a:prstGeom>
          <a:noFill/>
          <a:ln/>
        </p:spPr>
        <p:txBody>
          <a:bodyPr wrap="square" lIns="0" tIns="0" rIns="0" bIns="0" rtlCol="0" anchor="ctr"/>
          <a:lstStyle/>
          <a:p>
            <a:pPr algn="ctr" indent="0" marL="0">
              <a:buNone/>
            </a:pPr>
            <a:r>
              <a:rPr lang="en-US" sz="1250" i="1" dirty="0">
                <a:solidFill>
                  <a:srgbClr val="5B6B85"/>
                </a:solidFill>
                <a:latin typeface="Calibri" pitchFamily="34" charset="0"/>
                <a:ea typeface="Calibri" pitchFamily="34" charset="-122"/>
                <a:cs typeface="Calibri" pitchFamily="34" charset="-120"/>
              </a:rPr>
              <a:t>identical outcomes on the shared 20 encounters</a:t>
            </a:r>
            <a:endParaRPr lang="en-US" sz="1250" dirty="0"/>
          </a:p>
        </p:txBody>
      </p:sp>
      <p:sp>
        <p:nvSpPr>
          <p:cNvPr id="5" name="Text 2"/>
          <p:cNvSpPr/>
          <p:nvPr/>
        </p:nvSpPr>
        <p:spPr>
          <a:xfrm>
            <a:off x="7223760" y="1554480"/>
            <a:ext cx="4206240" cy="868680"/>
          </a:xfrm>
          <a:prstGeom prst="rect">
            <a:avLst/>
          </a:prstGeom>
          <a:noFill/>
          <a:ln/>
        </p:spPr>
        <p:txBody>
          <a:bodyPr wrap="square" lIns="0" tIns="0" rIns="0" bIns="0" rtlCol="0" anchor="ctr"/>
          <a:lstStyle/>
          <a:p>
            <a:pPr algn="l" indent="0" marL="0">
              <a:buNone/>
            </a:pPr>
            <a:r>
              <a:rPr lang="en-US" sz="5400" b="1" dirty="0">
                <a:solidFill>
                  <a:srgbClr val="2563EB"/>
                </a:solidFill>
                <a:latin typeface="Arial" pitchFamily="34" charset="0"/>
                <a:ea typeface="Arial" pitchFamily="34" charset="-122"/>
                <a:cs typeface="Arial" pitchFamily="34" charset="-120"/>
              </a:rPr>
              <a:t>$0.0039</a:t>
            </a:r>
            <a:endParaRPr lang="en-US" sz="5400" dirty="0"/>
          </a:p>
        </p:txBody>
      </p:sp>
      <p:sp>
        <p:nvSpPr>
          <p:cNvPr id="6" name="Text 3"/>
          <p:cNvSpPr/>
          <p:nvPr/>
        </p:nvSpPr>
        <p:spPr>
          <a:xfrm>
            <a:off x="7223760" y="2450592"/>
            <a:ext cx="4206240" cy="777240"/>
          </a:xfrm>
          <a:prstGeom prst="rect">
            <a:avLst/>
          </a:prstGeom>
          <a:noFill/>
          <a:ln/>
        </p:spPr>
        <p:txBody>
          <a:bodyPr wrap="square" lIns="0" tIns="0" rIns="0" bIns="0" rtlCol="0" anchor="ctr"/>
          <a:lstStyle/>
          <a:p>
            <a:pPr algn="l" indent="0" marL="0">
              <a:buNone/>
            </a:pPr>
            <a:r>
              <a:rPr lang="en-US" sz="1250" dirty="0">
                <a:solidFill>
                  <a:srgbClr val="5B6B85"/>
                </a:solidFill>
                <a:latin typeface="Calibri" pitchFamily="34" charset="0"/>
                <a:ea typeface="Calibri" pitchFamily="34" charset="-122"/>
                <a:cs typeface="Calibri" pitchFamily="34" charset="-120"/>
              </a:rPr>
              <a:t>per encounter on the budget tier (terra costs 5.5x for the same outcome here)</a:t>
            </a:r>
            <a:endParaRPr lang="en-US" sz="1250" dirty="0"/>
          </a:p>
        </p:txBody>
      </p:sp>
      <p:sp>
        <p:nvSpPr>
          <p:cNvPr id="7" name="Text 4"/>
          <p:cNvSpPr/>
          <p:nvPr/>
        </p:nvSpPr>
        <p:spPr>
          <a:xfrm>
            <a:off x="7223760" y="3291840"/>
            <a:ext cx="4206240" cy="868680"/>
          </a:xfrm>
          <a:prstGeom prst="rect">
            <a:avLst/>
          </a:prstGeom>
          <a:noFill/>
          <a:ln/>
        </p:spPr>
        <p:txBody>
          <a:bodyPr wrap="square" lIns="0" tIns="0" rIns="0" bIns="0" rtlCol="0" anchor="ctr"/>
          <a:lstStyle/>
          <a:p>
            <a:pPr algn="l" indent="0" marL="0">
              <a:buNone/>
            </a:pPr>
            <a:r>
              <a:rPr lang="en-US" sz="5400" b="1" dirty="0">
                <a:solidFill>
                  <a:srgbClr val="7C3AED"/>
                </a:solidFill>
                <a:latin typeface="Arial" pitchFamily="34" charset="0"/>
                <a:ea typeface="Arial" pitchFamily="34" charset="-122"/>
                <a:cs typeface="Arial" pitchFamily="34" charset="-120"/>
              </a:rPr>
              <a:t>$0.23</a:t>
            </a:r>
            <a:endParaRPr lang="en-US" sz="5400" dirty="0"/>
          </a:p>
        </p:txBody>
      </p:sp>
      <p:sp>
        <p:nvSpPr>
          <p:cNvPr id="8" name="Text 5"/>
          <p:cNvSpPr/>
          <p:nvPr/>
        </p:nvSpPr>
        <p:spPr>
          <a:xfrm>
            <a:off x="7223760" y="4187952"/>
            <a:ext cx="4206240" cy="777240"/>
          </a:xfrm>
          <a:prstGeom prst="rect">
            <a:avLst/>
          </a:prstGeom>
          <a:noFill/>
          <a:ln/>
        </p:spPr>
        <p:txBody>
          <a:bodyPr wrap="square" lIns="0" tIns="0" rIns="0" bIns="0" rtlCol="0" anchor="ctr"/>
          <a:lstStyle/>
          <a:p>
            <a:pPr algn="l" indent="0" marL="0">
              <a:buNone/>
            </a:pPr>
            <a:r>
              <a:rPr lang="en-US" sz="1250" dirty="0">
                <a:solidFill>
                  <a:srgbClr val="5B6B85"/>
                </a:solidFill>
                <a:latin typeface="Calibri" pitchFamily="34" charset="0"/>
                <a:ea typeface="Calibri" pitchFamily="34" charset="-122"/>
                <a:cs typeface="Calibri" pitchFamily="34" charset="-120"/>
              </a:rPr>
              <a:t>total inference cost of the entire 60-encounter study</a:t>
            </a:r>
            <a:endParaRPr lang="en-US" sz="1250" dirty="0"/>
          </a:p>
        </p:txBody>
      </p:sp>
      <p:sp>
        <p:nvSpPr>
          <p:cNvPr id="9" name="Text 6"/>
          <p:cNvSpPr/>
          <p:nvPr/>
        </p:nvSpPr>
        <p:spPr>
          <a:xfrm>
            <a:off x="7223760" y="5257800"/>
            <a:ext cx="4206240" cy="548640"/>
          </a:xfrm>
          <a:prstGeom prst="rect">
            <a:avLst/>
          </a:prstGeom>
          <a:noFill/>
          <a:ln/>
        </p:spPr>
        <p:txBody>
          <a:bodyPr wrap="square" lIns="0" tIns="0" rIns="0" bIns="0" rtlCol="0" anchor="ctr"/>
          <a:lstStyle/>
          <a:p>
            <a:pPr indent="0" marL="0">
              <a:buNone/>
            </a:pPr>
            <a:r>
              <a:rPr lang="en-US" sz="1500" b="1" i="1" dirty="0">
                <a:solidFill>
                  <a:srgbClr val="1F2933"/>
                </a:solidFill>
                <a:latin typeface="Arial" pitchFamily="34" charset="0"/>
                <a:ea typeface="Arial" pitchFamily="34" charset="-122"/>
                <a:cs typeface="Arial" pitchFamily="34" charset="-120"/>
              </a:rPr>
              <a:t>Scaffolding earned more than the model upgrade.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1F2933"/>
                </a:solidFill>
                <a:latin typeface="Arial" pitchFamily="34" charset="0"/>
                <a:ea typeface="Arial" pitchFamily="34" charset="-122"/>
                <a:cs typeface="Arial" pitchFamily="34" charset="-120"/>
              </a:rPr>
              <a:t>Two failures worth more than the wins</a:t>
            </a:r>
            <a:endParaRPr lang="en-US" sz="3000" dirty="0"/>
          </a:p>
        </p:txBody>
      </p:sp>
      <p:sp>
        <p:nvSpPr>
          <p:cNvPr id="3" name="Shape 1"/>
          <p:cNvSpPr/>
          <p:nvPr/>
        </p:nvSpPr>
        <p:spPr>
          <a:xfrm>
            <a:off x="594360" y="1417320"/>
            <a:ext cx="5486400" cy="3977640"/>
          </a:xfrm>
          <a:prstGeom prst="roundRect">
            <a:avLst>
              <a:gd name="adj" fmla="val 2759"/>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4" name="Shape 2"/>
          <p:cNvSpPr/>
          <p:nvPr/>
        </p:nvSpPr>
        <p:spPr>
          <a:xfrm>
            <a:off x="960120" y="1783080"/>
            <a:ext cx="475488" cy="475488"/>
          </a:xfrm>
          <a:prstGeom prst="ellipse">
            <a:avLst/>
          </a:prstGeom>
          <a:solidFill>
            <a:srgbClr val="DC2626"/>
          </a:solidFill>
          <a:ln/>
        </p:spPr>
      </p:sp>
      <p:pic>
        <p:nvPicPr>
          <p:cNvPr id="5" name="Image 0" descr="preencoded.png">    </p:cNvPr>
          <p:cNvPicPr>
            <a:picLocks noChangeAspect="1"/>
          </p:cNvPicPr>
          <p:nvPr/>
        </p:nvPicPr>
        <p:blipFill>
          <a:blip r:embed="rId1"/>
          <a:stretch>
            <a:fillRect/>
          </a:stretch>
        </p:blipFill>
        <p:spPr>
          <a:xfrm>
            <a:off x="1083747" y="1906707"/>
            <a:ext cx="228234" cy="228234"/>
          </a:xfrm>
          <a:prstGeom prst="rect">
            <a:avLst/>
          </a:prstGeom>
        </p:spPr>
      </p:pic>
      <p:sp>
        <p:nvSpPr>
          <p:cNvPr id="6" name="Text 3"/>
          <p:cNvSpPr/>
          <p:nvPr/>
        </p:nvSpPr>
        <p:spPr>
          <a:xfrm>
            <a:off x="1600200" y="1847088"/>
            <a:ext cx="4206240" cy="41148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The oscillator (encounter D2N102)</a:t>
            </a:r>
            <a:endParaRPr lang="en-US" sz="1700" dirty="0"/>
          </a:p>
        </p:txBody>
      </p:sp>
      <p:sp>
        <p:nvSpPr>
          <p:cNvPr id="7" name="Text 4"/>
          <p:cNvSpPr/>
          <p:nvPr/>
        </p:nvSpPr>
        <p:spPr>
          <a:xfrm>
            <a:off x="960120" y="2487168"/>
            <a:ext cx="713232" cy="292608"/>
          </a:xfrm>
          <a:prstGeom prst="roundRect">
            <a:avLst>
              <a:gd name="adj" fmla="val 28125"/>
            </a:avLst>
          </a:prstGeom>
          <a:solidFill>
            <a:srgbClr val="EEF2FF"/>
          </a:solidFill>
          <a:ln w="9525">
            <a:solidFill>
              <a:srgbClr val="D97706"/>
            </a:solidFill>
          </a:ln>
        </p:spPr>
        <p:txBody>
          <a:bodyPr wrap="square" lIns="0" tIns="0" rIns="0" bIns="0" rtlCol="0" anchor="ctr"/>
          <a:lstStyle/>
          <a:p>
            <a:pPr algn="ctr" indent="0" marL="0">
              <a:buNone/>
            </a:pPr>
            <a:r>
              <a:rPr lang="en-US" sz="950" b="1" dirty="0">
                <a:solidFill>
                  <a:srgbClr val="D97706"/>
                </a:solidFill>
                <a:latin typeface="Courier New" pitchFamily="34" charset="0"/>
                <a:ea typeface="Courier New" pitchFamily="34" charset="-122"/>
                <a:cs typeface="Courier New" pitchFamily="34" charset="-120"/>
              </a:rPr>
              <a:t>R31.0</a:t>
            </a:r>
            <a:endParaRPr lang="en-US" sz="950" dirty="0"/>
          </a:p>
        </p:txBody>
      </p:sp>
      <p:sp>
        <p:nvSpPr>
          <p:cNvPr id="8" name="Text 5"/>
          <p:cNvSpPr/>
          <p:nvPr/>
        </p:nvSpPr>
        <p:spPr>
          <a:xfrm>
            <a:off x="1700784" y="2487168"/>
            <a:ext cx="182880" cy="292608"/>
          </a:xfrm>
          <a:prstGeom prst="rect">
            <a:avLst/>
          </a:prstGeom>
          <a:noFill/>
          <a:ln/>
        </p:spPr>
        <p:txBody>
          <a:bodyPr wrap="square" lIns="0" tIns="0" rIns="0" bIns="0" rtlCol="0" anchor="ctr"/>
          <a:lstStyle/>
          <a:p>
            <a:pPr algn="ctr" indent="0" marL="0">
              <a:buNone/>
            </a:pPr>
            <a:r>
              <a:rPr lang="en-US" sz="1100" b="1" dirty="0">
                <a:solidFill>
                  <a:srgbClr val="5B6B85"/>
                </a:solidFill>
                <a:latin typeface="Courier New" pitchFamily="34" charset="0"/>
                <a:ea typeface="Courier New" pitchFamily="34" charset="-122"/>
                <a:cs typeface="Courier New" pitchFamily="34" charset="-120"/>
              </a:rPr>
              <a:t>&gt;</a:t>
            </a:r>
            <a:endParaRPr lang="en-US" sz="1100" dirty="0"/>
          </a:p>
        </p:txBody>
      </p:sp>
      <p:sp>
        <p:nvSpPr>
          <p:cNvPr id="9" name="Text 6"/>
          <p:cNvSpPr/>
          <p:nvPr/>
        </p:nvSpPr>
        <p:spPr>
          <a:xfrm>
            <a:off x="1911096" y="2487168"/>
            <a:ext cx="713232" cy="292608"/>
          </a:xfrm>
          <a:prstGeom prst="roundRect">
            <a:avLst>
              <a:gd name="adj" fmla="val 28125"/>
            </a:avLst>
          </a:prstGeom>
          <a:solidFill>
            <a:srgbClr val="EEF2FF"/>
          </a:solidFill>
          <a:ln w="9525">
            <a:solidFill>
              <a:srgbClr val="DC2626"/>
            </a:solidFill>
          </a:ln>
        </p:spPr>
        <p:txBody>
          <a:bodyPr wrap="square" lIns="0" tIns="0" rIns="0" bIns="0" rtlCol="0" anchor="ctr"/>
          <a:lstStyle/>
          <a:p>
            <a:pPr algn="ctr" indent="0" marL="0">
              <a:buNone/>
            </a:pPr>
            <a:r>
              <a:rPr lang="en-US" sz="950" b="1" dirty="0">
                <a:solidFill>
                  <a:srgbClr val="DC2626"/>
                </a:solidFill>
                <a:latin typeface="Courier New" pitchFamily="34" charset="0"/>
                <a:ea typeface="Courier New" pitchFamily="34" charset="-122"/>
                <a:cs typeface="Courier New" pitchFamily="34" charset="-120"/>
              </a:rPr>
              <a:t>CO-50</a:t>
            </a:r>
            <a:endParaRPr lang="en-US" sz="950" dirty="0"/>
          </a:p>
        </p:txBody>
      </p:sp>
      <p:sp>
        <p:nvSpPr>
          <p:cNvPr id="10" name="Text 7"/>
          <p:cNvSpPr/>
          <p:nvPr/>
        </p:nvSpPr>
        <p:spPr>
          <a:xfrm>
            <a:off x="2651760" y="2487168"/>
            <a:ext cx="182880" cy="292608"/>
          </a:xfrm>
          <a:prstGeom prst="rect">
            <a:avLst/>
          </a:prstGeom>
          <a:noFill/>
          <a:ln/>
        </p:spPr>
        <p:txBody>
          <a:bodyPr wrap="square" lIns="0" tIns="0" rIns="0" bIns="0" rtlCol="0" anchor="ctr"/>
          <a:lstStyle/>
          <a:p>
            <a:pPr algn="ctr" indent="0" marL="0">
              <a:buNone/>
            </a:pPr>
            <a:r>
              <a:rPr lang="en-US" sz="1100" b="1" dirty="0">
                <a:solidFill>
                  <a:srgbClr val="5B6B85"/>
                </a:solidFill>
                <a:latin typeface="Courier New" pitchFamily="34" charset="0"/>
                <a:ea typeface="Courier New" pitchFamily="34" charset="-122"/>
                <a:cs typeface="Courier New" pitchFamily="34" charset="-120"/>
              </a:rPr>
              <a:t>&gt;</a:t>
            </a:r>
            <a:endParaRPr lang="en-US" sz="1100" dirty="0"/>
          </a:p>
        </p:txBody>
      </p:sp>
      <p:sp>
        <p:nvSpPr>
          <p:cNvPr id="11" name="Text 8"/>
          <p:cNvSpPr/>
          <p:nvPr/>
        </p:nvSpPr>
        <p:spPr>
          <a:xfrm>
            <a:off x="2862072" y="2487168"/>
            <a:ext cx="713232" cy="292608"/>
          </a:xfrm>
          <a:prstGeom prst="roundRect">
            <a:avLst>
              <a:gd name="adj" fmla="val 28125"/>
            </a:avLst>
          </a:prstGeom>
          <a:solidFill>
            <a:srgbClr val="EEF2FF"/>
          </a:solidFill>
          <a:ln w="9525">
            <a:solidFill>
              <a:srgbClr val="D97706"/>
            </a:solidFill>
          </a:ln>
        </p:spPr>
        <p:txBody>
          <a:bodyPr wrap="square" lIns="0" tIns="0" rIns="0" bIns="0" rtlCol="0" anchor="ctr"/>
          <a:lstStyle/>
          <a:p>
            <a:pPr algn="ctr" indent="0" marL="0">
              <a:buNone/>
            </a:pPr>
            <a:r>
              <a:rPr lang="en-US" sz="950" b="1" dirty="0">
                <a:solidFill>
                  <a:srgbClr val="D97706"/>
                </a:solidFill>
                <a:latin typeface="Courier New" pitchFamily="34" charset="0"/>
                <a:ea typeface="Courier New" pitchFamily="34" charset="-122"/>
                <a:cs typeface="Courier New" pitchFamily="34" charset="-120"/>
              </a:rPr>
              <a:t>N20.0</a:t>
            </a:r>
            <a:endParaRPr lang="en-US" sz="950" dirty="0"/>
          </a:p>
        </p:txBody>
      </p:sp>
      <p:sp>
        <p:nvSpPr>
          <p:cNvPr id="12" name="Text 9"/>
          <p:cNvSpPr/>
          <p:nvPr/>
        </p:nvSpPr>
        <p:spPr>
          <a:xfrm>
            <a:off x="3602736" y="2487168"/>
            <a:ext cx="182880" cy="292608"/>
          </a:xfrm>
          <a:prstGeom prst="rect">
            <a:avLst/>
          </a:prstGeom>
          <a:noFill/>
          <a:ln/>
        </p:spPr>
        <p:txBody>
          <a:bodyPr wrap="square" lIns="0" tIns="0" rIns="0" bIns="0" rtlCol="0" anchor="ctr"/>
          <a:lstStyle/>
          <a:p>
            <a:pPr algn="ctr" indent="0" marL="0">
              <a:buNone/>
            </a:pPr>
            <a:r>
              <a:rPr lang="en-US" sz="1100" b="1" dirty="0">
                <a:solidFill>
                  <a:srgbClr val="5B6B85"/>
                </a:solidFill>
                <a:latin typeface="Courier New" pitchFamily="34" charset="0"/>
                <a:ea typeface="Courier New" pitchFamily="34" charset="-122"/>
                <a:cs typeface="Courier New" pitchFamily="34" charset="-120"/>
              </a:rPr>
              <a:t>&gt;</a:t>
            </a:r>
            <a:endParaRPr lang="en-US" sz="1100" dirty="0"/>
          </a:p>
        </p:txBody>
      </p:sp>
      <p:sp>
        <p:nvSpPr>
          <p:cNvPr id="13" name="Text 10"/>
          <p:cNvSpPr/>
          <p:nvPr/>
        </p:nvSpPr>
        <p:spPr>
          <a:xfrm>
            <a:off x="3813048" y="2487168"/>
            <a:ext cx="713232" cy="292608"/>
          </a:xfrm>
          <a:prstGeom prst="roundRect">
            <a:avLst>
              <a:gd name="adj" fmla="val 28125"/>
            </a:avLst>
          </a:prstGeom>
          <a:solidFill>
            <a:srgbClr val="EEF2FF"/>
          </a:solidFill>
          <a:ln w="9525">
            <a:solidFill>
              <a:srgbClr val="DC2626"/>
            </a:solidFill>
          </a:ln>
        </p:spPr>
        <p:txBody>
          <a:bodyPr wrap="square" lIns="0" tIns="0" rIns="0" bIns="0" rtlCol="0" anchor="ctr"/>
          <a:lstStyle/>
          <a:p>
            <a:pPr algn="ctr" indent="0" marL="0">
              <a:buNone/>
            </a:pPr>
            <a:r>
              <a:rPr lang="en-US" sz="950" b="1" dirty="0">
                <a:solidFill>
                  <a:srgbClr val="DC2626"/>
                </a:solidFill>
                <a:latin typeface="Courier New" pitchFamily="34" charset="0"/>
                <a:ea typeface="Courier New" pitchFamily="34" charset="-122"/>
                <a:cs typeface="Courier New" pitchFamily="34" charset="-120"/>
              </a:rPr>
              <a:t>CO-50</a:t>
            </a:r>
            <a:endParaRPr lang="en-US" sz="950" dirty="0"/>
          </a:p>
        </p:txBody>
      </p:sp>
      <p:sp>
        <p:nvSpPr>
          <p:cNvPr id="14" name="Text 11"/>
          <p:cNvSpPr/>
          <p:nvPr/>
        </p:nvSpPr>
        <p:spPr>
          <a:xfrm>
            <a:off x="960120" y="2889504"/>
            <a:ext cx="1234440" cy="292608"/>
          </a:xfrm>
          <a:prstGeom prst="roundRect">
            <a:avLst>
              <a:gd name="adj" fmla="val 28125"/>
            </a:avLst>
          </a:prstGeom>
          <a:solidFill>
            <a:srgbClr val="EEF2FF"/>
          </a:solidFill>
          <a:ln w="9525">
            <a:solidFill>
              <a:srgbClr val="D97706"/>
            </a:solidFill>
          </a:ln>
        </p:spPr>
        <p:txBody>
          <a:bodyPr wrap="square" lIns="0" tIns="0" rIns="0" bIns="0" rtlCol="0" anchor="ctr"/>
          <a:lstStyle/>
          <a:p>
            <a:pPr algn="ctr" indent="0" marL="0">
              <a:buNone/>
            </a:pPr>
            <a:r>
              <a:rPr lang="en-US" sz="950" b="1" dirty="0">
                <a:solidFill>
                  <a:srgbClr val="D97706"/>
                </a:solidFill>
                <a:latin typeface="Courier New" pitchFamily="34" charset="0"/>
                <a:ea typeface="Courier New" pitchFamily="34" charset="-122"/>
                <a:cs typeface="Courier New" pitchFamily="34" charset="-120"/>
              </a:rPr>
              <a:t>back to R31.0</a:t>
            </a:r>
            <a:endParaRPr lang="en-US" sz="950" dirty="0"/>
          </a:p>
        </p:txBody>
      </p:sp>
      <p:sp>
        <p:nvSpPr>
          <p:cNvPr id="15" name="Text 12"/>
          <p:cNvSpPr/>
          <p:nvPr/>
        </p:nvSpPr>
        <p:spPr>
          <a:xfrm>
            <a:off x="2221992" y="2889504"/>
            <a:ext cx="182880" cy="292608"/>
          </a:xfrm>
          <a:prstGeom prst="rect">
            <a:avLst/>
          </a:prstGeom>
          <a:noFill/>
          <a:ln/>
        </p:spPr>
        <p:txBody>
          <a:bodyPr wrap="square" lIns="0" tIns="0" rIns="0" bIns="0" rtlCol="0" anchor="ctr"/>
          <a:lstStyle/>
          <a:p>
            <a:pPr algn="ctr" indent="0" marL="0">
              <a:buNone/>
            </a:pPr>
            <a:r>
              <a:rPr lang="en-US" sz="1100" b="1" dirty="0">
                <a:solidFill>
                  <a:srgbClr val="5B6B85"/>
                </a:solidFill>
                <a:latin typeface="Courier New" pitchFamily="34" charset="0"/>
                <a:ea typeface="Courier New" pitchFamily="34" charset="-122"/>
                <a:cs typeface="Courier New" pitchFamily="34" charset="-120"/>
              </a:rPr>
              <a:t>&gt;</a:t>
            </a:r>
            <a:endParaRPr lang="en-US" sz="1100" dirty="0"/>
          </a:p>
        </p:txBody>
      </p:sp>
      <p:sp>
        <p:nvSpPr>
          <p:cNvPr id="16" name="Text 13"/>
          <p:cNvSpPr/>
          <p:nvPr/>
        </p:nvSpPr>
        <p:spPr>
          <a:xfrm>
            <a:off x="2432304" y="2889504"/>
            <a:ext cx="1371600" cy="292608"/>
          </a:xfrm>
          <a:prstGeom prst="roundRect">
            <a:avLst>
              <a:gd name="adj" fmla="val 28125"/>
            </a:avLst>
          </a:prstGeom>
          <a:solidFill>
            <a:srgbClr val="EEF2FF"/>
          </a:solidFill>
          <a:ln w="9525">
            <a:solidFill>
              <a:srgbClr val="DC2626"/>
            </a:solidFill>
          </a:ln>
        </p:spPr>
        <p:txBody>
          <a:bodyPr wrap="square" lIns="0" tIns="0" rIns="0" bIns="0" rtlCol="0" anchor="ctr"/>
          <a:lstStyle/>
          <a:p>
            <a:pPr algn="ctr" indent="0" marL="0">
              <a:buNone/>
            </a:pPr>
            <a:r>
              <a:rPr lang="en-US" sz="950" b="1" dirty="0">
                <a:solidFill>
                  <a:srgbClr val="DC2626"/>
                </a:solidFill>
                <a:latin typeface="Courier New" pitchFamily="34" charset="0"/>
                <a:ea typeface="Courier New" pitchFamily="34" charset="-122"/>
                <a:cs typeface="Courier New" pitchFamily="34" charset="-120"/>
              </a:rPr>
              <a:t>CO-18 duplicate</a:t>
            </a:r>
            <a:endParaRPr lang="en-US" sz="950" dirty="0"/>
          </a:p>
        </p:txBody>
      </p:sp>
      <p:sp>
        <p:nvSpPr>
          <p:cNvPr id="17" name="Text 14"/>
          <p:cNvSpPr/>
          <p:nvPr/>
        </p:nvSpPr>
        <p:spPr>
          <a:xfrm>
            <a:off x="960120" y="3383280"/>
            <a:ext cx="4754880" cy="1143000"/>
          </a:xfrm>
          <a:prstGeom prst="rect">
            <a:avLst/>
          </a:prstGeom>
          <a:noFill/>
          <a:ln/>
        </p:spPr>
        <p:txBody>
          <a:bodyPr wrap="square" lIns="0" tIns="0" rIns="0" bIns="0" rtlCol="0" anchor="ctr"/>
          <a:lstStyle/>
          <a:p>
            <a:pPr indent="0" marL="0">
              <a:buNone/>
            </a:pPr>
            <a:r>
              <a:rPr lang="en-US" sz="1300" dirty="0">
                <a:solidFill>
                  <a:srgbClr val="5B6B85"/>
                </a:solidFill>
                <a:latin typeface="Calibri" pitchFamily="34" charset="0"/>
                <a:ea typeface="Calibri" pitchFamily="34" charset="-122"/>
                <a:cs typeface="Calibri" pitchFamily="34" charset="-120"/>
              </a:rPr>
              <a:t>The resolver swapped between two diagnosis pointers and walked straight back into its own first claim. Each resolution sees only the current denial, never the attempt history.</a:t>
            </a:r>
            <a:endParaRPr lang="en-US" sz="1300" dirty="0"/>
          </a:p>
        </p:txBody>
      </p:sp>
      <p:sp>
        <p:nvSpPr>
          <p:cNvPr id="18" name="Text 15"/>
          <p:cNvSpPr/>
          <p:nvPr/>
        </p:nvSpPr>
        <p:spPr>
          <a:xfrm>
            <a:off x="960120" y="4617720"/>
            <a:ext cx="4754880" cy="457200"/>
          </a:xfrm>
          <a:prstGeom prst="rect">
            <a:avLst/>
          </a:prstGeom>
          <a:noFill/>
          <a:ln/>
        </p:spPr>
        <p:txBody>
          <a:bodyPr wrap="square" lIns="0" tIns="0" rIns="0" bIns="0" rtlCol="0" anchor="ctr"/>
          <a:lstStyle/>
          <a:p>
            <a:pPr indent="0" marL="0">
              <a:buNone/>
            </a:pPr>
            <a:r>
              <a:rPr lang="en-US" sz="1450" b="1" dirty="0">
                <a:solidFill>
                  <a:srgbClr val="DC2626"/>
                </a:solidFill>
                <a:latin typeface="Arial" pitchFamily="34" charset="0"/>
                <a:ea typeface="Arial" pitchFamily="34" charset="-122"/>
                <a:cs typeface="Arial" pitchFamily="34" charset="-120"/>
              </a:rPr>
              <a:t>An architecture gap, not a model gap.</a:t>
            </a:r>
            <a:endParaRPr lang="en-US" sz="1450" dirty="0"/>
          </a:p>
        </p:txBody>
      </p:sp>
      <p:sp>
        <p:nvSpPr>
          <p:cNvPr id="19" name="Shape 16"/>
          <p:cNvSpPr/>
          <p:nvPr/>
        </p:nvSpPr>
        <p:spPr>
          <a:xfrm>
            <a:off x="6400800" y="1417320"/>
            <a:ext cx="5212080" cy="3977640"/>
          </a:xfrm>
          <a:prstGeom prst="roundRect">
            <a:avLst>
              <a:gd name="adj" fmla="val 2759"/>
            </a:avLst>
          </a:prstGeom>
          <a:solidFill>
            <a:srgbClr val="F4F7FE"/>
          </a:solidFill>
          <a:ln w="12700">
            <a:solidFill>
              <a:srgbClr val="DEE6F2"/>
            </a:solidFill>
            <a:prstDash val="solid"/>
          </a:ln>
          <a:effectLst>
            <a:outerShdw sx="100000" sy="100000" kx="0" ky="0" algn="bl" rotWithShape="0" blurRad="76200" dist="25400" dir="5400000">
              <a:srgbClr val="94A3B8">
                <a:alpha val="18000"/>
              </a:srgbClr>
            </a:outerShdw>
          </a:effectLst>
        </p:spPr>
      </p:sp>
      <p:sp>
        <p:nvSpPr>
          <p:cNvPr id="20" name="Shape 17"/>
          <p:cNvSpPr/>
          <p:nvPr/>
        </p:nvSpPr>
        <p:spPr>
          <a:xfrm>
            <a:off x="6766560" y="1783080"/>
            <a:ext cx="475488" cy="475488"/>
          </a:xfrm>
          <a:prstGeom prst="ellipse">
            <a:avLst/>
          </a:prstGeom>
          <a:solidFill>
            <a:srgbClr val="16A34A"/>
          </a:solidFill>
          <a:ln/>
        </p:spPr>
      </p:sp>
      <p:pic>
        <p:nvPicPr>
          <p:cNvPr id="21" name="Image 1" descr="preencoded.png">    </p:cNvPr>
          <p:cNvPicPr>
            <a:picLocks noChangeAspect="1"/>
          </p:cNvPicPr>
          <p:nvPr/>
        </p:nvPicPr>
        <p:blipFill>
          <a:blip r:embed="rId2"/>
          <a:stretch>
            <a:fillRect/>
          </a:stretch>
        </p:blipFill>
        <p:spPr>
          <a:xfrm>
            <a:off x="6890187" y="1906707"/>
            <a:ext cx="228234" cy="228234"/>
          </a:xfrm>
          <a:prstGeom prst="rect">
            <a:avLst/>
          </a:prstGeom>
        </p:spPr>
      </p:pic>
      <p:sp>
        <p:nvSpPr>
          <p:cNvPr id="22" name="Text 18"/>
          <p:cNvSpPr/>
          <p:nvPr/>
        </p:nvSpPr>
        <p:spPr>
          <a:xfrm>
            <a:off x="7406640" y="1847088"/>
            <a:ext cx="3931920" cy="411480"/>
          </a:xfrm>
          <a:prstGeom prst="rect">
            <a:avLst/>
          </a:prstGeom>
          <a:noFill/>
          <a:ln/>
        </p:spPr>
        <p:txBody>
          <a:bodyPr wrap="square" lIns="0" tIns="0" rIns="0" bIns="0" rtlCol="0" anchor="ctr"/>
          <a:lstStyle/>
          <a:p>
            <a:pPr indent="0" marL="0">
              <a:buNone/>
            </a:pPr>
            <a:r>
              <a:rPr lang="en-US" sz="1700" b="1" dirty="0">
                <a:solidFill>
                  <a:srgbClr val="1F2933"/>
                </a:solidFill>
                <a:latin typeface="Arial" pitchFamily="34" charset="0"/>
                <a:ea typeface="Arial" pitchFamily="34" charset="-122"/>
                <a:cs typeface="Arial" pitchFamily="34" charset="-120"/>
              </a:rPr>
              <a:t>The refusal (encounter D2N093)</a:t>
            </a:r>
            <a:endParaRPr lang="en-US" sz="1700" dirty="0"/>
          </a:p>
        </p:txBody>
      </p:sp>
      <p:sp>
        <p:nvSpPr>
          <p:cNvPr id="23" name="Text 19"/>
          <p:cNvSpPr/>
          <p:nvPr/>
        </p:nvSpPr>
        <p:spPr>
          <a:xfrm>
            <a:off x="6766560" y="2514600"/>
            <a:ext cx="4480560" cy="1554480"/>
          </a:xfrm>
          <a:prstGeom prst="rect">
            <a:avLst/>
          </a:prstGeom>
          <a:noFill/>
          <a:ln/>
        </p:spPr>
        <p:txBody>
          <a:bodyPr wrap="square" lIns="0" tIns="0" rIns="0" bIns="0" rtlCol="0" anchor="ctr"/>
          <a:lstStyle/>
          <a:p>
            <a:pPr indent="0" marL="0">
              <a:buNone/>
            </a:pPr>
            <a:r>
              <a:rPr lang="en-US" sz="1350" dirty="0">
                <a:solidFill>
                  <a:srgbClr val="5B6B85"/>
                </a:solidFill>
                <a:latin typeface="Calibri" pitchFamily="34" charset="0"/>
                <a:ea typeface="Calibri" pitchFamily="34" charset="-122"/>
                <a:cs typeface="Calibri" pitchFamily="34" charset="-120"/>
              </a:rPr>
              <a:t>An A1c lab was billed against type 1 diabetes, which the demo policy does not cover. The resolver examined the note, found no compliant fix, refused to invent a diagnosis, and abandoned the line.</a:t>
            </a:r>
            <a:endParaRPr lang="en-US" sz="1350" dirty="0"/>
          </a:p>
        </p:txBody>
      </p:sp>
      <p:sp>
        <p:nvSpPr>
          <p:cNvPr id="24" name="Text 20"/>
          <p:cNvSpPr/>
          <p:nvPr/>
        </p:nvSpPr>
        <p:spPr>
          <a:xfrm>
            <a:off x="6766560" y="4160520"/>
            <a:ext cx="4480560" cy="731520"/>
          </a:xfrm>
          <a:prstGeom prst="rect">
            <a:avLst/>
          </a:prstGeom>
          <a:noFill/>
          <a:ln/>
        </p:spPr>
        <p:txBody>
          <a:bodyPr wrap="square" lIns="0" tIns="0" rIns="0" bIns="0" rtlCol="0" anchor="ctr"/>
          <a:lstStyle/>
          <a:p>
            <a:pPr indent="0" marL="0">
              <a:buNone/>
            </a:pPr>
            <a:r>
              <a:rPr lang="en-US" sz="1450" b="1" dirty="0">
                <a:solidFill>
                  <a:srgbClr val="16A34A"/>
                </a:solidFill>
                <a:latin typeface="Arial" pitchFamily="34" charset="0"/>
                <a:ea typeface="Arial" pitchFamily="34" charset="-122"/>
                <a:cs typeface="Arial" pitchFamily="34" charset="-120"/>
              </a:rPr>
              <a:t>The guardrail behaving exactly as instructed: never fabricate clinical facts.</a:t>
            </a:r>
            <a:endParaRPr lang="en-US" sz="1450" dirty="0"/>
          </a:p>
        </p:txBody>
      </p:sp>
      <p:sp>
        <p:nvSpPr>
          <p:cNvPr id="25" name="Text 21"/>
          <p:cNvSpPr/>
          <p:nvPr/>
        </p:nvSpPr>
        <p:spPr>
          <a:xfrm>
            <a:off x="594360" y="5715000"/>
            <a:ext cx="11018520" cy="457200"/>
          </a:xfrm>
          <a:prstGeom prst="rect">
            <a:avLst/>
          </a:prstGeom>
          <a:noFill/>
          <a:ln/>
        </p:spPr>
        <p:txBody>
          <a:bodyPr wrap="square" lIns="0" tIns="0" rIns="0" bIns="0" rtlCol="0" anchor="ctr"/>
          <a:lstStyle/>
          <a:p>
            <a:pPr algn="ctr" indent="0" marL="0">
              <a:buNone/>
            </a:pPr>
            <a:r>
              <a:rPr lang="en-US" sz="1400" i="1" dirty="0">
                <a:solidFill>
                  <a:srgbClr val="7C3AED"/>
                </a:solidFill>
                <a:latin typeface="Calibri" pitchFamily="34" charset="0"/>
                <a:ea typeface="Calibri" pitchFamily="34" charset="-122"/>
                <a:cs typeface="Calibri" pitchFamily="34" charset="-120"/>
              </a:rPr>
              <a:t>A deterministic payer makes policy gaps and agent flaws cleanly separable.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11A30"/>
        </a:solidFill>
      </p:bgPr>
    </p:bg>
    <p:spTree>
      <p:nvGrpSpPr>
        <p:cNvPr id="1" name=""/>
        <p:cNvGrpSpPr/>
        <p:nvPr/>
      </p:nvGrpSpPr>
      <p:grpSpPr>
        <a:xfrm>
          <a:off x="0" y="0"/>
          <a:ext cx="0" cy="0"/>
          <a:chOff x="0" y="0"/>
          <a:chExt cx="0" cy="0"/>
        </a:xfrm>
      </p:grpSpPr>
      <p:sp>
        <p:nvSpPr>
          <p:cNvPr id="2" name="Text 0"/>
          <p:cNvSpPr/>
          <p:nvPr/>
        </p:nvSpPr>
        <p:spPr>
          <a:xfrm>
            <a:off x="502920" y="310896"/>
            <a:ext cx="1115568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Honest limits, real directions</a:t>
            </a:r>
            <a:endParaRPr lang="en-US" sz="3000" dirty="0"/>
          </a:p>
        </p:txBody>
      </p:sp>
      <p:sp>
        <p:nvSpPr>
          <p:cNvPr id="3" name="Text 1"/>
          <p:cNvSpPr/>
          <p:nvPr/>
        </p:nvSpPr>
        <p:spPr>
          <a:xfrm>
            <a:off x="640080" y="1371600"/>
            <a:ext cx="5394960" cy="457200"/>
          </a:xfrm>
          <a:prstGeom prst="rect">
            <a:avLst/>
          </a:prstGeom>
          <a:noFill/>
          <a:ln/>
        </p:spPr>
        <p:txBody>
          <a:bodyPr wrap="square" lIns="0" tIns="0" rIns="0" bIns="0" rtlCol="0" anchor="ctr"/>
          <a:lstStyle/>
          <a:p>
            <a:pPr indent="0" marL="0">
              <a:buNone/>
            </a:pPr>
            <a:r>
              <a:rPr lang="en-US" sz="1800" b="1" dirty="0">
                <a:solidFill>
                  <a:srgbClr val="9DB0D0"/>
                </a:solidFill>
                <a:latin typeface="Arial" pitchFamily="34" charset="0"/>
                <a:ea typeface="Arial" pitchFamily="34" charset="-122"/>
                <a:cs typeface="Arial" pitchFamily="34" charset="-120"/>
              </a:rPr>
              <a:t>Not production ready, on purpose</a:t>
            </a:r>
            <a:endParaRPr lang="en-US" sz="1800" dirty="0"/>
          </a:p>
        </p:txBody>
      </p:sp>
      <p:sp>
        <p:nvSpPr>
          <p:cNvPr id="4" name="Text 2"/>
          <p:cNvSpPr/>
          <p:nvPr/>
        </p:nvSpPr>
        <p:spPr>
          <a:xfrm>
            <a:off x="640080" y="1920240"/>
            <a:ext cx="5394960" cy="2926080"/>
          </a:xfrm>
          <a:prstGeom prst="rect">
            <a:avLst/>
          </a:prstGeom>
          <a:noFill/>
          <a:ln/>
        </p:spPr>
        <p:txBody>
          <a:bodyPr wrap="square" rtlCol="0" anchor="ctr"/>
          <a:lstStyle/>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The payer is a simulation with a small illustrative rule set</a:t>
            </a:r>
            <a:endParaRPr lang="en-US" sz="1450" dirty="0"/>
          </a:p>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CPT is AMA-copyrighted, so the repo carries a tiny paraphrased subset</a:t>
            </a:r>
            <a:endParaRPr lang="en-US" sz="1450" dirty="0"/>
          </a:p>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Coding correctness is not clinically validated without certified coders</a:t>
            </a:r>
            <a:endParaRPr lang="en-US" sz="1450" dirty="0"/>
          </a:p>
          <a:p>
            <a:pPr marL="342900" indent="-342900">
              <a:buSzPct val="100000"/>
              <a:buChar char="•"/>
            </a:pPr>
            <a:r>
              <a:rPr lang="en-US" sz="1450" dirty="0">
                <a:solidFill>
                  <a:srgbClr val="E5EAF5"/>
                </a:solidFill>
                <a:latin typeface="Calibri" pitchFamily="34" charset="0"/>
                <a:ea typeface="Calibri" pitchFamily="34" charset="-122"/>
                <a:cs typeface="Calibri" pitchFamily="34" charset="-120"/>
              </a:rPr>
              <a:t>No real patient data anywhere, by design, so no HIPAA surface</a:t>
            </a:r>
            <a:endParaRPr lang="en-US" sz="1450" dirty="0"/>
          </a:p>
        </p:txBody>
      </p:sp>
      <p:sp>
        <p:nvSpPr>
          <p:cNvPr id="5" name="Text 3"/>
          <p:cNvSpPr/>
          <p:nvPr/>
        </p:nvSpPr>
        <p:spPr>
          <a:xfrm>
            <a:off x="6492240" y="1371600"/>
            <a:ext cx="5029200" cy="457200"/>
          </a:xfrm>
          <a:prstGeom prst="rect">
            <a:avLst/>
          </a:prstGeom>
          <a:noFill/>
          <a:ln/>
        </p:spPr>
        <p:txBody>
          <a:bodyPr wrap="square" lIns="0" tIns="0" rIns="0" bIns="0" rtlCol="0" anchor="ctr"/>
          <a:lstStyle/>
          <a:p>
            <a:pPr indent="0" marL="0">
              <a:buNone/>
            </a:pPr>
            <a:r>
              <a:rPr lang="en-US" sz="1800" b="1" dirty="0">
                <a:solidFill>
                  <a:srgbClr val="9DB0D0"/>
                </a:solidFill>
                <a:latin typeface="Arial" pitchFamily="34" charset="0"/>
                <a:ea typeface="Arial" pitchFamily="34" charset="-122"/>
                <a:cs typeface="Arial" pitchFamily="34" charset="-120"/>
              </a:rPr>
              <a:t>What I would build next</a:t>
            </a:r>
            <a:endParaRPr lang="en-US" sz="1800" dirty="0"/>
          </a:p>
        </p:txBody>
      </p:sp>
      <p:sp>
        <p:nvSpPr>
          <p:cNvPr id="6" name="Text 4"/>
          <p:cNvSpPr/>
          <p:nvPr/>
        </p:nvSpPr>
        <p:spPr>
          <a:xfrm>
            <a:off x="6492240" y="1920240"/>
            <a:ext cx="5029200" cy="2926080"/>
          </a:xfrm>
          <a:prstGeom prst="rect">
            <a:avLst/>
          </a:prstGeom>
          <a:noFill/>
          <a:ln/>
        </p:spPr>
        <p:txBody>
          <a:bodyPr wrap="square" rtlCol="0" anchor="ctr"/>
          <a:lstStyle/>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Give the resolver memory of the attempt history (kills the oscillator)</a:t>
            </a:r>
            <a:endParaRPr lang="en-US" sz="1450" dirty="0"/>
          </a:p>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A human-in-the-loop review queue in front of every submission</a:t>
            </a:r>
            <a:endParaRPr lang="en-US" sz="1450" dirty="0"/>
          </a:p>
          <a:p>
            <a:pPr marL="342900" indent="-342900">
              <a:spcAft>
                <a:spcPts val="800"/>
              </a:spcAft>
              <a:buSzPct val="100000"/>
              <a:buChar char="•"/>
            </a:pPr>
            <a:r>
              <a:rPr lang="en-US" sz="1450" dirty="0">
                <a:solidFill>
                  <a:srgbClr val="E5EAF5"/>
                </a:solidFill>
                <a:latin typeface="Calibri" pitchFamily="34" charset="0"/>
                <a:ea typeface="Calibri" pitchFamily="34" charset="-122"/>
                <a:cs typeface="Calibri" pitchFamily="34" charset="-120"/>
              </a:rPr>
              <a:t>Real X12 837/835 transactions through a clearinghouse</a:t>
            </a:r>
            <a:endParaRPr lang="en-US" sz="1450" dirty="0"/>
          </a:p>
          <a:p>
            <a:pPr marL="342900" indent="-342900">
              <a:buSzPct val="100000"/>
              <a:buChar char="•"/>
            </a:pPr>
            <a:r>
              <a:rPr lang="en-US" sz="1450" dirty="0">
                <a:solidFill>
                  <a:srgbClr val="E5EAF5"/>
                </a:solidFill>
                <a:latin typeface="Calibri" pitchFamily="34" charset="0"/>
                <a:ea typeface="Calibri" pitchFamily="34" charset="-122"/>
                <a:cs typeface="Calibri" pitchFamily="34" charset="-120"/>
              </a:rPr>
              <a:t>Richer payer policy: bundling edits, eligibility, timely filing</a:t>
            </a:r>
            <a:endParaRPr lang="en-US" sz="1450" dirty="0"/>
          </a:p>
        </p:txBody>
      </p:sp>
      <p:sp>
        <p:nvSpPr>
          <p:cNvPr id="7" name="Text 5"/>
          <p:cNvSpPr/>
          <p:nvPr/>
        </p:nvSpPr>
        <p:spPr>
          <a:xfrm>
            <a:off x="640080" y="5394960"/>
            <a:ext cx="1097280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Arial" pitchFamily="34" charset="0"/>
                <a:ea typeface="Arial" pitchFamily="34" charset="-122"/>
                <a:cs typeface="Arial" pitchFamily="34" charset="-120"/>
              </a:rPr>
              <a:t>Open source. The dataset is public and never redistributed. Thank you.</a:t>
            </a:r>
            <a:endParaRPr lang="en-US" sz="1700" dirty="0"/>
          </a:p>
        </p:txBody>
      </p:sp>
      <p:sp>
        <p:nvSpPr>
          <p:cNvPr id="8" name="Text 6"/>
          <p:cNvSpPr/>
          <p:nvPr/>
        </p:nvSpPr>
        <p:spPr>
          <a:xfrm>
            <a:off x="640080" y="5897880"/>
            <a:ext cx="10972800" cy="365760"/>
          </a:xfrm>
          <a:prstGeom prst="rect">
            <a:avLst/>
          </a:prstGeom>
          <a:noFill/>
          <a:ln/>
        </p:spPr>
        <p:txBody>
          <a:bodyPr wrap="square" lIns="0" tIns="0" rIns="0" bIns="0" rtlCol="0" anchor="ctr"/>
          <a:lstStyle/>
          <a:p>
            <a:pPr algn="ctr" indent="0" marL="0">
              <a:buNone/>
            </a:pPr>
            <a:r>
              <a:rPr lang="en-US" sz="1200" dirty="0">
                <a:solidFill>
                  <a:srgbClr val="7186B3"/>
                </a:solidFill>
                <a:latin typeface="Calibri" pitchFamily="34" charset="0"/>
                <a:ea typeface="Calibri" pitchFamily="34" charset="-122"/>
                <a:cs typeface="Calibri" pitchFamily="34" charset="-120"/>
              </a:rPr>
              <a:t>Abdullah Abdel-Khalek  |  ClaimLoop  |  AI in Healthcare, UT Austin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Application>Microsoft PowerPoint</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ClaimLoop</dc:title>
  <dc:subject>PptxGenJS Presentation</dc:subject>
  <dc:creator>Abdullah Abdel-Khalek</dc:creator>
  <cp:lastModifiedBy>Abdullah Abdel-Khalek</cp:lastModifiedBy>
  <cp:revision>1</cp:revision>
  <dcterms:created xsi:type="dcterms:W3CDTF">2026-08-01T07:24:43Z</dcterms:created>
  <dcterms:modified xsi:type="dcterms:W3CDTF">2026-08-01T07:24:43Z</dcterms:modified>
</cp:coreProperties>
</file>